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Hack Orbit is an AI Mission Intelligence Platform for satellite operators. Built by The Aces. In the next few minutes you'll see a fully working system that unifies satellite health, space weather, collision risks, and AI recommendations into one operational cockpit.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 operations today are fragmented. Operators switch between telemetry dashboards, space weather portals, collision warning systems, and email alerts. By the time data is correlated across tools, critical decision time is lost. Hack Orbit solves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numbers operators face every day. Nearly 11,000 satellites active, 70,000 planned. 15,600 collision warnings per year — that's 300 per week for a 50-satellite fleet. 41% of small satellites still fail. And operators have only 16 hours to execute a collision avoidance maneuver. Hack Orbit was built for this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Hack Orbit unifies six mission-critical modules: satellite health monitoring, space weather tracking, collision detection, AI-powered recommendations, what-if simulation, and failure prediction. Every signal in one platform. The AI copilot synthesizes all of them into a single actionable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Hack Orbit dashboard — not a mockup. Every widget you see is live-connected to NOAA, CelesTrak, and our AI engine. The health score, the mission brief, the alert banners — all generated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health module continuously monitors telemetry: temperature, power, battery, solar panels. Isolation Forest detects anomalies, XGBoost predicts failure probability. In the SAT-7 scenario the thruster temperature spike pushed failure risk to 98% — Hack Orbit caught it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simultaneous threats: a G3 geomagnetic storm with Kp=7, and debris object TBA-4821 approaching at 4.2 km in just 3.5 hours. Hack Orbit detects both in real time using NOAA space weather APIs and CelesTrak TLE data with SGP4 orbital propagation.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types one question: What should I do right now? The AI Copilot — powered by Claude — synthesizes the thruster anomaly, the debris conjunction, and the storm conditions, and delivers a prioritized action plan in seconds. This is the mission co-pilot concept: one question, complete situational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judges through the complete SAT-7 scenario: from a healthy satellite to a simultaneous thruster anomaly, debris conjunction, and geomagnetic storm — and how Hack Orbit's AI resolves all three threats in real time. This is not a demo scenario we created for the pitch — it ran live on our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Hack Orbit's architecture: data flows from NOAA, CelesTrak, and ESA into our FastAPI backend, through the AI engine running Claude and XGBoost, and surfaces as mission insights in the Next.js dashboard. The full stack is deployed on Vercel and Railway with Supabase for data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48 hours we built a working system that detects real threats in real orbit. The roadmap takes Hack Orbit to fleet scale — hundreds of satellites, autonomous maneuver planning, and integration with space traffic management systems. This isn't a prototype concept. It's a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The Aces — five engineers who spent 48 hours building a real mission intelligence system. Hack Orbit isn't just a hackathon project. It's a blueprint for how the next generation of satellite operators will run their missions. Because in space, every second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jpe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A14"/>
        </a:solidFill>
      </p:bgPr>
    </p:bg>
    <p:spTree>
      <p:nvGrpSpPr>
        <p:cNvPr id="1" name=""/>
        <p:cNvGrpSpPr/>
        <p:nvPr/>
      </p:nvGrpSpPr>
      <p:grpSpPr>
        <a:xfrm>
          <a:off x="0" y="0"/>
          <a:ext cx="0" cy="0"/>
          <a:chOff x="0" y="0"/>
          <a:chExt cx="0" cy="0"/>
        </a:xfrm>
      </p:grpSpPr>
      <p:sp>
        <p:nvSpPr>
          <p:cNvPr id="2" name="Shape 0"/>
          <p:cNvSpPr/>
          <p:nvPr/>
        </p:nvSpPr>
        <p:spPr>
          <a:xfrm>
            <a:off x="365760" y="274320"/>
            <a:ext cx="36576" cy="36576"/>
          </a:xfrm>
          <a:prstGeom prst="ellipse">
            <a:avLst/>
          </a:prstGeom>
          <a:solidFill>
            <a:srgbClr val="FFFFFF"/>
          </a:solidFill>
          <a:ln w="12700">
            <a:solidFill>
              <a:srgbClr val="FFFFFF"/>
            </a:solidFill>
            <a:prstDash val="solid"/>
          </a:ln>
        </p:spPr>
      </p:sp>
      <p:sp>
        <p:nvSpPr>
          <p:cNvPr id="3" name="Shape 1"/>
          <p:cNvSpPr/>
          <p:nvPr/>
        </p:nvSpPr>
        <p:spPr>
          <a:xfrm>
            <a:off x="1097280" y="731520"/>
            <a:ext cx="36576" cy="36576"/>
          </a:xfrm>
          <a:prstGeom prst="ellipse">
            <a:avLst/>
          </a:prstGeom>
          <a:solidFill>
            <a:srgbClr val="FFFFFF"/>
          </a:solidFill>
          <a:ln w="12700">
            <a:solidFill>
              <a:srgbClr val="FFFFFF"/>
            </a:solidFill>
            <a:prstDash val="solid"/>
          </a:ln>
        </p:spPr>
      </p:sp>
      <p:sp>
        <p:nvSpPr>
          <p:cNvPr id="4" name="Shape 2"/>
          <p:cNvSpPr/>
          <p:nvPr/>
        </p:nvSpPr>
        <p:spPr>
          <a:xfrm>
            <a:off x="2286000" y="182880"/>
            <a:ext cx="36576" cy="36576"/>
          </a:xfrm>
          <a:prstGeom prst="ellipse">
            <a:avLst/>
          </a:prstGeom>
          <a:solidFill>
            <a:srgbClr val="FFFFFF"/>
          </a:solidFill>
          <a:ln w="12700">
            <a:solidFill>
              <a:srgbClr val="FFFFFF"/>
            </a:solidFill>
            <a:prstDash val="solid"/>
          </a:ln>
        </p:spPr>
      </p:sp>
      <p:sp>
        <p:nvSpPr>
          <p:cNvPr id="5" name="Shape 3"/>
          <p:cNvSpPr/>
          <p:nvPr/>
        </p:nvSpPr>
        <p:spPr>
          <a:xfrm>
            <a:off x="3474720" y="457200"/>
            <a:ext cx="36576" cy="36576"/>
          </a:xfrm>
          <a:prstGeom prst="ellipse">
            <a:avLst/>
          </a:prstGeom>
          <a:solidFill>
            <a:srgbClr val="FFFFFF"/>
          </a:solidFill>
          <a:ln w="12700">
            <a:solidFill>
              <a:srgbClr val="FFFFFF"/>
            </a:solidFill>
            <a:prstDash val="solid"/>
          </a:ln>
        </p:spPr>
      </p:sp>
      <p:sp>
        <p:nvSpPr>
          <p:cNvPr id="6" name="Shape 4"/>
          <p:cNvSpPr/>
          <p:nvPr/>
        </p:nvSpPr>
        <p:spPr>
          <a:xfrm>
            <a:off x="4572000" y="91440"/>
            <a:ext cx="36576" cy="36576"/>
          </a:xfrm>
          <a:prstGeom prst="ellipse">
            <a:avLst/>
          </a:prstGeom>
          <a:solidFill>
            <a:srgbClr val="FFFFFF"/>
          </a:solidFill>
          <a:ln w="12700">
            <a:solidFill>
              <a:srgbClr val="FFFFFF"/>
            </a:solidFill>
            <a:prstDash val="solid"/>
          </a:ln>
        </p:spPr>
      </p:sp>
      <p:sp>
        <p:nvSpPr>
          <p:cNvPr id="7" name="Shape 5"/>
          <p:cNvSpPr/>
          <p:nvPr/>
        </p:nvSpPr>
        <p:spPr>
          <a:xfrm>
            <a:off x="5669280" y="365760"/>
            <a:ext cx="36576" cy="36576"/>
          </a:xfrm>
          <a:prstGeom prst="ellipse">
            <a:avLst/>
          </a:prstGeom>
          <a:solidFill>
            <a:srgbClr val="FFFFFF"/>
          </a:solidFill>
          <a:ln w="12700">
            <a:solidFill>
              <a:srgbClr val="FFFFFF"/>
            </a:solidFill>
            <a:prstDash val="solid"/>
          </a:ln>
        </p:spPr>
      </p:sp>
      <p:sp>
        <p:nvSpPr>
          <p:cNvPr id="8" name="Shape 6"/>
          <p:cNvSpPr/>
          <p:nvPr/>
        </p:nvSpPr>
        <p:spPr>
          <a:xfrm>
            <a:off x="6858000" y="182880"/>
            <a:ext cx="36576" cy="36576"/>
          </a:xfrm>
          <a:prstGeom prst="ellipse">
            <a:avLst/>
          </a:prstGeom>
          <a:solidFill>
            <a:srgbClr val="FFFFFF"/>
          </a:solidFill>
          <a:ln w="12700">
            <a:solidFill>
              <a:srgbClr val="FFFFFF"/>
            </a:solidFill>
            <a:prstDash val="solid"/>
          </a:ln>
        </p:spPr>
      </p:sp>
      <p:sp>
        <p:nvSpPr>
          <p:cNvPr id="9" name="Shape 7"/>
          <p:cNvSpPr/>
          <p:nvPr/>
        </p:nvSpPr>
        <p:spPr>
          <a:xfrm>
            <a:off x="8046720" y="548640"/>
            <a:ext cx="36576" cy="36576"/>
          </a:xfrm>
          <a:prstGeom prst="ellipse">
            <a:avLst/>
          </a:prstGeom>
          <a:solidFill>
            <a:srgbClr val="FFFFFF"/>
          </a:solidFill>
          <a:ln w="12700">
            <a:solidFill>
              <a:srgbClr val="FFFFFF"/>
            </a:solidFill>
            <a:prstDash val="solid"/>
          </a:ln>
        </p:spPr>
      </p:sp>
      <p:sp>
        <p:nvSpPr>
          <p:cNvPr id="10" name="Shape 8"/>
          <p:cNvSpPr/>
          <p:nvPr/>
        </p:nvSpPr>
        <p:spPr>
          <a:xfrm>
            <a:off x="8686800" y="274320"/>
            <a:ext cx="36576" cy="36576"/>
          </a:xfrm>
          <a:prstGeom prst="ellipse">
            <a:avLst/>
          </a:prstGeom>
          <a:solidFill>
            <a:srgbClr val="FFFFFF"/>
          </a:solidFill>
          <a:ln w="12700">
            <a:solidFill>
              <a:srgbClr val="FFFFFF"/>
            </a:solidFill>
            <a:prstDash val="solid"/>
          </a:ln>
        </p:spPr>
      </p:sp>
      <p:sp>
        <p:nvSpPr>
          <p:cNvPr id="11" name="Shape 9"/>
          <p:cNvSpPr/>
          <p:nvPr/>
        </p:nvSpPr>
        <p:spPr>
          <a:xfrm>
            <a:off x="731520" y="1371600"/>
            <a:ext cx="36576" cy="36576"/>
          </a:xfrm>
          <a:prstGeom prst="ellipse">
            <a:avLst/>
          </a:prstGeom>
          <a:solidFill>
            <a:srgbClr val="FFFFFF"/>
          </a:solidFill>
          <a:ln w="12700">
            <a:solidFill>
              <a:srgbClr val="FFFFFF"/>
            </a:solidFill>
            <a:prstDash val="solid"/>
          </a:ln>
        </p:spPr>
      </p:sp>
      <p:sp>
        <p:nvSpPr>
          <p:cNvPr id="12" name="Shape 10"/>
          <p:cNvSpPr/>
          <p:nvPr/>
        </p:nvSpPr>
        <p:spPr>
          <a:xfrm>
            <a:off x="1828800" y="1645920"/>
            <a:ext cx="36576" cy="36576"/>
          </a:xfrm>
          <a:prstGeom prst="ellipse">
            <a:avLst/>
          </a:prstGeom>
          <a:solidFill>
            <a:srgbClr val="FFFFFF"/>
          </a:solidFill>
          <a:ln w="12700">
            <a:solidFill>
              <a:srgbClr val="FFFFFF"/>
            </a:solidFill>
            <a:prstDash val="solid"/>
          </a:ln>
        </p:spPr>
      </p:sp>
      <p:sp>
        <p:nvSpPr>
          <p:cNvPr id="13" name="Shape 11"/>
          <p:cNvSpPr/>
          <p:nvPr/>
        </p:nvSpPr>
        <p:spPr>
          <a:xfrm>
            <a:off x="3840480" y="1097280"/>
            <a:ext cx="36576" cy="36576"/>
          </a:xfrm>
          <a:prstGeom prst="ellipse">
            <a:avLst/>
          </a:prstGeom>
          <a:solidFill>
            <a:srgbClr val="FFFFFF"/>
          </a:solidFill>
          <a:ln w="12700">
            <a:solidFill>
              <a:srgbClr val="FFFFFF"/>
            </a:solidFill>
            <a:prstDash val="solid"/>
          </a:ln>
        </p:spPr>
      </p:sp>
      <p:sp>
        <p:nvSpPr>
          <p:cNvPr id="14" name="Shape 12"/>
          <p:cNvSpPr/>
          <p:nvPr/>
        </p:nvSpPr>
        <p:spPr>
          <a:xfrm>
            <a:off x="5486400" y="1554480"/>
            <a:ext cx="36576" cy="36576"/>
          </a:xfrm>
          <a:prstGeom prst="ellipse">
            <a:avLst/>
          </a:prstGeom>
          <a:solidFill>
            <a:srgbClr val="FFFFFF"/>
          </a:solidFill>
          <a:ln w="12700">
            <a:solidFill>
              <a:srgbClr val="FFFFFF"/>
            </a:solidFill>
            <a:prstDash val="solid"/>
          </a:ln>
        </p:spPr>
      </p:sp>
      <p:sp>
        <p:nvSpPr>
          <p:cNvPr id="15" name="Shape 13"/>
          <p:cNvSpPr/>
          <p:nvPr/>
        </p:nvSpPr>
        <p:spPr>
          <a:xfrm>
            <a:off x="7315200" y="1188720"/>
            <a:ext cx="36576" cy="36576"/>
          </a:xfrm>
          <a:prstGeom prst="ellipse">
            <a:avLst/>
          </a:prstGeom>
          <a:solidFill>
            <a:srgbClr val="FFFFFF"/>
          </a:solidFill>
          <a:ln w="12700">
            <a:solidFill>
              <a:srgbClr val="FFFFFF"/>
            </a:solidFill>
            <a:prstDash val="solid"/>
          </a:ln>
        </p:spPr>
      </p:sp>
      <p:sp>
        <p:nvSpPr>
          <p:cNvPr id="16" name="Shape 14"/>
          <p:cNvSpPr/>
          <p:nvPr/>
        </p:nvSpPr>
        <p:spPr>
          <a:xfrm>
            <a:off x="8412480" y="914400"/>
            <a:ext cx="36576" cy="36576"/>
          </a:xfrm>
          <a:prstGeom prst="ellipse">
            <a:avLst/>
          </a:prstGeom>
          <a:solidFill>
            <a:srgbClr val="FFFFFF"/>
          </a:solidFill>
          <a:ln w="12700">
            <a:solidFill>
              <a:srgbClr val="FFFFFF"/>
            </a:solidFill>
            <a:prstDash val="solid"/>
          </a:ln>
        </p:spPr>
      </p:sp>
      <p:sp>
        <p:nvSpPr>
          <p:cNvPr id="17" name="Shape 15"/>
          <p:cNvSpPr/>
          <p:nvPr/>
        </p:nvSpPr>
        <p:spPr>
          <a:xfrm>
            <a:off x="274320" y="3657600"/>
            <a:ext cx="36576" cy="36576"/>
          </a:xfrm>
          <a:prstGeom prst="ellipse">
            <a:avLst/>
          </a:prstGeom>
          <a:solidFill>
            <a:srgbClr val="FFFFFF"/>
          </a:solidFill>
          <a:ln w="12700">
            <a:solidFill>
              <a:srgbClr val="FFFFFF"/>
            </a:solidFill>
            <a:prstDash val="solid"/>
          </a:ln>
        </p:spPr>
      </p:sp>
      <p:sp>
        <p:nvSpPr>
          <p:cNvPr id="18" name="Shape 16"/>
          <p:cNvSpPr/>
          <p:nvPr/>
        </p:nvSpPr>
        <p:spPr>
          <a:xfrm>
            <a:off x="1645920" y="4114800"/>
            <a:ext cx="36576" cy="36576"/>
          </a:xfrm>
          <a:prstGeom prst="ellipse">
            <a:avLst/>
          </a:prstGeom>
          <a:solidFill>
            <a:srgbClr val="FFFFFF"/>
          </a:solidFill>
          <a:ln w="12700">
            <a:solidFill>
              <a:srgbClr val="FFFFFF"/>
            </a:solidFill>
            <a:prstDash val="solid"/>
          </a:ln>
        </p:spPr>
      </p:sp>
      <p:sp>
        <p:nvSpPr>
          <p:cNvPr id="19" name="Shape 17"/>
          <p:cNvSpPr/>
          <p:nvPr/>
        </p:nvSpPr>
        <p:spPr>
          <a:xfrm>
            <a:off x="3200400" y="3840480"/>
            <a:ext cx="36576" cy="36576"/>
          </a:xfrm>
          <a:prstGeom prst="ellipse">
            <a:avLst/>
          </a:prstGeom>
          <a:solidFill>
            <a:srgbClr val="FFFFFF"/>
          </a:solidFill>
          <a:ln w="12700">
            <a:solidFill>
              <a:srgbClr val="FFFFFF"/>
            </a:solidFill>
            <a:prstDash val="solid"/>
          </a:ln>
        </p:spPr>
      </p:sp>
      <p:sp>
        <p:nvSpPr>
          <p:cNvPr id="20" name="Shape 18"/>
          <p:cNvSpPr/>
          <p:nvPr/>
        </p:nvSpPr>
        <p:spPr>
          <a:xfrm>
            <a:off x="5029200" y="4389120"/>
            <a:ext cx="36576" cy="36576"/>
          </a:xfrm>
          <a:prstGeom prst="ellipse">
            <a:avLst/>
          </a:prstGeom>
          <a:solidFill>
            <a:srgbClr val="FFFFFF"/>
          </a:solidFill>
          <a:ln w="12700">
            <a:solidFill>
              <a:srgbClr val="FFFFFF"/>
            </a:solidFill>
            <a:prstDash val="solid"/>
          </a:ln>
        </p:spPr>
      </p:sp>
      <p:sp>
        <p:nvSpPr>
          <p:cNvPr id="21" name="Shape 19"/>
          <p:cNvSpPr/>
          <p:nvPr/>
        </p:nvSpPr>
        <p:spPr>
          <a:xfrm>
            <a:off x="6583680" y="3931920"/>
            <a:ext cx="36576" cy="36576"/>
          </a:xfrm>
          <a:prstGeom prst="ellipse">
            <a:avLst/>
          </a:prstGeom>
          <a:solidFill>
            <a:srgbClr val="FFFFFF"/>
          </a:solidFill>
          <a:ln w="12700">
            <a:solidFill>
              <a:srgbClr val="FFFFFF"/>
            </a:solidFill>
            <a:prstDash val="solid"/>
          </a:ln>
        </p:spPr>
      </p:sp>
      <p:sp>
        <p:nvSpPr>
          <p:cNvPr id="22" name="Shape 20"/>
          <p:cNvSpPr/>
          <p:nvPr/>
        </p:nvSpPr>
        <p:spPr>
          <a:xfrm>
            <a:off x="8595360" y="4206240"/>
            <a:ext cx="36576" cy="36576"/>
          </a:xfrm>
          <a:prstGeom prst="ellipse">
            <a:avLst/>
          </a:prstGeom>
          <a:solidFill>
            <a:srgbClr val="FFFFFF"/>
          </a:solidFill>
          <a:ln w="12700">
            <a:solidFill>
              <a:srgbClr val="FFFFFF"/>
            </a:solidFill>
            <a:prstDash val="solid"/>
          </a:ln>
        </p:spPr>
      </p:sp>
      <p:sp>
        <p:nvSpPr>
          <p:cNvPr id="23" name="Shape 21"/>
          <p:cNvSpPr/>
          <p:nvPr/>
        </p:nvSpPr>
        <p:spPr>
          <a:xfrm>
            <a:off x="548640" y="4572000"/>
            <a:ext cx="36576" cy="36576"/>
          </a:xfrm>
          <a:prstGeom prst="ellipse">
            <a:avLst/>
          </a:prstGeom>
          <a:solidFill>
            <a:srgbClr val="FFFFFF"/>
          </a:solidFill>
          <a:ln w="12700">
            <a:solidFill>
              <a:srgbClr val="FFFFFF"/>
            </a:solidFill>
            <a:prstDash val="solid"/>
          </a:ln>
        </p:spPr>
      </p:sp>
      <p:sp>
        <p:nvSpPr>
          <p:cNvPr id="24" name="Shape 22"/>
          <p:cNvSpPr/>
          <p:nvPr/>
        </p:nvSpPr>
        <p:spPr>
          <a:xfrm>
            <a:off x="2560320" y="4754880"/>
            <a:ext cx="36576" cy="36576"/>
          </a:xfrm>
          <a:prstGeom prst="ellipse">
            <a:avLst/>
          </a:prstGeom>
          <a:solidFill>
            <a:srgbClr val="FFFFFF"/>
          </a:solidFill>
          <a:ln w="12700">
            <a:solidFill>
              <a:srgbClr val="FFFFFF"/>
            </a:solidFill>
            <a:prstDash val="solid"/>
          </a:ln>
        </p:spPr>
      </p:sp>
      <p:sp>
        <p:nvSpPr>
          <p:cNvPr id="25" name="Shape 23"/>
          <p:cNvSpPr/>
          <p:nvPr/>
        </p:nvSpPr>
        <p:spPr>
          <a:xfrm>
            <a:off x="4572000" y="4937760"/>
            <a:ext cx="36576" cy="36576"/>
          </a:xfrm>
          <a:prstGeom prst="ellipse">
            <a:avLst/>
          </a:prstGeom>
          <a:solidFill>
            <a:srgbClr val="FFFFFF"/>
          </a:solidFill>
          <a:ln w="12700">
            <a:solidFill>
              <a:srgbClr val="FFFFFF"/>
            </a:solidFill>
            <a:prstDash val="solid"/>
          </a:ln>
        </p:spPr>
      </p:sp>
      <p:sp>
        <p:nvSpPr>
          <p:cNvPr id="26" name="Shape 24"/>
          <p:cNvSpPr/>
          <p:nvPr/>
        </p:nvSpPr>
        <p:spPr>
          <a:xfrm>
            <a:off x="7132320" y="4663440"/>
            <a:ext cx="36576" cy="36576"/>
          </a:xfrm>
          <a:prstGeom prst="ellipse">
            <a:avLst/>
          </a:prstGeom>
          <a:solidFill>
            <a:srgbClr val="FFFFFF"/>
          </a:solidFill>
          <a:ln w="12700">
            <a:solidFill>
              <a:srgbClr val="FFFFFF"/>
            </a:solidFill>
            <a:prstDash val="solid"/>
          </a:ln>
        </p:spPr>
      </p:sp>
      <p:sp>
        <p:nvSpPr>
          <p:cNvPr id="27" name="Shape 25"/>
          <p:cNvSpPr/>
          <p:nvPr/>
        </p:nvSpPr>
        <p:spPr>
          <a:xfrm>
            <a:off x="8778240" y="4846320"/>
            <a:ext cx="36576" cy="36576"/>
          </a:xfrm>
          <a:prstGeom prst="ellipse">
            <a:avLst/>
          </a:prstGeom>
          <a:solidFill>
            <a:srgbClr val="FFFFFF"/>
          </a:solidFill>
          <a:ln w="12700">
            <a:solidFill>
              <a:srgbClr val="FFFFFF"/>
            </a:solidFill>
            <a:prstDash val="solid"/>
          </a:ln>
        </p:spPr>
      </p:sp>
      <p:sp>
        <p:nvSpPr>
          <p:cNvPr id="28" name="Shape 26"/>
          <p:cNvSpPr/>
          <p:nvPr/>
        </p:nvSpPr>
        <p:spPr>
          <a:xfrm>
            <a:off x="5943600" y="731520"/>
            <a:ext cx="2926080" cy="2926080"/>
          </a:xfrm>
          <a:prstGeom prst="ellipse">
            <a:avLst/>
          </a:prstGeom>
          <a:solidFill>
            <a:srgbClr val="2979FF">
              <a:alpha val="8000"/>
            </a:srgbClr>
          </a:solidFill>
          <a:ln w="12700">
            <a:solidFill>
              <a:srgbClr val="2979FF">
                <a:alpha val="20000"/>
              </a:srgbClr>
            </a:solidFill>
            <a:prstDash val="solid"/>
          </a:ln>
        </p:spPr>
      </p:sp>
      <p:sp>
        <p:nvSpPr>
          <p:cNvPr id="29" name="Shape 27"/>
          <p:cNvSpPr/>
          <p:nvPr/>
        </p:nvSpPr>
        <p:spPr>
          <a:xfrm>
            <a:off x="6400800" y="1005840"/>
            <a:ext cx="2011680" cy="2011680"/>
          </a:xfrm>
          <a:prstGeom prst="ellipse">
            <a:avLst/>
          </a:prstGeom>
          <a:solidFill>
            <a:srgbClr val="00E5FF">
              <a:alpha val="12000"/>
            </a:srgbClr>
          </a:solidFill>
          <a:ln w="12700">
            <a:solidFill>
              <a:srgbClr val="00E5FF">
                <a:alpha val="30000"/>
              </a:srgbClr>
            </a:solidFill>
            <a:prstDash val="solid"/>
          </a:ln>
        </p:spPr>
      </p:sp>
      <p:pic>
        <p:nvPicPr>
          <p:cNvPr id="30" name="Image 0" descr="preencoded.png">    </p:cNvPr>
          <p:cNvPicPr>
            <a:picLocks noChangeAspect="1"/>
          </p:cNvPicPr>
          <p:nvPr/>
        </p:nvPicPr>
        <p:blipFill>
          <a:blip r:embed="rId1"/>
          <a:stretch>
            <a:fillRect/>
          </a:stretch>
        </p:blipFill>
        <p:spPr>
          <a:xfrm>
            <a:off x="6766560" y="1280160"/>
            <a:ext cx="1280160" cy="1280160"/>
          </a:xfrm>
          <a:prstGeom prst="rect">
            <a:avLst/>
          </a:prstGeom>
        </p:spPr>
      </p:pic>
      <p:sp>
        <p:nvSpPr>
          <p:cNvPr id="31" name="Shape 28"/>
          <p:cNvSpPr/>
          <p:nvPr/>
        </p:nvSpPr>
        <p:spPr>
          <a:xfrm>
            <a:off x="6309360" y="822960"/>
            <a:ext cx="2926080" cy="2926080"/>
          </a:xfrm>
          <a:prstGeom prst="ellipse">
            <a:avLst/>
          </a:prstGeom>
          <a:solidFill>
            <a:srgbClr val="2979FF">
              <a:alpha val="0"/>
            </a:srgbClr>
          </a:solidFill>
          <a:ln w="12700">
            <a:solidFill>
              <a:srgbClr val="00E5FF">
                <a:alpha val="35000"/>
              </a:srgbClr>
            </a:solidFill>
            <a:prstDash val="solid"/>
          </a:ln>
        </p:spPr>
      </p:sp>
      <p:sp>
        <p:nvSpPr>
          <p:cNvPr id="32" name="Text 29"/>
          <p:cNvSpPr/>
          <p:nvPr/>
        </p:nvSpPr>
        <p:spPr>
          <a:xfrm>
            <a:off x="457200" y="548640"/>
            <a:ext cx="548640" cy="548640"/>
          </a:xfrm>
          <a:prstGeom prst="rect">
            <a:avLst/>
          </a:prstGeom>
          <a:noFill/>
          <a:ln/>
        </p:spPr>
        <p:txBody>
          <a:bodyPr wrap="square" rtlCol="0" anchor="ctr"/>
          <a:lstStyle/>
          <a:p>
            <a:pPr algn="l" indent="0" marL="0">
              <a:buNone/>
            </a:pPr>
            <a:r>
              <a:rPr lang="en-US" sz="2200" dirty="0">
                <a:solidFill>
                  <a:srgbClr val="000000"/>
                </a:solidFill>
              </a:rPr>
              <a:t>🛸</a:t>
            </a:r>
            <a:endParaRPr lang="en-US" sz="2200" dirty="0"/>
          </a:p>
        </p:txBody>
      </p:sp>
      <p:sp>
        <p:nvSpPr>
          <p:cNvPr id="33" name="Text 30"/>
          <p:cNvSpPr/>
          <p:nvPr/>
        </p:nvSpPr>
        <p:spPr>
          <a:xfrm>
            <a:off x="457200" y="502920"/>
            <a:ext cx="5486400" cy="640080"/>
          </a:xfrm>
          <a:prstGeom prst="rect">
            <a:avLst/>
          </a:prstGeom>
          <a:noFill/>
          <a:ln/>
        </p:spPr>
        <p:txBody>
          <a:bodyPr wrap="square" lIns="0" tIns="0" rIns="0" bIns="0" rtlCol="0" anchor="ctr"/>
          <a:lstStyle/>
          <a:p>
            <a:pPr algn="l" indent="0" marL="0">
              <a:buNone/>
            </a:pPr>
            <a:r>
              <a:rPr lang="en-US" sz="1100" b="1" spc="500" kern="0" dirty="0">
                <a:solidFill>
                  <a:srgbClr val="00E5FF"/>
                </a:solidFill>
                <a:latin typeface="Arial" pitchFamily="34" charset="0"/>
                <a:ea typeface="Arial" pitchFamily="34" charset="-122"/>
                <a:cs typeface="Arial" pitchFamily="34" charset="-120"/>
              </a:rPr>
              <a:t>HACK ORBIT</a:t>
            </a:r>
            <a:endParaRPr lang="en-US" sz="1100" dirty="0"/>
          </a:p>
        </p:txBody>
      </p:sp>
      <p:sp>
        <p:nvSpPr>
          <p:cNvPr id="34" name="Text 31"/>
          <p:cNvSpPr/>
          <p:nvPr/>
        </p:nvSpPr>
        <p:spPr>
          <a:xfrm>
            <a:off x="457200" y="1371600"/>
            <a:ext cx="5669280" cy="1005840"/>
          </a:xfrm>
          <a:prstGeom prst="rect">
            <a:avLst/>
          </a:prstGeom>
          <a:noFill/>
          <a:ln/>
        </p:spPr>
        <p:txBody>
          <a:bodyPr wrap="square" lIns="0" tIns="0" rIns="0" bIns="0" rtlCol="0" anchor="ctr"/>
          <a:lstStyle/>
          <a:p>
            <a:pPr algn="l" indent="0" marL="0">
              <a:buNone/>
            </a:pPr>
            <a:r>
              <a:rPr lang="en-US" sz="5200" b="1" dirty="0">
                <a:solidFill>
                  <a:srgbClr val="FFFFFF"/>
                </a:solidFill>
                <a:latin typeface="Arial" pitchFamily="34" charset="0"/>
                <a:ea typeface="Arial" pitchFamily="34" charset="-122"/>
                <a:cs typeface="Arial" pitchFamily="34" charset="-120"/>
              </a:rPr>
              <a:t>AI Mission Intelligence</a:t>
            </a:r>
            <a:endParaRPr lang="en-US" sz="5200" dirty="0"/>
          </a:p>
        </p:txBody>
      </p:sp>
      <p:sp>
        <p:nvSpPr>
          <p:cNvPr id="35" name="Text 32"/>
          <p:cNvSpPr/>
          <p:nvPr/>
        </p:nvSpPr>
        <p:spPr>
          <a:xfrm>
            <a:off x="457200" y="2331720"/>
            <a:ext cx="5669280" cy="914400"/>
          </a:xfrm>
          <a:prstGeom prst="rect">
            <a:avLst/>
          </a:prstGeom>
          <a:noFill/>
          <a:ln/>
        </p:spPr>
        <p:txBody>
          <a:bodyPr wrap="square" lIns="0" tIns="0" rIns="0" bIns="0" rtlCol="0" anchor="ctr"/>
          <a:lstStyle/>
          <a:p>
            <a:pPr algn="l" indent="0" marL="0">
              <a:buNone/>
            </a:pPr>
            <a:r>
              <a:rPr lang="en-US" sz="5200" b="1" dirty="0">
                <a:solidFill>
                  <a:srgbClr val="2979FF"/>
                </a:solidFill>
                <a:latin typeface="Arial" pitchFamily="34" charset="0"/>
                <a:ea typeface="Arial" pitchFamily="34" charset="-122"/>
                <a:cs typeface="Arial" pitchFamily="34" charset="-120"/>
              </a:rPr>
              <a:t>Platform</a:t>
            </a:r>
            <a:endParaRPr lang="en-US" sz="5200" dirty="0"/>
          </a:p>
        </p:txBody>
      </p:sp>
      <p:sp>
        <p:nvSpPr>
          <p:cNvPr id="36" name="Text 33"/>
          <p:cNvSpPr/>
          <p:nvPr/>
        </p:nvSpPr>
        <p:spPr>
          <a:xfrm>
            <a:off x="457200" y="3337560"/>
            <a:ext cx="6217920" cy="502920"/>
          </a:xfrm>
          <a:prstGeom prst="rect">
            <a:avLst/>
          </a:prstGeom>
          <a:noFill/>
          <a:ln/>
        </p:spPr>
        <p:txBody>
          <a:bodyPr wrap="square" lIns="0" tIns="0" rIns="0" bIns="0" rtlCol="0" anchor="ctr"/>
          <a:lstStyle/>
          <a:p>
            <a:pPr algn="l" indent="0" marL="0">
              <a:buNone/>
            </a:pPr>
            <a:r>
              <a:rPr lang="en-US" sz="1500" i="1" dirty="0">
                <a:solidFill>
                  <a:srgbClr val="B0BEC5"/>
                </a:solidFill>
                <a:latin typeface="Arial" pitchFamily="34" charset="0"/>
                <a:ea typeface="Arial" pitchFamily="34" charset="-122"/>
                <a:cs typeface="Arial" pitchFamily="34" charset="-120"/>
              </a:rPr>
              <a:t>One Platform.  Every Signal.  Zero Missed Alerts.</a:t>
            </a:r>
            <a:endParaRPr lang="en-US" sz="1500" dirty="0"/>
          </a:p>
        </p:txBody>
      </p:sp>
      <p:sp>
        <p:nvSpPr>
          <p:cNvPr id="37" name="Shape 34"/>
          <p:cNvSpPr/>
          <p:nvPr/>
        </p:nvSpPr>
        <p:spPr>
          <a:xfrm>
            <a:off x="457200" y="4069080"/>
            <a:ext cx="2194560" cy="365760"/>
          </a:xfrm>
          <a:prstGeom prst="roundRect">
            <a:avLst>
              <a:gd name="adj" fmla="val 25000"/>
            </a:avLst>
          </a:prstGeom>
          <a:solidFill>
            <a:srgbClr val="152240"/>
          </a:solidFill>
          <a:ln w="12700">
            <a:solidFill>
              <a:srgbClr val="00E676">
                <a:alpha val="50000"/>
              </a:srgbClr>
            </a:solidFill>
            <a:prstDash val="solid"/>
          </a:ln>
        </p:spPr>
      </p:sp>
      <p:sp>
        <p:nvSpPr>
          <p:cNvPr id="38" name="Shape 35"/>
          <p:cNvSpPr/>
          <p:nvPr/>
        </p:nvSpPr>
        <p:spPr>
          <a:xfrm>
            <a:off x="594360" y="4178808"/>
            <a:ext cx="128016" cy="128016"/>
          </a:xfrm>
          <a:prstGeom prst="ellipse">
            <a:avLst/>
          </a:prstGeom>
          <a:solidFill>
            <a:srgbClr val="00E676"/>
          </a:solidFill>
          <a:ln w="12700">
            <a:solidFill>
              <a:srgbClr val="00E676"/>
            </a:solidFill>
            <a:prstDash val="solid"/>
          </a:ln>
        </p:spPr>
      </p:sp>
      <p:sp>
        <p:nvSpPr>
          <p:cNvPr id="39" name="Text 36"/>
          <p:cNvSpPr/>
          <p:nvPr/>
        </p:nvSpPr>
        <p:spPr>
          <a:xfrm>
            <a:off x="777240" y="4078224"/>
            <a:ext cx="1828800" cy="347472"/>
          </a:xfrm>
          <a:prstGeom prst="rect">
            <a:avLst/>
          </a:prstGeom>
          <a:noFill/>
          <a:ln/>
        </p:spPr>
        <p:txBody>
          <a:bodyPr wrap="square" lIns="0" tIns="0" rIns="0" bIns="0" rtlCol="0" anchor="ctr"/>
          <a:lstStyle/>
          <a:p>
            <a:pPr algn="l" indent="0" marL="0">
              <a:buNone/>
            </a:pPr>
            <a:r>
              <a:rPr lang="en-US" sz="900" dirty="0">
                <a:solidFill>
                  <a:srgbClr val="00E676"/>
                </a:solidFill>
                <a:latin typeface="Arial" pitchFamily="34" charset="0"/>
                <a:ea typeface="Arial" pitchFamily="34" charset="-122"/>
                <a:cs typeface="Arial" pitchFamily="34" charset="-120"/>
              </a:rPr>
              <a:t>NOAA Feed: LIVE</a:t>
            </a:r>
            <a:endParaRPr lang="en-US" sz="900" dirty="0"/>
          </a:p>
        </p:txBody>
      </p:sp>
      <p:sp>
        <p:nvSpPr>
          <p:cNvPr id="40" name="Shape 37"/>
          <p:cNvSpPr/>
          <p:nvPr/>
        </p:nvSpPr>
        <p:spPr>
          <a:xfrm>
            <a:off x="2834640" y="4069080"/>
            <a:ext cx="2194560" cy="365760"/>
          </a:xfrm>
          <a:prstGeom prst="roundRect">
            <a:avLst>
              <a:gd name="adj" fmla="val 25000"/>
            </a:avLst>
          </a:prstGeom>
          <a:solidFill>
            <a:srgbClr val="152240"/>
          </a:solidFill>
          <a:ln w="12700">
            <a:solidFill>
              <a:srgbClr val="00E5FF">
                <a:alpha val="50000"/>
              </a:srgbClr>
            </a:solidFill>
            <a:prstDash val="solid"/>
          </a:ln>
        </p:spPr>
      </p:sp>
      <p:sp>
        <p:nvSpPr>
          <p:cNvPr id="41" name="Shape 38"/>
          <p:cNvSpPr/>
          <p:nvPr/>
        </p:nvSpPr>
        <p:spPr>
          <a:xfrm>
            <a:off x="2971800" y="4178808"/>
            <a:ext cx="128016" cy="128016"/>
          </a:xfrm>
          <a:prstGeom prst="ellipse">
            <a:avLst/>
          </a:prstGeom>
          <a:solidFill>
            <a:srgbClr val="00E5FF"/>
          </a:solidFill>
          <a:ln w="12700">
            <a:solidFill>
              <a:srgbClr val="00E5FF"/>
            </a:solidFill>
            <a:prstDash val="solid"/>
          </a:ln>
        </p:spPr>
      </p:sp>
      <p:sp>
        <p:nvSpPr>
          <p:cNvPr id="42" name="Text 39"/>
          <p:cNvSpPr/>
          <p:nvPr/>
        </p:nvSpPr>
        <p:spPr>
          <a:xfrm>
            <a:off x="3154680" y="4078224"/>
            <a:ext cx="1828800" cy="347472"/>
          </a:xfrm>
          <a:prstGeom prst="rect">
            <a:avLst/>
          </a:prstGeom>
          <a:noFill/>
          <a:ln/>
        </p:spPr>
        <p:txBody>
          <a:bodyPr wrap="square" lIns="0" tIns="0" rIns="0" bIns="0" rtlCol="0" anchor="ctr"/>
          <a:lstStyle/>
          <a:p>
            <a:pPr algn="l" indent="0" marL="0">
              <a:buNone/>
            </a:pPr>
            <a:r>
              <a:rPr lang="en-US" sz="900" dirty="0">
                <a:solidFill>
                  <a:srgbClr val="00E5FF"/>
                </a:solidFill>
                <a:latin typeface="Arial" pitchFamily="34" charset="0"/>
                <a:ea typeface="Arial" pitchFamily="34" charset="-122"/>
                <a:cs typeface="Arial" pitchFamily="34" charset="-120"/>
              </a:rPr>
              <a:t>Orbit Feed: ACTIVE</a:t>
            </a:r>
            <a:endParaRPr lang="en-US" sz="900" dirty="0"/>
          </a:p>
        </p:txBody>
      </p:sp>
      <p:sp>
        <p:nvSpPr>
          <p:cNvPr id="43" name="Shape 40"/>
          <p:cNvSpPr/>
          <p:nvPr/>
        </p:nvSpPr>
        <p:spPr>
          <a:xfrm>
            <a:off x="5212080" y="4069080"/>
            <a:ext cx="2194560" cy="365760"/>
          </a:xfrm>
          <a:prstGeom prst="roundRect">
            <a:avLst>
              <a:gd name="adj" fmla="val 25000"/>
            </a:avLst>
          </a:prstGeom>
          <a:solidFill>
            <a:srgbClr val="152240"/>
          </a:solidFill>
          <a:ln w="12700">
            <a:solidFill>
              <a:srgbClr val="AA00FF">
                <a:alpha val="50000"/>
              </a:srgbClr>
            </a:solidFill>
            <a:prstDash val="solid"/>
          </a:ln>
        </p:spPr>
      </p:sp>
      <p:sp>
        <p:nvSpPr>
          <p:cNvPr id="44" name="Shape 41"/>
          <p:cNvSpPr/>
          <p:nvPr/>
        </p:nvSpPr>
        <p:spPr>
          <a:xfrm>
            <a:off x="5349240" y="4178808"/>
            <a:ext cx="128016" cy="128016"/>
          </a:xfrm>
          <a:prstGeom prst="ellipse">
            <a:avLst/>
          </a:prstGeom>
          <a:solidFill>
            <a:srgbClr val="AA00FF"/>
          </a:solidFill>
          <a:ln w="12700">
            <a:solidFill>
              <a:srgbClr val="AA00FF"/>
            </a:solidFill>
            <a:prstDash val="solid"/>
          </a:ln>
        </p:spPr>
      </p:sp>
      <p:sp>
        <p:nvSpPr>
          <p:cNvPr id="45" name="Text 42"/>
          <p:cNvSpPr/>
          <p:nvPr/>
        </p:nvSpPr>
        <p:spPr>
          <a:xfrm>
            <a:off x="5532120" y="4078224"/>
            <a:ext cx="1828800" cy="347472"/>
          </a:xfrm>
          <a:prstGeom prst="rect">
            <a:avLst/>
          </a:prstGeom>
          <a:noFill/>
          <a:ln/>
        </p:spPr>
        <p:txBody>
          <a:bodyPr wrap="square" lIns="0" tIns="0" rIns="0" bIns="0" rtlCol="0" anchor="ctr"/>
          <a:lstStyle/>
          <a:p>
            <a:pPr algn="l" indent="0" marL="0">
              <a:buNone/>
            </a:pPr>
            <a:r>
              <a:rPr lang="en-US" sz="900" dirty="0">
                <a:solidFill>
                  <a:srgbClr val="AA00FF"/>
                </a:solidFill>
                <a:latin typeface="Arial" pitchFamily="34" charset="0"/>
                <a:ea typeface="Arial" pitchFamily="34" charset="-122"/>
                <a:cs typeface="Arial" pitchFamily="34" charset="-120"/>
              </a:rPr>
              <a:t>AI Copilot: ONLINE</a:t>
            </a:r>
            <a:endParaRPr lang="en-US" sz="900" dirty="0"/>
          </a:p>
        </p:txBody>
      </p:sp>
      <p:sp>
        <p:nvSpPr>
          <p:cNvPr id="46" name="Text 43"/>
          <p:cNvSpPr/>
          <p:nvPr/>
        </p:nvSpPr>
        <p:spPr>
          <a:xfrm>
            <a:off x="457200" y="4709160"/>
            <a:ext cx="8229600" cy="274320"/>
          </a:xfrm>
          <a:prstGeom prst="rect">
            <a:avLst/>
          </a:prstGeom>
          <a:noFill/>
          <a:ln/>
        </p:spPr>
        <p:txBody>
          <a:bodyPr wrap="square" lIns="0" tIns="0" rIns="0" bIns="0" rtlCol="0" anchor="ctr"/>
          <a:lstStyle/>
          <a:p>
            <a:pPr algn="l" indent="0" marL="0">
              <a:buNone/>
            </a:pPr>
            <a:r>
              <a:rPr lang="en-US" sz="900" spc="200" kern="0" dirty="0">
                <a:solidFill>
                  <a:srgbClr val="8B9AB5"/>
                </a:solidFill>
                <a:latin typeface="Arial" pitchFamily="34" charset="0"/>
                <a:ea typeface="Arial" pitchFamily="34" charset="-122"/>
                <a:cs typeface="Arial" pitchFamily="34" charset="-120"/>
              </a:rPr>
              <a:t>THE ACES  ·  Space-Tech Hackathon 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D50000">
              <a:alpha val="8000"/>
            </a:srgbClr>
          </a:solidFill>
          <a:ln w="12700">
            <a:solidFill>
              <a:srgbClr val="D50000"/>
            </a:solidFill>
            <a:prstDash val="solid"/>
          </a:ln>
        </p:spPr>
      </p:sp>
      <p:sp>
        <p:nvSpPr>
          <p:cNvPr id="3" name="Text 1"/>
          <p:cNvSpPr/>
          <p:nvPr/>
        </p:nvSpPr>
        <p:spPr>
          <a:xfrm>
            <a:off x="457200" y="137160"/>
            <a:ext cx="8229600" cy="457200"/>
          </a:xfrm>
          <a:prstGeom prst="rect">
            <a:avLst/>
          </a:prstGeom>
          <a:noFill/>
          <a:ln/>
        </p:spPr>
        <p:txBody>
          <a:bodyPr wrap="square" lIns="0" tIns="0" rIns="0" bIns="0" rtlCol="0" anchor="ctr"/>
          <a:lstStyle/>
          <a:p>
            <a:pPr algn="l" indent="0" marL="0">
              <a:buNone/>
            </a:pPr>
            <a:r>
              <a:rPr lang="en-US" sz="1100" b="1" spc="500" kern="0" dirty="0">
                <a:solidFill>
                  <a:srgbClr val="FF1744"/>
                </a:solidFill>
                <a:latin typeface="Arial" pitchFamily="34" charset="0"/>
                <a:ea typeface="Arial" pitchFamily="34" charset="-122"/>
                <a:cs typeface="Arial" pitchFamily="34" charset="-120"/>
              </a:rPr>
              <a:t>THE PROBLEM</a:t>
            </a:r>
            <a:endParaRPr lang="en-US" sz="11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Satellite Operations Are Getting Harder</a:t>
            </a:r>
            <a:endParaRPr lang="en-US" sz="3200" dirty="0"/>
          </a:p>
        </p:txBody>
      </p:sp>
      <p:sp>
        <p:nvSpPr>
          <p:cNvPr id="5" name="Shape 3"/>
          <p:cNvSpPr/>
          <p:nvPr/>
        </p:nvSpPr>
        <p:spPr>
          <a:xfrm>
            <a:off x="365760" y="1417320"/>
            <a:ext cx="4114800" cy="1463040"/>
          </a:xfrm>
          <a:prstGeom prst="roundRect">
            <a:avLst>
              <a:gd name="adj" fmla="val 7500"/>
            </a:avLst>
          </a:prstGeom>
          <a:solidFill>
            <a:srgbClr val="101D35"/>
          </a:solidFill>
          <a:ln w="12700">
            <a:solidFill>
              <a:srgbClr val="FF1744">
                <a:alpha val="25000"/>
              </a:srgbClr>
            </a:solidFill>
            <a:prstDash val="solid"/>
          </a:ln>
          <a:effectLst>
            <a:outerShdw sx="100000" sy="100000" kx="0" ky="0" algn="bl" rotWithShape="0" blurRad="127000" dist="38100" dir="2700000">
              <a:srgbClr val="000000">
                <a:alpha val="35000"/>
              </a:srgbClr>
            </a:outerShdw>
          </a:effectLst>
        </p:spPr>
      </p:sp>
      <p:pic>
        <p:nvPicPr>
          <p:cNvPr id="6" name="Image 0" descr="preencoded.png">    </p:cNvPr>
          <p:cNvPicPr>
            <a:picLocks noChangeAspect="1"/>
          </p:cNvPicPr>
          <p:nvPr/>
        </p:nvPicPr>
        <p:blipFill>
          <a:blip r:embed="rId1"/>
          <a:stretch>
            <a:fillRect/>
          </a:stretch>
        </p:blipFill>
        <p:spPr>
          <a:xfrm>
            <a:off x="548640" y="1645920"/>
            <a:ext cx="502920" cy="502920"/>
          </a:xfrm>
          <a:prstGeom prst="rect">
            <a:avLst/>
          </a:prstGeom>
        </p:spPr>
      </p:pic>
      <p:sp>
        <p:nvSpPr>
          <p:cNvPr id="7" name="Text 4"/>
          <p:cNvSpPr/>
          <p:nvPr/>
        </p:nvSpPr>
        <p:spPr>
          <a:xfrm>
            <a:off x="1143000" y="1600200"/>
            <a:ext cx="3200400" cy="384048"/>
          </a:xfrm>
          <a:prstGeom prst="rect">
            <a:avLst/>
          </a:prstGeom>
          <a:noFill/>
          <a:ln/>
        </p:spPr>
        <p:txBody>
          <a:bodyPr wrap="square" lIns="0" tIns="0" rIns="0" bIns="0" rtlCol="0" anchor="ctr"/>
          <a:lstStyle/>
          <a:p>
            <a:pPr algn="l" indent="0" marL="0">
              <a:buNone/>
            </a:pPr>
            <a:r>
              <a:rPr lang="en-US" sz="1400" b="1" dirty="0">
                <a:solidFill>
                  <a:srgbClr val="FF1744"/>
                </a:solidFill>
                <a:latin typeface="Arial" pitchFamily="34" charset="0"/>
                <a:ea typeface="Arial" pitchFamily="34" charset="-122"/>
                <a:cs typeface="Arial" pitchFamily="34" charset="-120"/>
              </a:rPr>
              <a:t>Orbital Congestion</a:t>
            </a:r>
            <a:endParaRPr lang="en-US" sz="1400" dirty="0"/>
          </a:p>
        </p:txBody>
      </p:sp>
      <p:sp>
        <p:nvSpPr>
          <p:cNvPr id="8" name="Text 5"/>
          <p:cNvSpPr/>
          <p:nvPr/>
        </p:nvSpPr>
        <p:spPr>
          <a:xfrm>
            <a:off x="1143000" y="1984248"/>
            <a:ext cx="3200400" cy="731520"/>
          </a:xfrm>
          <a:prstGeom prst="rect">
            <a:avLst/>
          </a:prstGeom>
          <a:noFill/>
          <a:ln/>
        </p:spPr>
        <p:txBody>
          <a:bodyPr wrap="square" lIns="0" tIns="0" rIns="0" bIns="0" rtlCol="0" anchor="ctr"/>
          <a:lstStyle/>
          <a:p>
            <a:pPr algn="l" indent="0" marL="0">
              <a:buNone/>
            </a:pPr>
            <a:r>
              <a:rPr lang="en-US" sz="1100" dirty="0">
                <a:solidFill>
                  <a:srgbClr val="B0BEC5"/>
                </a:solidFill>
                <a:latin typeface="Arial" pitchFamily="34" charset="0"/>
                <a:ea typeface="Arial" pitchFamily="34" charset="-122"/>
                <a:cs typeface="Arial" pitchFamily="34" charset="-120"/>
              </a:rPr>
              <a:t>11,000+ active satellites. Space is crowded and getting worse.</a:t>
            </a:r>
            <a:endParaRPr lang="en-US" sz="1100" dirty="0"/>
          </a:p>
        </p:txBody>
      </p:sp>
      <p:sp>
        <p:nvSpPr>
          <p:cNvPr id="9" name="Shape 6"/>
          <p:cNvSpPr/>
          <p:nvPr/>
        </p:nvSpPr>
        <p:spPr>
          <a:xfrm>
            <a:off x="4709160" y="1417320"/>
            <a:ext cx="4114800" cy="1463040"/>
          </a:xfrm>
          <a:prstGeom prst="roundRect">
            <a:avLst>
              <a:gd name="adj" fmla="val 7500"/>
            </a:avLst>
          </a:prstGeom>
          <a:solidFill>
            <a:srgbClr val="101D35"/>
          </a:solidFill>
          <a:ln w="12700">
            <a:solidFill>
              <a:srgbClr val="FFD600">
                <a:alpha val="25000"/>
              </a:srgbClr>
            </a:solidFill>
            <a:prstDash val="solid"/>
          </a:ln>
          <a:effectLst>
            <a:outerShdw sx="100000" sy="100000" kx="0" ky="0" algn="bl" rotWithShape="0" blurRad="127000" dist="38100" dir="2700000">
              <a:srgbClr val="000000">
                <a:alpha val="35000"/>
              </a:srgbClr>
            </a:outerShdw>
          </a:effectLst>
        </p:spPr>
      </p:sp>
      <p:pic>
        <p:nvPicPr>
          <p:cNvPr id="10" name="Image 1" descr="preencoded.png">    </p:cNvPr>
          <p:cNvPicPr>
            <a:picLocks noChangeAspect="1"/>
          </p:cNvPicPr>
          <p:nvPr/>
        </p:nvPicPr>
        <p:blipFill>
          <a:blip r:embed="rId2"/>
          <a:stretch>
            <a:fillRect/>
          </a:stretch>
        </p:blipFill>
        <p:spPr>
          <a:xfrm>
            <a:off x="4892040" y="1645920"/>
            <a:ext cx="502920" cy="502920"/>
          </a:xfrm>
          <a:prstGeom prst="rect">
            <a:avLst/>
          </a:prstGeom>
        </p:spPr>
      </p:pic>
      <p:sp>
        <p:nvSpPr>
          <p:cNvPr id="11" name="Text 7"/>
          <p:cNvSpPr/>
          <p:nvPr/>
        </p:nvSpPr>
        <p:spPr>
          <a:xfrm>
            <a:off x="5486400" y="1600200"/>
            <a:ext cx="3200400" cy="384048"/>
          </a:xfrm>
          <a:prstGeom prst="rect">
            <a:avLst/>
          </a:prstGeom>
          <a:noFill/>
          <a:ln/>
        </p:spPr>
        <p:txBody>
          <a:bodyPr wrap="square" lIns="0" tIns="0" rIns="0" bIns="0" rtlCol="0" anchor="ctr"/>
          <a:lstStyle/>
          <a:p>
            <a:pPr algn="l" indent="0" marL="0">
              <a:buNone/>
            </a:pPr>
            <a:r>
              <a:rPr lang="en-US" sz="1400" b="1" dirty="0">
                <a:solidFill>
                  <a:srgbClr val="FFD600"/>
                </a:solidFill>
                <a:latin typeface="Arial" pitchFamily="34" charset="0"/>
                <a:ea typeface="Arial" pitchFamily="34" charset="-122"/>
                <a:cs typeface="Arial" pitchFamily="34" charset="-120"/>
              </a:rPr>
              <a:t>Space Weather</a:t>
            </a:r>
            <a:endParaRPr lang="en-US" sz="1400" dirty="0"/>
          </a:p>
        </p:txBody>
      </p:sp>
      <p:sp>
        <p:nvSpPr>
          <p:cNvPr id="12" name="Text 8"/>
          <p:cNvSpPr/>
          <p:nvPr/>
        </p:nvSpPr>
        <p:spPr>
          <a:xfrm>
            <a:off x="5486400" y="1984248"/>
            <a:ext cx="3200400" cy="731520"/>
          </a:xfrm>
          <a:prstGeom prst="rect">
            <a:avLst/>
          </a:prstGeom>
          <a:noFill/>
          <a:ln/>
        </p:spPr>
        <p:txBody>
          <a:bodyPr wrap="square" lIns="0" tIns="0" rIns="0" bIns="0" rtlCol="0" anchor="ctr"/>
          <a:lstStyle/>
          <a:p>
            <a:pPr algn="l" indent="0" marL="0">
              <a:buNone/>
            </a:pPr>
            <a:r>
              <a:rPr lang="en-US" sz="1100" dirty="0">
                <a:solidFill>
                  <a:srgbClr val="B0BEC5"/>
                </a:solidFill>
                <a:latin typeface="Arial" pitchFamily="34" charset="0"/>
                <a:ea typeface="Arial" pitchFamily="34" charset="-122"/>
                <a:cs typeface="Arial" pitchFamily="34" charset="-120"/>
              </a:rPr>
              <a:t>237 geomagnetic storms per year. Kp ≥5 events wreak havoc.</a:t>
            </a:r>
            <a:endParaRPr lang="en-US" sz="1100" dirty="0"/>
          </a:p>
        </p:txBody>
      </p:sp>
      <p:sp>
        <p:nvSpPr>
          <p:cNvPr id="13" name="Shape 9"/>
          <p:cNvSpPr/>
          <p:nvPr/>
        </p:nvSpPr>
        <p:spPr>
          <a:xfrm>
            <a:off x="365760" y="3108960"/>
            <a:ext cx="4114800" cy="1463040"/>
          </a:xfrm>
          <a:prstGeom prst="roundRect">
            <a:avLst>
              <a:gd name="adj" fmla="val 7500"/>
            </a:avLst>
          </a:prstGeom>
          <a:solidFill>
            <a:srgbClr val="101D35"/>
          </a:solidFill>
          <a:ln w="12700">
            <a:solidFill>
              <a:srgbClr val="2979FF">
                <a:alpha val="25000"/>
              </a:srgbClr>
            </a:solidFill>
            <a:prstDash val="solid"/>
          </a:ln>
          <a:effectLst>
            <a:outerShdw sx="100000" sy="100000" kx="0" ky="0" algn="bl" rotWithShape="0" blurRad="127000" dist="38100" dir="2700000">
              <a:srgbClr val="000000">
                <a:alpha val="35000"/>
              </a:srgbClr>
            </a:outerShdw>
          </a:effectLst>
        </p:spPr>
      </p:sp>
      <p:pic>
        <p:nvPicPr>
          <p:cNvPr id="14" name="Image 2" descr="preencoded.png">    </p:cNvPr>
          <p:cNvPicPr>
            <a:picLocks noChangeAspect="1"/>
          </p:cNvPicPr>
          <p:nvPr/>
        </p:nvPicPr>
        <p:blipFill>
          <a:blip r:embed="rId3"/>
          <a:stretch>
            <a:fillRect/>
          </a:stretch>
        </p:blipFill>
        <p:spPr>
          <a:xfrm>
            <a:off x="548640" y="3337560"/>
            <a:ext cx="502920" cy="502920"/>
          </a:xfrm>
          <a:prstGeom prst="rect">
            <a:avLst/>
          </a:prstGeom>
        </p:spPr>
      </p:pic>
      <p:sp>
        <p:nvSpPr>
          <p:cNvPr id="15" name="Text 10"/>
          <p:cNvSpPr/>
          <p:nvPr/>
        </p:nvSpPr>
        <p:spPr>
          <a:xfrm>
            <a:off x="1143000" y="3291840"/>
            <a:ext cx="3200400" cy="384048"/>
          </a:xfrm>
          <a:prstGeom prst="rect">
            <a:avLst/>
          </a:prstGeom>
          <a:noFill/>
          <a:ln/>
        </p:spPr>
        <p:txBody>
          <a:bodyPr wrap="square" lIns="0" tIns="0" rIns="0" bIns="0" rtlCol="0" anchor="ctr"/>
          <a:lstStyle/>
          <a:p>
            <a:pPr algn="l" indent="0" marL="0">
              <a:buNone/>
            </a:pPr>
            <a:r>
              <a:rPr lang="en-US" sz="1400" b="1" dirty="0">
                <a:solidFill>
                  <a:srgbClr val="2979FF"/>
                </a:solidFill>
                <a:latin typeface="Arial" pitchFamily="34" charset="0"/>
                <a:ea typeface="Arial" pitchFamily="34" charset="-122"/>
                <a:cs typeface="Arial" pitchFamily="34" charset="-120"/>
              </a:rPr>
              <a:t>Fragmented Tools</a:t>
            </a:r>
            <a:endParaRPr lang="en-US" sz="1400" dirty="0"/>
          </a:p>
        </p:txBody>
      </p:sp>
      <p:sp>
        <p:nvSpPr>
          <p:cNvPr id="16" name="Text 11"/>
          <p:cNvSpPr/>
          <p:nvPr/>
        </p:nvSpPr>
        <p:spPr>
          <a:xfrm>
            <a:off x="1143000" y="3675888"/>
            <a:ext cx="3200400" cy="731520"/>
          </a:xfrm>
          <a:prstGeom prst="rect">
            <a:avLst/>
          </a:prstGeom>
          <a:noFill/>
          <a:ln/>
        </p:spPr>
        <p:txBody>
          <a:bodyPr wrap="square" lIns="0" tIns="0" rIns="0" bIns="0" rtlCol="0" anchor="ctr"/>
          <a:lstStyle/>
          <a:p>
            <a:pPr algn="l" indent="0" marL="0">
              <a:buNone/>
            </a:pPr>
            <a:r>
              <a:rPr lang="en-US" sz="1100" dirty="0">
                <a:solidFill>
                  <a:srgbClr val="B0BEC5"/>
                </a:solidFill>
                <a:latin typeface="Arial" pitchFamily="34" charset="0"/>
                <a:ea typeface="Arial" pitchFamily="34" charset="-122"/>
                <a:cs typeface="Arial" pitchFamily="34" charset="-120"/>
              </a:rPr>
              <a:t>Operators juggle telemetry, weather, collision tools simultaneously.</a:t>
            </a:r>
            <a:endParaRPr lang="en-US" sz="1100" dirty="0"/>
          </a:p>
        </p:txBody>
      </p:sp>
      <p:sp>
        <p:nvSpPr>
          <p:cNvPr id="17" name="Shape 12"/>
          <p:cNvSpPr/>
          <p:nvPr/>
        </p:nvSpPr>
        <p:spPr>
          <a:xfrm>
            <a:off x="4709160" y="3108960"/>
            <a:ext cx="4114800" cy="1463040"/>
          </a:xfrm>
          <a:prstGeom prst="roundRect">
            <a:avLst>
              <a:gd name="adj" fmla="val 7500"/>
            </a:avLst>
          </a:prstGeom>
          <a:solidFill>
            <a:srgbClr val="101D35"/>
          </a:solidFill>
          <a:ln w="12700">
            <a:solidFill>
              <a:srgbClr val="00E5FF">
                <a:alpha val="25000"/>
              </a:srgbClr>
            </a:solidFill>
            <a:prstDash val="solid"/>
          </a:ln>
          <a:effectLst>
            <a:outerShdw sx="100000" sy="100000" kx="0" ky="0" algn="bl" rotWithShape="0" blurRad="127000" dist="38100" dir="2700000">
              <a:srgbClr val="000000">
                <a:alpha val="35000"/>
              </a:srgbClr>
            </a:outerShdw>
          </a:effectLst>
        </p:spPr>
      </p:sp>
      <p:pic>
        <p:nvPicPr>
          <p:cNvPr id="18" name="Image 3" descr="preencoded.png">    </p:cNvPr>
          <p:cNvPicPr>
            <a:picLocks noChangeAspect="1"/>
          </p:cNvPicPr>
          <p:nvPr/>
        </p:nvPicPr>
        <p:blipFill>
          <a:blip r:embed="rId4"/>
          <a:stretch>
            <a:fillRect/>
          </a:stretch>
        </p:blipFill>
        <p:spPr>
          <a:xfrm>
            <a:off x="4892040" y="3337560"/>
            <a:ext cx="502920" cy="502920"/>
          </a:xfrm>
          <a:prstGeom prst="rect">
            <a:avLst/>
          </a:prstGeom>
        </p:spPr>
      </p:pic>
      <p:sp>
        <p:nvSpPr>
          <p:cNvPr id="19" name="Text 13"/>
          <p:cNvSpPr/>
          <p:nvPr/>
        </p:nvSpPr>
        <p:spPr>
          <a:xfrm>
            <a:off x="5486400" y="3291840"/>
            <a:ext cx="3200400" cy="384048"/>
          </a:xfrm>
          <a:prstGeom prst="rect">
            <a:avLst/>
          </a:prstGeom>
          <a:noFill/>
          <a:ln/>
        </p:spPr>
        <p:txBody>
          <a:bodyPr wrap="square" lIns="0" tIns="0" rIns="0" bIns="0" rtlCol="0" anchor="ctr"/>
          <a:lstStyle/>
          <a:p>
            <a:pPr algn="l" indent="0" marL="0">
              <a:buNone/>
            </a:pPr>
            <a:r>
              <a:rPr lang="en-US" sz="1400" b="1" dirty="0">
                <a:solidFill>
                  <a:srgbClr val="00E5FF"/>
                </a:solidFill>
                <a:latin typeface="Arial" pitchFamily="34" charset="0"/>
                <a:ea typeface="Arial" pitchFamily="34" charset="-122"/>
                <a:cs typeface="Arial" pitchFamily="34" charset="-120"/>
              </a:rPr>
              <a:t>Time Pressure</a:t>
            </a:r>
            <a:endParaRPr lang="en-US" sz="1400" dirty="0"/>
          </a:p>
        </p:txBody>
      </p:sp>
      <p:sp>
        <p:nvSpPr>
          <p:cNvPr id="20" name="Text 14"/>
          <p:cNvSpPr/>
          <p:nvPr/>
        </p:nvSpPr>
        <p:spPr>
          <a:xfrm>
            <a:off x="5486400" y="3675888"/>
            <a:ext cx="3200400" cy="731520"/>
          </a:xfrm>
          <a:prstGeom prst="rect">
            <a:avLst/>
          </a:prstGeom>
          <a:noFill/>
          <a:ln/>
        </p:spPr>
        <p:txBody>
          <a:bodyPr wrap="square" lIns="0" tIns="0" rIns="0" bIns="0" rtlCol="0" anchor="ctr"/>
          <a:lstStyle/>
          <a:p>
            <a:pPr algn="l" indent="0" marL="0">
              <a:buNone/>
            </a:pPr>
            <a:r>
              <a:rPr lang="en-US" sz="1100" dirty="0">
                <a:solidFill>
                  <a:srgbClr val="B0BEC5"/>
                </a:solidFill>
                <a:latin typeface="Arial" pitchFamily="34" charset="0"/>
                <a:ea typeface="Arial" pitchFamily="34" charset="-122"/>
                <a:cs typeface="Arial" pitchFamily="34" charset="-120"/>
              </a:rPr>
              <a:t>Only ~16 hours notice for collision avoidance decisions.</a:t>
            </a:r>
            <a:endParaRPr lang="en-US" sz="1100" dirty="0"/>
          </a:p>
        </p:txBody>
      </p:sp>
      <p:sp>
        <p:nvSpPr>
          <p:cNvPr id="21" name="Text 15"/>
          <p:cNvSpPr/>
          <p:nvPr/>
        </p:nvSpPr>
        <p:spPr>
          <a:xfrm>
            <a:off x="365760" y="4663440"/>
            <a:ext cx="8412480" cy="384048"/>
          </a:xfrm>
          <a:prstGeom prst="rect">
            <a:avLst/>
          </a:prstGeom>
          <a:noFill/>
          <a:ln/>
        </p:spPr>
        <p:txBody>
          <a:bodyPr wrap="square" lIns="0" tIns="0" rIns="0" bIns="0" rtlCol="0" anchor="ctr"/>
          <a:lstStyle/>
          <a:p>
            <a:pPr algn="ctr" indent="0" marL="0">
              <a:buNone/>
            </a:pPr>
            <a:r>
              <a:rPr lang="en-US" sz="1300" i="1" dirty="0">
                <a:solidFill>
                  <a:srgbClr val="8B9AB5"/>
                </a:solidFill>
                <a:latin typeface="Arial" pitchFamily="34" charset="0"/>
                <a:ea typeface="Arial" pitchFamily="34" charset="-122"/>
                <a:cs typeface="Arial" pitchFamily="34" charset="-120"/>
              </a:rPr>
              <a:t>By the time information is correlated across disconnected tools, valuable decision time is lost.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E1C"/>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1000" b="1" spc="500" kern="0" dirty="0">
                <a:solidFill>
                  <a:srgbClr val="00E5FF"/>
                </a:solidFill>
                <a:latin typeface="Arial" pitchFamily="34" charset="0"/>
                <a:ea typeface="Arial" pitchFamily="34" charset="-122"/>
                <a:cs typeface="Arial" pitchFamily="34" charset="-120"/>
              </a:rPr>
              <a:t>THE SCALE OF THE CHALLENGE</a:t>
            </a:r>
            <a:endParaRPr lang="en-US" sz="10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Numbers Don't Lie</a:t>
            </a:r>
            <a:endParaRPr lang="en-US" sz="3000" dirty="0"/>
          </a:p>
        </p:txBody>
      </p:sp>
      <p:sp>
        <p:nvSpPr>
          <p:cNvPr id="4" name="Shape 2"/>
          <p:cNvSpPr/>
          <p:nvPr/>
        </p:nvSpPr>
        <p:spPr>
          <a:xfrm>
            <a:off x="365760" y="1325880"/>
            <a:ext cx="2651760" cy="1508760"/>
          </a:xfrm>
          <a:prstGeom prst="roundRect">
            <a:avLst>
              <a:gd name="adj" fmla="val 6061"/>
            </a:avLst>
          </a:prstGeom>
          <a:solidFill>
            <a:srgbClr val="0D1A2E"/>
          </a:solidFill>
          <a:ln w="12700">
            <a:solidFill>
              <a:srgbClr val="00E5FF">
                <a:alpha val="35000"/>
              </a:srgbClr>
            </a:solidFill>
            <a:prstDash val="solid"/>
          </a:ln>
        </p:spPr>
      </p:sp>
      <p:sp>
        <p:nvSpPr>
          <p:cNvPr id="5" name="Text 3"/>
          <p:cNvSpPr/>
          <p:nvPr/>
        </p:nvSpPr>
        <p:spPr>
          <a:xfrm>
            <a:off x="475488" y="1435608"/>
            <a:ext cx="2432304" cy="685800"/>
          </a:xfrm>
          <a:prstGeom prst="rect">
            <a:avLst/>
          </a:prstGeom>
          <a:noFill/>
          <a:ln/>
        </p:spPr>
        <p:txBody>
          <a:bodyPr wrap="square" lIns="0" tIns="0" rIns="0" bIns="0" rtlCol="0" anchor="ctr"/>
          <a:lstStyle/>
          <a:p>
            <a:pPr algn="l" indent="0" marL="0">
              <a:buNone/>
            </a:pPr>
            <a:r>
              <a:rPr lang="en-US" sz="3600" b="1" dirty="0">
                <a:solidFill>
                  <a:srgbClr val="00E5FF"/>
                </a:solidFill>
                <a:latin typeface="Arial" pitchFamily="34" charset="0"/>
                <a:ea typeface="Arial" pitchFamily="34" charset="-122"/>
                <a:cs typeface="Arial" pitchFamily="34" charset="-120"/>
              </a:rPr>
              <a:t>11,000+</a:t>
            </a:r>
            <a:endParaRPr lang="en-US" sz="3600" dirty="0"/>
          </a:p>
        </p:txBody>
      </p:sp>
      <p:sp>
        <p:nvSpPr>
          <p:cNvPr id="6" name="Text 4"/>
          <p:cNvSpPr/>
          <p:nvPr/>
        </p:nvSpPr>
        <p:spPr>
          <a:xfrm>
            <a:off x="475488" y="2103120"/>
            <a:ext cx="2432304"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Active Satellites</a:t>
            </a:r>
            <a:endParaRPr lang="en-US" sz="1100" dirty="0"/>
          </a:p>
        </p:txBody>
      </p:sp>
      <p:sp>
        <p:nvSpPr>
          <p:cNvPr id="7" name="Text 5"/>
          <p:cNvSpPr/>
          <p:nvPr/>
        </p:nvSpPr>
        <p:spPr>
          <a:xfrm>
            <a:off x="475488" y="2441448"/>
            <a:ext cx="2432304" cy="292608"/>
          </a:xfrm>
          <a:prstGeom prst="rect">
            <a:avLst/>
          </a:prstGeom>
          <a:noFill/>
          <a:ln/>
        </p:spPr>
        <p:txBody>
          <a:bodyPr wrap="square" lIns="0" tIns="0" rIns="0" bIns="0" rtlCol="0" anchor="ctr"/>
          <a:lstStyle/>
          <a:p>
            <a:pPr algn="l" indent="0" marL="0">
              <a:buNone/>
            </a:pPr>
            <a:r>
              <a:rPr lang="en-US" sz="900" dirty="0">
                <a:solidFill>
                  <a:srgbClr val="8B9AB5"/>
                </a:solidFill>
                <a:latin typeface="Arial" pitchFamily="34" charset="0"/>
                <a:ea typeface="Arial" pitchFamily="34" charset="-122"/>
                <a:cs typeface="Arial" pitchFamily="34" charset="-120"/>
              </a:rPr>
              <a:t>By end of 2024</a:t>
            </a:r>
            <a:endParaRPr lang="en-US" sz="900" dirty="0"/>
          </a:p>
        </p:txBody>
      </p:sp>
      <p:sp>
        <p:nvSpPr>
          <p:cNvPr id="8" name="Shape 6"/>
          <p:cNvSpPr/>
          <p:nvPr/>
        </p:nvSpPr>
        <p:spPr>
          <a:xfrm>
            <a:off x="3200400" y="1325880"/>
            <a:ext cx="2651760" cy="1508760"/>
          </a:xfrm>
          <a:prstGeom prst="roundRect">
            <a:avLst>
              <a:gd name="adj" fmla="val 6061"/>
            </a:avLst>
          </a:prstGeom>
          <a:solidFill>
            <a:srgbClr val="0D1A2E"/>
          </a:solidFill>
          <a:ln w="12700">
            <a:solidFill>
              <a:srgbClr val="2979FF">
                <a:alpha val="35000"/>
              </a:srgbClr>
            </a:solidFill>
            <a:prstDash val="solid"/>
          </a:ln>
        </p:spPr>
      </p:sp>
      <p:sp>
        <p:nvSpPr>
          <p:cNvPr id="9" name="Text 7"/>
          <p:cNvSpPr/>
          <p:nvPr/>
        </p:nvSpPr>
        <p:spPr>
          <a:xfrm>
            <a:off x="3310128" y="1435608"/>
            <a:ext cx="2432304" cy="685800"/>
          </a:xfrm>
          <a:prstGeom prst="rect">
            <a:avLst/>
          </a:prstGeom>
          <a:noFill/>
          <a:ln/>
        </p:spPr>
        <p:txBody>
          <a:bodyPr wrap="square" lIns="0" tIns="0" rIns="0" bIns="0" rtlCol="0" anchor="ctr"/>
          <a:lstStyle/>
          <a:p>
            <a:pPr algn="l" indent="0" marL="0">
              <a:buNone/>
            </a:pPr>
            <a:r>
              <a:rPr lang="en-US" sz="3600" b="1" dirty="0">
                <a:solidFill>
                  <a:srgbClr val="2979FF"/>
                </a:solidFill>
                <a:latin typeface="Arial" pitchFamily="34" charset="0"/>
                <a:ea typeface="Arial" pitchFamily="34" charset="-122"/>
                <a:cs typeface="Arial" pitchFamily="34" charset="-120"/>
              </a:rPr>
              <a:t>70,000</a:t>
            </a:r>
            <a:endParaRPr lang="en-US" sz="3600" dirty="0"/>
          </a:p>
        </p:txBody>
      </p:sp>
      <p:sp>
        <p:nvSpPr>
          <p:cNvPr id="10" name="Text 8"/>
          <p:cNvSpPr/>
          <p:nvPr/>
        </p:nvSpPr>
        <p:spPr>
          <a:xfrm>
            <a:off x="3310128" y="2103120"/>
            <a:ext cx="2432304"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Planned by 2030</a:t>
            </a:r>
            <a:endParaRPr lang="en-US" sz="1100" dirty="0"/>
          </a:p>
        </p:txBody>
      </p:sp>
      <p:sp>
        <p:nvSpPr>
          <p:cNvPr id="11" name="Text 9"/>
          <p:cNvSpPr/>
          <p:nvPr/>
        </p:nvSpPr>
        <p:spPr>
          <a:xfrm>
            <a:off x="3310128" y="2441448"/>
            <a:ext cx="2432304" cy="292608"/>
          </a:xfrm>
          <a:prstGeom prst="rect">
            <a:avLst/>
          </a:prstGeom>
          <a:noFill/>
          <a:ln/>
        </p:spPr>
        <p:txBody>
          <a:bodyPr wrap="square" lIns="0" tIns="0" rIns="0" bIns="0" rtlCol="0" anchor="ctr"/>
          <a:lstStyle/>
          <a:p>
            <a:pPr algn="l" indent="0" marL="0">
              <a:buNone/>
            </a:pPr>
            <a:r>
              <a:rPr lang="en-US" sz="900" dirty="0">
                <a:solidFill>
                  <a:srgbClr val="8B9AB5"/>
                </a:solidFill>
                <a:latin typeface="Arial" pitchFamily="34" charset="0"/>
                <a:ea typeface="Arial" pitchFamily="34" charset="-122"/>
                <a:cs typeface="Arial" pitchFamily="34" charset="-120"/>
              </a:rPr>
              <a:t>LEO mega-constellations</a:t>
            </a:r>
            <a:endParaRPr lang="en-US" sz="900" dirty="0"/>
          </a:p>
        </p:txBody>
      </p:sp>
      <p:sp>
        <p:nvSpPr>
          <p:cNvPr id="12" name="Shape 10"/>
          <p:cNvSpPr/>
          <p:nvPr/>
        </p:nvSpPr>
        <p:spPr>
          <a:xfrm>
            <a:off x="6035040" y="1325880"/>
            <a:ext cx="2651760" cy="1508760"/>
          </a:xfrm>
          <a:prstGeom prst="roundRect">
            <a:avLst>
              <a:gd name="adj" fmla="val 6061"/>
            </a:avLst>
          </a:prstGeom>
          <a:solidFill>
            <a:srgbClr val="0D1A2E"/>
          </a:solidFill>
          <a:ln w="12700">
            <a:solidFill>
              <a:srgbClr val="FF1744">
                <a:alpha val="35000"/>
              </a:srgbClr>
            </a:solidFill>
            <a:prstDash val="solid"/>
          </a:ln>
        </p:spPr>
      </p:sp>
      <p:sp>
        <p:nvSpPr>
          <p:cNvPr id="13" name="Text 11"/>
          <p:cNvSpPr/>
          <p:nvPr/>
        </p:nvSpPr>
        <p:spPr>
          <a:xfrm>
            <a:off x="6144768" y="1435608"/>
            <a:ext cx="2432304" cy="685800"/>
          </a:xfrm>
          <a:prstGeom prst="rect">
            <a:avLst/>
          </a:prstGeom>
          <a:noFill/>
          <a:ln/>
        </p:spPr>
        <p:txBody>
          <a:bodyPr wrap="square" lIns="0" tIns="0" rIns="0" bIns="0" rtlCol="0" anchor="ctr"/>
          <a:lstStyle/>
          <a:p>
            <a:pPr algn="l" indent="0" marL="0">
              <a:buNone/>
            </a:pPr>
            <a:r>
              <a:rPr lang="en-US" sz="3600" b="1" dirty="0">
                <a:solidFill>
                  <a:srgbClr val="FF1744"/>
                </a:solidFill>
                <a:latin typeface="Arial" pitchFamily="34" charset="0"/>
                <a:ea typeface="Arial" pitchFamily="34" charset="-122"/>
                <a:cs typeface="Arial" pitchFamily="34" charset="-120"/>
              </a:rPr>
              <a:t>45,000</a:t>
            </a:r>
            <a:endParaRPr lang="en-US" sz="3600" dirty="0"/>
          </a:p>
        </p:txBody>
      </p:sp>
      <p:sp>
        <p:nvSpPr>
          <p:cNvPr id="14" name="Text 12"/>
          <p:cNvSpPr/>
          <p:nvPr/>
        </p:nvSpPr>
        <p:spPr>
          <a:xfrm>
            <a:off x="6144768" y="2103120"/>
            <a:ext cx="2432304"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Tracked Debris Objects</a:t>
            </a:r>
            <a:endParaRPr lang="en-US" sz="1100" dirty="0"/>
          </a:p>
        </p:txBody>
      </p:sp>
      <p:sp>
        <p:nvSpPr>
          <p:cNvPr id="15" name="Text 13"/>
          <p:cNvSpPr/>
          <p:nvPr/>
        </p:nvSpPr>
        <p:spPr>
          <a:xfrm>
            <a:off x="6144768" y="2441448"/>
            <a:ext cx="2432304" cy="292608"/>
          </a:xfrm>
          <a:prstGeom prst="rect">
            <a:avLst/>
          </a:prstGeom>
          <a:noFill/>
          <a:ln/>
        </p:spPr>
        <p:txBody>
          <a:bodyPr wrap="square" lIns="0" tIns="0" rIns="0" bIns="0" rtlCol="0" anchor="ctr"/>
          <a:lstStyle/>
          <a:p>
            <a:pPr algn="l" indent="0" marL="0">
              <a:buNone/>
            </a:pPr>
            <a:r>
              <a:rPr lang="en-US" sz="900" dirty="0">
                <a:solidFill>
                  <a:srgbClr val="8B9AB5"/>
                </a:solidFill>
                <a:latin typeface="Arial" pitchFamily="34" charset="0"/>
                <a:ea typeface="Arial" pitchFamily="34" charset="-122"/>
                <a:cs typeface="Arial" pitchFamily="34" charset="-120"/>
              </a:rPr>
              <a:t>Larger than 10 cm</a:t>
            </a:r>
            <a:endParaRPr lang="en-US" sz="900" dirty="0"/>
          </a:p>
        </p:txBody>
      </p:sp>
      <p:sp>
        <p:nvSpPr>
          <p:cNvPr id="16" name="Shape 14"/>
          <p:cNvSpPr/>
          <p:nvPr/>
        </p:nvSpPr>
        <p:spPr>
          <a:xfrm>
            <a:off x="365760" y="3108960"/>
            <a:ext cx="2651760" cy="1508760"/>
          </a:xfrm>
          <a:prstGeom prst="roundRect">
            <a:avLst>
              <a:gd name="adj" fmla="val 6061"/>
            </a:avLst>
          </a:prstGeom>
          <a:solidFill>
            <a:srgbClr val="0D1A2E"/>
          </a:solidFill>
          <a:ln w="12700">
            <a:solidFill>
              <a:srgbClr val="FFD600">
                <a:alpha val="35000"/>
              </a:srgbClr>
            </a:solidFill>
            <a:prstDash val="solid"/>
          </a:ln>
        </p:spPr>
      </p:sp>
      <p:sp>
        <p:nvSpPr>
          <p:cNvPr id="17" name="Text 15"/>
          <p:cNvSpPr/>
          <p:nvPr/>
        </p:nvSpPr>
        <p:spPr>
          <a:xfrm>
            <a:off x="475488" y="3218688"/>
            <a:ext cx="2432304" cy="685800"/>
          </a:xfrm>
          <a:prstGeom prst="rect">
            <a:avLst/>
          </a:prstGeom>
          <a:noFill/>
          <a:ln/>
        </p:spPr>
        <p:txBody>
          <a:bodyPr wrap="square" lIns="0" tIns="0" rIns="0" bIns="0" rtlCol="0" anchor="ctr"/>
          <a:lstStyle/>
          <a:p>
            <a:pPr algn="l" indent="0" marL="0">
              <a:buNone/>
            </a:pPr>
            <a:r>
              <a:rPr lang="en-US" sz="3600" b="1" dirty="0">
                <a:solidFill>
                  <a:srgbClr val="FFD600"/>
                </a:solidFill>
                <a:latin typeface="Arial" pitchFamily="34" charset="0"/>
                <a:ea typeface="Arial" pitchFamily="34" charset="-122"/>
                <a:cs typeface="Arial" pitchFamily="34" charset="-120"/>
              </a:rPr>
              <a:t>15,600</a:t>
            </a:r>
            <a:endParaRPr lang="en-US" sz="3600" dirty="0"/>
          </a:p>
        </p:txBody>
      </p:sp>
      <p:sp>
        <p:nvSpPr>
          <p:cNvPr id="18" name="Text 16"/>
          <p:cNvSpPr/>
          <p:nvPr/>
        </p:nvSpPr>
        <p:spPr>
          <a:xfrm>
            <a:off x="475488" y="3886200"/>
            <a:ext cx="2432304"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Conjunction Alerts / Year</a:t>
            </a:r>
            <a:endParaRPr lang="en-US" sz="1100" dirty="0"/>
          </a:p>
        </p:txBody>
      </p:sp>
      <p:sp>
        <p:nvSpPr>
          <p:cNvPr id="19" name="Text 17"/>
          <p:cNvSpPr/>
          <p:nvPr/>
        </p:nvSpPr>
        <p:spPr>
          <a:xfrm>
            <a:off x="475488" y="4224528"/>
            <a:ext cx="2432304" cy="292608"/>
          </a:xfrm>
          <a:prstGeom prst="rect">
            <a:avLst/>
          </a:prstGeom>
          <a:noFill/>
          <a:ln/>
        </p:spPr>
        <p:txBody>
          <a:bodyPr wrap="square" lIns="0" tIns="0" rIns="0" bIns="0" rtlCol="0" anchor="ctr"/>
          <a:lstStyle/>
          <a:p>
            <a:pPr algn="l" indent="0" marL="0">
              <a:buNone/>
            </a:pPr>
            <a:r>
              <a:rPr lang="en-US" sz="900" dirty="0">
                <a:solidFill>
                  <a:srgbClr val="8B9AB5"/>
                </a:solidFill>
                <a:latin typeface="Arial" pitchFamily="34" charset="0"/>
                <a:ea typeface="Arial" pitchFamily="34" charset="-122"/>
                <a:cs typeface="Arial" pitchFamily="34" charset="-120"/>
              </a:rPr>
              <a:t>For a 50-satellite fleet</a:t>
            </a:r>
            <a:endParaRPr lang="en-US" sz="900" dirty="0"/>
          </a:p>
        </p:txBody>
      </p:sp>
      <p:sp>
        <p:nvSpPr>
          <p:cNvPr id="20" name="Shape 18"/>
          <p:cNvSpPr/>
          <p:nvPr/>
        </p:nvSpPr>
        <p:spPr>
          <a:xfrm>
            <a:off x="3200400" y="3108960"/>
            <a:ext cx="2651760" cy="1508760"/>
          </a:xfrm>
          <a:prstGeom prst="roundRect">
            <a:avLst>
              <a:gd name="adj" fmla="val 6061"/>
            </a:avLst>
          </a:prstGeom>
          <a:solidFill>
            <a:srgbClr val="0D1A2E"/>
          </a:solidFill>
          <a:ln w="12700">
            <a:solidFill>
              <a:srgbClr val="FF1744">
                <a:alpha val="35000"/>
              </a:srgbClr>
            </a:solidFill>
            <a:prstDash val="solid"/>
          </a:ln>
        </p:spPr>
      </p:sp>
      <p:sp>
        <p:nvSpPr>
          <p:cNvPr id="21" name="Text 19"/>
          <p:cNvSpPr/>
          <p:nvPr/>
        </p:nvSpPr>
        <p:spPr>
          <a:xfrm>
            <a:off x="3310128" y="3218688"/>
            <a:ext cx="2432304" cy="685800"/>
          </a:xfrm>
          <a:prstGeom prst="rect">
            <a:avLst/>
          </a:prstGeom>
          <a:noFill/>
          <a:ln/>
        </p:spPr>
        <p:txBody>
          <a:bodyPr wrap="square" lIns="0" tIns="0" rIns="0" bIns="0" rtlCol="0" anchor="ctr"/>
          <a:lstStyle/>
          <a:p>
            <a:pPr algn="l" indent="0" marL="0">
              <a:buNone/>
            </a:pPr>
            <a:r>
              <a:rPr lang="en-US" sz="3600" b="1" dirty="0">
                <a:solidFill>
                  <a:srgbClr val="FF1744"/>
                </a:solidFill>
                <a:latin typeface="Arial" pitchFamily="34" charset="0"/>
                <a:ea typeface="Arial" pitchFamily="34" charset="-122"/>
                <a:cs typeface="Arial" pitchFamily="34" charset="-120"/>
              </a:rPr>
              <a:t>41%</a:t>
            </a:r>
            <a:endParaRPr lang="en-US" sz="3600" dirty="0"/>
          </a:p>
        </p:txBody>
      </p:sp>
      <p:sp>
        <p:nvSpPr>
          <p:cNvPr id="22" name="Text 20"/>
          <p:cNvSpPr/>
          <p:nvPr/>
        </p:nvSpPr>
        <p:spPr>
          <a:xfrm>
            <a:off x="3310128" y="3886200"/>
            <a:ext cx="2432304"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SmallSat Failure Rate</a:t>
            </a:r>
            <a:endParaRPr lang="en-US" sz="1100" dirty="0"/>
          </a:p>
        </p:txBody>
      </p:sp>
      <p:sp>
        <p:nvSpPr>
          <p:cNvPr id="23" name="Text 21"/>
          <p:cNvSpPr/>
          <p:nvPr/>
        </p:nvSpPr>
        <p:spPr>
          <a:xfrm>
            <a:off x="3310128" y="4224528"/>
            <a:ext cx="2432304" cy="292608"/>
          </a:xfrm>
          <a:prstGeom prst="rect">
            <a:avLst/>
          </a:prstGeom>
          <a:noFill/>
          <a:ln/>
        </p:spPr>
        <p:txBody>
          <a:bodyPr wrap="square" lIns="0" tIns="0" rIns="0" bIns="0" rtlCol="0" anchor="ctr"/>
          <a:lstStyle/>
          <a:p>
            <a:pPr algn="l" indent="0" marL="0">
              <a:buNone/>
            </a:pPr>
            <a:r>
              <a:rPr lang="en-US" sz="900" dirty="0">
                <a:solidFill>
                  <a:srgbClr val="8B9AB5"/>
                </a:solidFill>
                <a:latin typeface="Arial" pitchFamily="34" charset="0"/>
                <a:ea typeface="Arial" pitchFamily="34" charset="-122"/>
                <a:cs typeface="Arial" pitchFamily="34" charset="-120"/>
              </a:rPr>
              <a:t>Historical 2000–2016</a:t>
            </a:r>
            <a:endParaRPr lang="en-US" sz="900" dirty="0"/>
          </a:p>
        </p:txBody>
      </p:sp>
      <p:sp>
        <p:nvSpPr>
          <p:cNvPr id="24" name="Shape 22"/>
          <p:cNvSpPr/>
          <p:nvPr/>
        </p:nvSpPr>
        <p:spPr>
          <a:xfrm>
            <a:off x="6035040" y="3108960"/>
            <a:ext cx="2651760" cy="1508760"/>
          </a:xfrm>
          <a:prstGeom prst="roundRect">
            <a:avLst>
              <a:gd name="adj" fmla="val 6061"/>
            </a:avLst>
          </a:prstGeom>
          <a:solidFill>
            <a:srgbClr val="0D1A2E"/>
          </a:solidFill>
          <a:ln w="12700">
            <a:solidFill>
              <a:srgbClr val="AA00FF">
                <a:alpha val="35000"/>
              </a:srgbClr>
            </a:solidFill>
            <a:prstDash val="solid"/>
          </a:ln>
        </p:spPr>
      </p:sp>
      <p:sp>
        <p:nvSpPr>
          <p:cNvPr id="25" name="Text 23"/>
          <p:cNvSpPr/>
          <p:nvPr/>
        </p:nvSpPr>
        <p:spPr>
          <a:xfrm>
            <a:off x="6144768" y="3218688"/>
            <a:ext cx="2432304" cy="685800"/>
          </a:xfrm>
          <a:prstGeom prst="rect">
            <a:avLst/>
          </a:prstGeom>
          <a:noFill/>
          <a:ln/>
        </p:spPr>
        <p:txBody>
          <a:bodyPr wrap="square" lIns="0" tIns="0" rIns="0" bIns="0" rtlCol="0" anchor="ctr"/>
          <a:lstStyle/>
          <a:p>
            <a:pPr algn="l" indent="0" marL="0">
              <a:buNone/>
            </a:pPr>
            <a:r>
              <a:rPr lang="en-US" sz="3600" b="1" dirty="0">
                <a:solidFill>
                  <a:srgbClr val="AA00FF"/>
                </a:solidFill>
                <a:latin typeface="Arial" pitchFamily="34" charset="0"/>
                <a:ea typeface="Arial" pitchFamily="34" charset="-122"/>
                <a:cs typeface="Arial" pitchFamily="34" charset="-120"/>
              </a:rPr>
              <a:t>237</a:t>
            </a:r>
            <a:endParaRPr lang="en-US" sz="3600" dirty="0"/>
          </a:p>
        </p:txBody>
      </p:sp>
      <p:sp>
        <p:nvSpPr>
          <p:cNvPr id="26" name="Text 24"/>
          <p:cNvSpPr/>
          <p:nvPr/>
        </p:nvSpPr>
        <p:spPr>
          <a:xfrm>
            <a:off x="6144768" y="3886200"/>
            <a:ext cx="2432304"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Geomagnetic Storms / Year</a:t>
            </a:r>
            <a:endParaRPr lang="en-US" sz="1100" dirty="0"/>
          </a:p>
        </p:txBody>
      </p:sp>
      <p:sp>
        <p:nvSpPr>
          <p:cNvPr id="27" name="Text 25"/>
          <p:cNvSpPr/>
          <p:nvPr/>
        </p:nvSpPr>
        <p:spPr>
          <a:xfrm>
            <a:off x="6144768" y="4224528"/>
            <a:ext cx="2432304" cy="292608"/>
          </a:xfrm>
          <a:prstGeom prst="rect">
            <a:avLst/>
          </a:prstGeom>
          <a:noFill/>
          <a:ln/>
        </p:spPr>
        <p:txBody>
          <a:bodyPr wrap="square" lIns="0" tIns="0" rIns="0" bIns="0" rtlCol="0" anchor="ctr"/>
          <a:lstStyle/>
          <a:p>
            <a:pPr algn="l" indent="0" marL="0">
              <a:buNone/>
            </a:pPr>
            <a:r>
              <a:rPr lang="en-US" sz="900" dirty="0">
                <a:solidFill>
                  <a:srgbClr val="8B9AB5"/>
                </a:solidFill>
                <a:latin typeface="Arial" pitchFamily="34" charset="0"/>
                <a:ea typeface="Arial" pitchFamily="34" charset="-122"/>
                <a:cs typeface="Arial" pitchFamily="34" charset="-120"/>
              </a:rPr>
              <a:t>Kp ≥ 5 events</a:t>
            </a:r>
            <a:endParaRPr lang="en-US" sz="900" dirty="0"/>
          </a:p>
        </p:txBody>
      </p:sp>
      <p:sp>
        <p:nvSpPr>
          <p:cNvPr id="28" name="Text 26"/>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200" i="1" dirty="0">
                <a:solidFill>
                  <a:srgbClr val="8B9AB5"/>
                </a:solidFill>
                <a:latin typeface="Arial" pitchFamily="34" charset="0"/>
                <a:ea typeface="Arial" pitchFamily="34" charset="-122"/>
                <a:cs typeface="Arial" pitchFamily="34" charset="-120"/>
              </a:rPr>
              <a:t>Hours to Decide.  Millions at Stake.  Zero Room for Error.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2979FF">
              <a:alpha val="6000"/>
            </a:srgbClr>
          </a:solidFill>
          <a:ln w="12700">
            <a:solidFill>
              <a:srgbClr val="2979FF"/>
            </a:solidFill>
            <a:prstDash val="solid"/>
          </a:ln>
        </p:spPr>
      </p:sp>
      <p:sp>
        <p:nvSpPr>
          <p:cNvPr id="3" name="Text 1"/>
          <p:cNvSpPr/>
          <p:nvPr/>
        </p:nvSpPr>
        <p:spPr>
          <a:xfrm>
            <a:off x="457200" y="228600"/>
            <a:ext cx="5486400" cy="347472"/>
          </a:xfrm>
          <a:prstGeom prst="rect">
            <a:avLst/>
          </a:prstGeom>
          <a:noFill/>
          <a:ln/>
        </p:spPr>
        <p:txBody>
          <a:bodyPr wrap="square" lIns="0" tIns="0" rIns="0" bIns="0" rtlCol="0" anchor="ctr"/>
          <a:lstStyle/>
          <a:p>
            <a:pPr algn="l" indent="0" marL="0">
              <a:buNone/>
            </a:pPr>
            <a:r>
              <a:rPr lang="en-US" sz="1000" b="1" spc="500" kern="0" dirty="0">
                <a:solidFill>
                  <a:srgbClr val="00E5FF"/>
                </a:solidFill>
                <a:latin typeface="Arial" pitchFamily="34" charset="0"/>
                <a:ea typeface="Arial" pitchFamily="34" charset="-122"/>
                <a:cs typeface="Arial" pitchFamily="34" charset="-120"/>
              </a:rPr>
              <a:t>INTRODUCING</a:t>
            </a:r>
            <a:endParaRPr lang="en-US" sz="1000" dirty="0"/>
          </a:p>
        </p:txBody>
      </p:sp>
      <p:sp>
        <p:nvSpPr>
          <p:cNvPr id="4" name="Text 2"/>
          <p:cNvSpPr/>
          <p:nvPr/>
        </p:nvSpPr>
        <p:spPr>
          <a:xfrm>
            <a:off x="457200" y="548640"/>
            <a:ext cx="6400800" cy="822960"/>
          </a:xfrm>
          <a:prstGeom prst="rect">
            <a:avLst/>
          </a:prstGeom>
          <a:noFill/>
          <a:ln/>
        </p:spPr>
        <p:txBody>
          <a:bodyPr wrap="square" lIns="0" tIns="0" rIns="0" bIns="0" rtlCol="0" anchor="ctr"/>
          <a:lstStyle/>
          <a:p>
            <a:pPr algn="l" indent="0" marL="0">
              <a:buNone/>
            </a:pPr>
            <a:r>
              <a:rPr lang="en-US" sz="4400" b="1" dirty="0">
                <a:solidFill>
                  <a:srgbClr val="FFFFFF"/>
                </a:solidFill>
                <a:latin typeface="Arial" pitchFamily="34" charset="0"/>
                <a:ea typeface="Arial" pitchFamily="34" charset="-122"/>
                <a:cs typeface="Arial" pitchFamily="34" charset="-120"/>
              </a:rPr>
              <a:t>Hack Orbit</a:t>
            </a:r>
            <a:endParaRPr lang="en-US" sz="4400" dirty="0"/>
          </a:p>
        </p:txBody>
      </p:sp>
      <p:sp>
        <p:nvSpPr>
          <p:cNvPr id="5" name="Text 3"/>
          <p:cNvSpPr/>
          <p:nvPr/>
        </p:nvSpPr>
        <p:spPr>
          <a:xfrm>
            <a:off x="457200" y="1371600"/>
            <a:ext cx="6858000" cy="457200"/>
          </a:xfrm>
          <a:prstGeom prst="rect">
            <a:avLst/>
          </a:prstGeom>
          <a:noFill/>
          <a:ln/>
        </p:spPr>
        <p:txBody>
          <a:bodyPr wrap="square" lIns="0" tIns="0" rIns="0" bIns="0" rtlCol="0" anchor="ctr"/>
          <a:lstStyle/>
          <a:p>
            <a:pPr algn="l" indent="0" marL="0">
              <a:buNone/>
            </a:pPr>
            <a:r>
              <a:rPr lang="en-US" sz="1600" i="1" dirty="0">
                <a:solidFill>
                  <a:srgbClr val="00B8D4"/>
                </a:solidFill>
                <a:latin typeface="Arial" pitchFamily="34" charset="0"/>
                <a:ea typeface="Arial" pitchFamily="34" charset="-122"/>
                <a:cs typeface="Arial" pitchFamily="34" charset="-120"/>
              </a:rPr>
              <a:t>A mission co-pilot for the age of crowded orbit.</a:t>
            </a:r>
            <a:endParaRPr lang="en-US" sz="1600" dirty="0"/>
          </a:p>
        </p:txBody>
      </p:sp>
      <p:sp>
        <p:nvSpPr>
          <p:cNvPr id="6" name="Shape 4"/>
          <p:cNvSpPr/>
          <p:nvPr/>
        </p:nvSpPr>
        <p:spPr>
          <a:xfrm>
            <a:off x="365760" y="2011680"/>
            <a:ext cx="2606040" cy="1280160"/>
          </a:xfrm>
          <a:prstGeom prst="roundRect">
            <a:avLst>
              <a:gd name="adj" fmla="val 7143"/>
            </a:avLst>
          </a:prstGeom>
          <a:solidFill>
            <a:srgbClr val="101D35"/>
          </a:solidFill>
          <a:ln w="12700">
            <a:solidFill>
              <a:srgbClr val="00E676">
                <a:alpha val="30000"/>
              </a:srgbClr>
            </a:solidFill>
            <a:prstDash val="solid"/>
          </a:ln>
        </p:spPr>
      </p:sp>
      <p:pic>
        <p:nvPicPr>
          <p:cNvPr id="7" name="Image 0" descr="preencoded.png">    </p:cNvPr>
          <p:cNvPicPr>
            <a:picLocks noChangeAspect="1"/>
          </p:cNvPicPr>
          <p:nvPr/>
        </p:nvPicPr>
        <p:blipFill>
          <a:blip r:embed="rId1"/>
          <a:stretch>
            <a:fillRect/>
          </a:stretch>
        </p:blipFill>
        <p:spPr>
          <a:xfrm>
            <a:off x="502920" y="2176272"/>
            <a:ext cx="411480" cy="411480"/>
          </a:xfrm>
          <a:prstGeom prst="rect">
            <a:avLst/>
          </a:prstGeom>
        </p:spPr>
      </p:pic>
      <p:sp>
        <p:nvSpPr>
          <p:cNvPr id="8" name="Text 5"/>
          <p:cNvSpPr/>
          <p:nvPr/>
        </p:nvSpPr>
        <p:spPr>
          <a:xfrm>
            <a:off x="1005840" y="2148840"/>
            <a:ext cx="1828800" cy="365760"/>
          </a:xfrm>
          <a:prstGeom prst="rect">
            <a:avLst/>
          </a:prstGeom>
          <a:noFill/>
          <a:ln/>
        </p:spPr>
        <p:txBody>
          <a:bodyPr wrap="square" lIns="0" tIns="0" rIns="0" bIns="0" rtlCol="0" anchor="ctr"/>
          <a:lstStyle/>
          <a:p>
            <a:pPr algn="l" indent="0" marL="0">
              <a:buNone/>
            </a:pPr>
            <a:r>
              <a:rPr lang="en-US" sz="1200" b="1" dirty="0">
                <a:solidFill>
                  <a:srgbClr val="00E676"/>
                </a:solidFill>
                <a:latin typeface="Arial" pitchFamily="34" charset="0"/>
                <a:ea typeface="Arial" pitchFamily="34" charset="-122"/>
                <a:cs typeface="Arial" pitchFamily="34" charset="-120"/>
              </a:rPr>
              <a:t>Satellite Health</a:t>
            </a:r>
            <a:endParaRPr lang="en-US" sz="1200" dirty="0"/>
          </a:p>
        </p:txBody>
      </p:sp>
      <p:sp>
        <p:nvSpPr>
          <p:cNvPr id="9" name="Text 6"/>
          <p:cNvSpPr/>
          <p:nvPr/>
        </p:nvSpPr>
        <p:spPr>
          <a:xfrm>
            <a:off x="502920" y="2670048"/>
            <a:ext cx="2331720" cy="53035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Real-time telemetry. Anomaly detection. Health scoring.</a:t>
            </a:r>
            <a:endParaRPr lang="en-US" sz="950" dirty="0"/>
          </a:p>
        </p:txBody>
      </p:sp>
      <p:sp>
        <p:nvSpPr>
          <p:cNvPr id="10" name="Shape 7"/>
          <p:cNvSpPr/>
          <p:nvPr/>
        </p:nvSpPr>
        <p:spPr>
          <a:xfrm>
            <a:off x="3154680" y="2011680"/>
            <a:ext cx="2606040" cy="1280160"/>
          </a:xfrm>
          <a:prstGeom prst="roundRect">
            <a:avLst>
              <a:gd name="adj" fmla="val 7143"/>
            </a:avLst>
          </a:prstGeom>
          <a:solidFill>
            <a:srgbClr val="101D35"/>
          </a:solidFill>
          <a:ln w="12700">
            <a:solidFill>
              <a:srgbClr val="FFD600">
                <a:alpha val="30000"/>
              </a:srgbClr>
            </a:solidFill>
            <a:prstDash val="solid"/>
          </a:ln>
        </p:spPr>
      </p:sp>
      <p:pic>
        <p:nvPicPr>
          <p:cNvPr id="11" name="Image 1" descr="preencoded.png">    </p:cNvPr>
          <p:cNvPicPr>
            <a:picLocks noChangeAspect="1"/>
          </p:cNvPicPr>
          <p:nvPr/>
        </p:nvPicPr>
        <p:blipFill>
          <a:blip r:embed="rId2"/>
          <a:stretch>
            <a:fillRect/>
          </a:stretch>
        </p:blipFill>
        <p:spPr>
          <a:xfrm>
            <a:off x="3291840" y="2176272"/>
            <a:ext cx="411480" cy="411480"/>
          </a:xfrm>
          <a:prstGeom prst="rect">
            <a:avLst/>
          </a:prstGeom>
        </p:spPr>
      </p:pic>
      <p:sp>
        <p:nvSpPr>
          <p:cNvPr id="12" name="Text 8"/>
          <p:cNvSpPr/>
          <p:nvPr/>
        </p:nvSpPr>
        <p:spPr>
          <a:xfrm>
            <a:off x="3794760" y="2148840"/>
            <a:ext cx="1828800" cy="365760"/>
          </a:xfrm>
          <a:prstGeom prst="rect">
            <a:avLst/>
          </a:prstGeom>
          <a:noFill/>
          <a:ln/>
        </p:spPr>
        <p:txBody>
          <a:bodyPr wrap="square" lIns="0" tIns="0" rIns="0" bIns="0" rtlCol="0" anchor="ctr"/>
          <a:lstStyle/>
          <a:p>
            <a:pPr algn="l" indent="0" marL="0">
              <a:buNone/>
            </a:pPr>
            <a:r>
              <a:rPr lang="en-US" sz="1200" b="1" dirty="0">
                <a:solidFill>
                  <a:srgbClr val="FFD600"/>
                </a:solidFill>
                <a:latin typeface="Arial" pitchFamily="34" charset="0"/>
                <a:ea typeface="Arial" pitchFamily="34" charset="-122"/>
                <a:cs typeface="Arial" pitchFamily="34" charset="-120"/>
              </a:rPr>
              <a:t>Space Weather</a:t>
            </a:r>
            <a:endParaRPr lang="en-US" sz="1200" dirty="0"/>
          </a:p>
        </p:txBody>
      </p:sp>
      <p:sp>
        <p:nvSpPr>
          <p:cNvPr id="13" name="Text 9"/>
          <p:cNvSpPr/>
          <p:nvPr/>
        </p:nvSpPr>
        <p:spPr>
          <a:xfrm>
            <a:off x="3291840" y="2670048"/>
            <a:ext cx="2331720" cy="53035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NOAA Kp Index tracking. Storm warnings. Impact forecasts.</a:t>
            </a:r>
            <a:endParaRPr lang="en-US" sz="950" dirty="0"/>
          </a:p>
        </p:txBody>
      </p:sp>
      <p:sp>
        <p:nvSpPr>
          <p:cNvPr id="14" name="Shape 10"/>
          <p:cNvSpPr/>
          <p:nvPr/>
        </p:nvSpPr>
        <p:spPr>
          <a:xfrm>
            <a:off x="5943600" y="2011680"/>
            <a:ext cx="2606040" cy="1280160"/>
          </a:xfrm>
          <a:prstGeom prst="roundRect">
            <a:avLst>
              <a:gd name="adj" fmla="val 7143"/>
            </a:avLst>
          </a:prstGeom>
          <a:solidFill>
            <a:srgbClr val="101D35"/>
          </a:solidFill>
          <a:ln w="12700">
            <a:solidFill>
              <a:srgbClr val="FF1744">
                <a:alpha val="30000"/>
              </a:srgbClr>
            </a:solidFill>
            <a:prstDash val="solid"/>
          </a:ln>
        </p:spPr>
      </p:sp>
      <p:pic>
        <p:nvPicPr>
          <p:cNvPr id="15" name="Image 2" descr="preencoded.png">    </p:cNvPr>
          <p:cNvPicPr>
            <a:picLocks noChangeAspect="1"/>
          </p:cNvPicPr>
          <p:nvPr/>
        </p:nvPicPr>
        <p:blipFill>
          <a:blip r:embed="rId3"/>
          <a:stretch>
            <a:fillRect/>
          </a:stretch>
        </p:blipFill>
        <p:spPr>
          <a:xfrm>
            <a:off x="6080760" y="2176272"/>
            <a:ext cx="411480" cy="411480"/>
          </a:xfrm>
          <a:prstGeom prst="rect">
            <a:avLst/>
          </a:prstGeom>
        </p:spPr>
      </p:pic>
      <p:sp>
        <p:nvSpPr>
          <p:cNvPr id="16" name="Text 11"/>
          <p:cNvSpPr/>
          <p:nvPr/>
        </p:nvSpPr>
        <p:spPr>
          <a:xfrm>
            <a:off x="6583680" y="2148840"/>
            <a:ext cx="1828800" cy="365760"/>
          </a:xfrm>
          <a:prstGeom prst="rect">
            <a:avLst/>
          </a:prstGeom>
          <a:noFill/>
          <a:ln/>
        </p:spPr>
        <p:txBody>
          <a:bodyPr wrap="square" lIns="0" tIns="0" rIns="0" bIns="0" rtlCol="0" anchor="ctr"/>
          <a:lstStyle/>
          <a:p>
            <a:pPr algn="l" indent="0" marL="0">
              <a:buNone/>
            </a:pPr>
            <a:r>
              <a:rPr lang="en-US" sz="1200" b="1" dirty="0">
                <a:solidFill>
                  <a:srgbClr val="FF1744"/>
                </a:solidFill>
                <a:latin typeface="Arial" pitchFamily="34" charset="0"/>
                <a:ea typeface="Arial" pitchFamily="34" charset="-122"/>
                <a:cs typeface="Arial" pitchFamily="34" charset="-120"/>
              </a:rPr>
              <a:t>Collision Detection</a:t>
            </a:r>
            <a:endParaRPr lang="en-US" sz="1200" dirty="0"/>
          </a:p>
        </p:txBody>
      </p:sp>
      <p:sp>
        <p:nvSpPr>
          <p:cNvPr id="17" name="Text 12"/>
          <p:cNvSpPr/>
          <p:nvPr/>
        </p:nvSpPr>
        <p:spPr>
          <a:xfrm>
            <a:off x="6080760" y="2670048"/>
            <a:ext cx="2331720" cy="53035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CelesTrak TLE data. Close approach alerts. Risk scoring.</a:t>
            </a:r>
            <a:endParaRPr lang="en-US" sz="950" dirty="0"/>
          </a:p>
        </p:txBody>
      </p:sp>
      <p:sp>
        <p:nvSpPr>
          <p:cNvPr id="18" name="Shape 13"/>
          <p:cNvSpPr/>
          <p:nvPr/>
        </p:nvSpPr>
        <p:spPr>
          <a:xfrm>
            <a:off x="365760" y="3474720"/>
            <a:ext cx="2606040" cy="1280160"/>
          </a:xfrm>
          <a:prstGeom prst="roundRect">
            <a:avLst>
              <a:gd name="adj" fmla="val 7143"/>
            </a:avLst>
          </a:prstGeom>
          <a:solidFill>
            <a:srgbClr val="101D35"/>
          </a:solidFill>
          <a:ln w="12700">
            <a:solidFill>
              <a:srgbClr val="AA00FF">
                <a:alpha val="30000"/>
              </a:srgbClr>
            </a:solidFill>
            <a:prstDash val="solid"/>
          </a:ln>
        </p:spPr>
      </p:sp>
      <p:pic>
        <p:nvPicPr>
          <p:cNvPr id="19" name="Image 3" descr="preencoded.png">    </p:cNvPr>
          <p:cNvPicPr>
            <a:picLocks noChangeAspect="1"/>
          </p:cNvPicPr>
          <p:nvPr/>
        </p:nvPicPr>
        <p:blipFill>
          <a:blip r:embed="rId4"/>
          <a:stretch>
            <a:fillRect/>
          </a:stretch>
        </p:blipFill>
        <p:spPr>
          <a:xfrm>
            <a:off x="502920" y="3639312"/>
            <a:ext cx="411480" cy="411480"/>
          </a:xfrm>
          <a:prstGeom prst="rect">
            <a:avLst/>
          </a:prstGeom>
        </p:spPr>
      </p:pic>
      <p:sp>
        <p:nvSpPr>
          <p:cNvPr id="20" name="Text 14"/>
          <p:cNvSpPr/>
          <p:nvPr/>
        </p:nvSpPr>
        <p:spPr>
          <a:xfrm>
            <a:off x="1005840" y="3611880"/>
            <a:ext cx="1828800" cy="365760"/>
          </a:xfrm>
          <a:prstGeom prst="rect">
            <a:avLst/>
          </a:prstGeom>
          <a:noFill/>
          <a:ln/>
        </p:spPr>
        <p:txBody>
          <a:bodyPr wrap="square" lIns="0" tIns="0" rIns="0" bIns="0" rtlCol="0" anchor="ctr"/>
          <a:lstStyle/>
          <a:p>
            <a:pPr algn="l" indent="0" marL="0">
              <a:buNone/>
            </a:pPr>
            <a:r>
              <a:rPr lang="en-US" sz="1200" b="1" dirty="0">
                <a:solidFill>
                  <a:srgbClr val="AA00FF"/>
                </a:solidFill>
                <a:latin typeface="Arial" pitchFamily="34" charset="0"/>
                <a:ea typeface="Arial" pitchFamily="34" charset="-122"/>
                <a:cs typeface="Arial" pitchFamily="34" charset="-120"/>
              </a:rPr>
              <a:t>AI Copilot</a:t>
            </a:r>
            <a:endParaRPr lang="en-US" sz="1200" dirty="0"/>
          </a:p>
        </p:txBody>
      </p:sp>
      <p:sp>
        <p:nvSpPr>
          <p:cNvPr id="21" name="Text 15"/>
          <p:cNvSpPr/>
          <p:nvPr/>
        </p:nvSpPr>
        <p:spPr>
          <a:xfrm>
            <a:off x="502920" y="4133088"/>
            <a:ext cx="2331720" cy="53035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Claude-powered recommendations. Incident analysis. Reports.</a:t>
            </a:r>
            <a:endParaRPr lang="en-US" sz="950" dirty="0"/>
          </a:p>
        </p:txBody>
      </p:sp>
      <p:sp>
        <p:nvSpPr>
          <p:cNvPr id="22" name="Shape 16"/>
          <p:cNvSpPr/>
          <p:nvPr/>
        </p:nvSpPr>
        <p:spPr>
          <a:xfrm>
            <a:off x="3154680" y="3474720"/>
            <a:ext cx="2606040" cy="1280160"/>
          </a:xfrm>
          <a:prstGeom prst="roundRect">
            <a:avLst>
              <a:gd name="adj" fmla="val 7143"/>
            </a:avLst>
          </a:prstGeom>
          <a:solidFill>
            <a:srgbClr val="101D35"/>
          </a:solidFill>
          <a:ln w="12700">
            <a:solidFill>
              <a:srgbClr val="2979FF">
                <a:alpha val="30000"/>
              </a:srgbClr>
            </a:solidFill>
            <a:prstDash val="solid"/>
          </a:ln>
        </p:spPr>
      </p:sp>
      <p:pic>
        <p:nvPicPr>
          <p:cNvPr id="23" name="Image 4" descr="preencoded.png">    </p:cNvPr>
          <p:cNvPicPr>
            <a:picLocks noChangeAspect="1"/>
          </p:cNvPicPr>
          <p:nvPr/>
        </p:nvPicPr>
        <p:blipFill>
          <a:blip r:embed="rId5"/>
          <a:stretch>
            <a:fillRect/>
          </a:stretch>
        </p:blipFill>
        <p:spPr>
          <a:xfrm>
            <a:off x="3291840" y="3639312"/>
            <a:ext cx="411480" cy="411480"/>
          </a:xfrm>
          <a:prstGeom prst="rect">
            <a:avLst/>
          </a:prstGeom>
        </p:spPr>
      </p:pic>
      <p:sp>
        <p:nvSpPr>
          <p:cNvPr id="24" name="Text 17"/>
          <p:cNvSpPr/>
          <p:nvPr/>
        </p:nvSpPr>
        <p:spPr>
          <a:xfrm>
            <a:off x="3794760" y="3611880"/>
            <a:ext cx="1828800" cy="365760"/>
          </a:xfrm>
          <a:prstGeom prst="rect">
            <a:avLst/>
          </a:prstGeom>
          <a:noFill/>
          <a:ln/>
        </p:spPr>
        <p:txBody>
          <a:bodyPr wrap="square" lIns="0" tIns="0" rIns="0" bIns="0" rtlCol="0" anchor="ctr"/>
          <a:lstStyle/>
          <a:p>
            <a:pPr algn="l" indent="0" marL="0">
              <a:buNone/>
            </a:pPr>
            <a:r>
              <a:rPr lang="en-US" sz="1200" b="1" dirty="0">
                <a:solidFill>
                  <a:srgbClr val="2979FF"/>
                </a:solidFill>
                <a:latin typeface="Arial" pitchFamily="34" charset="0"/>
                <a:ea typeface="Arial" pitchFamily="34" charset="-122"/>
                <a:cs typeface="Arial" pitchFamily="34" charset="-120"/>
              </a:rPr>
              <a:t>What-If Simulator</a:t>
            </a:r>
            <a:endParaRPr lang="en-US" sz="1200" dirty="0"/>
          </a:p>
        </p:txBody>
      </p:sp>
      <p:sp>
        <p:nvSpPr>
          <p:cNvPr id="25" name="Text 18"/>
          <p:cNvSpPr/>
          <p:nvPr/>
        </p:nvSpPr>
        <p:spPr>
          <a:xfrm>
            <a:off x="3291840" y="4133088"/>
            <a:ext cx="2331720" cy="53035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Simulate decisions. Assess mission impact in real time.</a:t>
            </a:r>
            <a:endParaRPr lang="en-US" sz="950" dirty="0"/>
          </a:p>
        </p:txBody>
      </p:sp>
      <p:sp>
        <p:nvSpPr>
          <p:cNvPr id="26" name="Shape 19"/>
          <p:cNvSpPr/>
          <p:nvPr/>
        </p:nvSpPr>
        <p:spPr>
          <a:xfrm>
            <a:off x="5943600" y="3474720"/>
            <a:ext cx="2606040" cy="1280160"/>
          </a:xfrm>
          <a:prstGeom prst="roundRect">
            <a:avLst>
              <a:gd name="adj" fmla="val 7143"/>
            </a:avLst>
          </a:prstGeom>
          <a:solidFill>
            <a:srgbClr val="101D35"/>
          </a:solidFill>
          <a:ln w="12700">
            <a:solidFill>
              <a:srgbClr val="00E5FF">
                <a:alpha val="30000"/>
              </a:srgbClr>
            </a:solidFill>
            <a:prstDash val="solid"/>
          </a:ln>
        </p:spPr>
      </p:sp>
      <p:pic>
        <p:nvPicPr>
          <p:cNvPr id="27" name="Image 5" descr="preencoded.png">    </p:cNvPr>
          <p:cNvPicPr>
            <a:picLocks noChangeAspect="1"/>
          </p:cNvPicPr>
          <p:nvPr/>
        </p:nvPicPr>
        <p:blipFill>
          <a:blip r:embed="rId6"/>
          <a:stretch>
            <a:fillRect/>
          </a:stretch>
        </p:blipFill>
        <p:spPr>
          <a:xfrm>
            <a:off x="6080760" y="3639312"/>
            <a:ext cx="411480" cy="411480"/>
          </a:xfrm>
          <a:prstGeom prst="rect">
            <a:avLst/>
          </a:prstGeom>
        </p:spPr>
      </p:pic>
      <p:sp>
        <p:nvSpPr>
          <p:cNvPr id="28" name="Text 20"/>
          <p:cNvSpPr/>
          <p:nvPr/>
        </p:nvSpPr>
        <p:spPr>
          <a:xfrm>
            <a:off x="6583680" y="3611880"/>
            <a:ext cx="1828800" cy="365760"/>
          </a:xfrm>
          <a:prstGeom prst="rect">
            <a:avLst/>
          </a:prstGeom>
          <a:noFill/>
          <a:ln/>
        </p:spPr>
        <p:txBody>
          <a:bodyPr wrap="square" lIns="0" tIns="0" rIns="0" bIns="0" rtlCol="0" anchor="ctr"/>
          <a:lstStyle/>
          <a:p>
            <a:pPr algn="l" indent="0" marL="0">
              <a:buNone/>
            </a:pPr>
            <a:r>
              <a:rPr lang="en-US" sz="1200" b="1" dirty="0">
                <a:solidFill>
                  <a:srgbClr val="00E5FF"/>
                </a:solidFill>
                <a:latin typeface="Arial" pitchFamily="34" charset="0"/>
                <a:ea typeface="Arial" pitchFamily="34" charset="-122"/>
                <a:cs typeface="Arial" pitchFamily="34" charset="-120"/>
              </a:rPr>
              <a:t>Mission Forecasts</a:t>
            </a:r>
            <a:endParaRPr lang="en-US" sz="1200" dirty="0"/>
          </a:p>
        </p:txBody>
      </p:sp>
      <p:sp>
        <p:nvSpPr>
          <p:cNvPr id="29" name="Text 21"/>
          <p:cNvSpPr/>
          <p:nvPr/>
        </p:nvSpPr>
        <p:spPr>
          <a:xfrm>
            <a:off x="6080760" y="4133088"/>
            <a:ext cx="2331720" cy="53035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XGBoost failure prediction. Predictive maintenance.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A14"/>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80E1C"/>
          </a:solidFill>
          <a:ln w="12700">
            <a:solidFill>
              <a:srgbClr val="080E1C"/>
            </a:solidFill>
            <a:prstDash val="solid"/>
          </a:ln>
        </p:spPr>
      </p:sp>
      <p:sp>
        <p:nvSpPr>
          <p:cNvPr id="3" name="Text 1"/>
          <p:cNvSpPr/>
          <p:nvPr/>
        </p:nvSpPr>
        <p:spPr>
          <a:xfrm>
            <a:off x="365760" y="91440"/>
            <a:ext cx="4572000" cy="347472"/>
          </a:xfrm>
          <a:prstGeom prst="rect">
            <a:avLst/>
          </a:prstGeom>
          <a:noFill/>
          <a:ln/>
        </p:spPr>
        <p:txBody>
          <a:bodyPr wrap="square" lIns="0" tIns="0" rIns="0" bIns="0" rtlCol="0" anchor="ctr"/>
          <a:lstStyle/>
          <a:p>
            <a:pPr algn="l" indent="0" marL="0">
              <a:buNone/>
            </a:pPr>
            <a:r>
              <a:rPr lang="en-US" sz="1000" b="1" spc="500" kern="0" dirty="0">
                <a:solidFill>
                  <a:srgbClr val="00E5FF"/>
                </a:solidFill>
                <a:latin typeface="Arial" pitchFamily="34" charset="0"/>
                <a:ea typeface="Arial" pitchFamily="34" charset="-122"/>
                <a:cs typeface="Arial" pitchFamily="34" charset="-120"/>
              </a:rPr>
              <a:t>LIVE DASHBOARD</a:t>
            </a:r>
            <a:endParaRPr lang="en-US" sz="1000" dirty="0"/>
          </a:p>
        </p:txBody>
      </p:sp>
      <p:sp>
        <p:nvSpPr>
          <p:cNvPr id="4" name="Text 2"/>
          <p:cNvSpPr/>
          <p:nvPr/>
        </p:nvSpPr>
        <p:spPr>
          <a:xfrm>
            <a:off x="365760" y="457200"/>
            <a:ext cx="6858000" cy="329184"/>
          </a:xfrm>
          <a:prstGeom prst="rect">
            <a:avLst/>
          </a:prstGeom>
          <a:noFill/>
          <a:ln/>
        </p:spPr>
        <p:txBody>
          <a:bodyPr wrap="square" lIns="0" tIns="0" rIns="0" bIns="0" rtlCol="0" anchor="ctr"/>
          <a:lstStyle/>
          <a:p>
            <a:pPr algn="l" indent="0" marL="0">
              <a:buNone/>
            </a:pPr>
            <a:r>
              <a:rPr lang="en-US" sz="1300" dirty="0">
                <a:solidFill>
                  <a:srgbClr val="B0BEC5"/>
                </a:solidFill>
                <a:latin typeface="Arial" pitchFamily="34" charset="0"/>
                <a:ea typeface="Arial" pitchFamily="34" charset="-122"/>
                <a:cs typeface="Arial" pitchFamily="34" charset="-120"/>
              </a:rPr>
              <a:t>This is the actual Hack Orbit interface — built and running.</a:t>
            </a:r>
            <a:endParaRPr lang="en-US" sz="1300" dirty="0"/>
          </a:p>
        </p:txBody>
      </p:sp>
      <p:sp>
        <p:nvSpPr>
          <p:cNvPr id="5" name="Shape 3"/>
          <p:cNvSpPr/>
          <p:nvPr/>
        </p:nvSpPr>
        <p:spPr>
          <a:xfrm>
            <a:off x="6217920" y="228600"/>
            <a:ext cx="868680" cy="292608"/>
          </a:xfrm>
          <a:prstGeom prst="roundRect">
            <a:avLst>
              <a:gd name="adj" fmla="val 25000"/>
            </a:avLst>
          </a:prstGeom>
          <a:solidFill>
            <a:srgbClr val="101D35"/>
          </a:solidFill>
          <a:ln w="12700">
            <a:solidFill>
              <a:srgbClr val="00E676">
                <a:alpha val="50000"/>
              </a:srgbClr>
            </a:solidFill>
            <a:prstDash val="solid"/>
          </a:ln>
        </p:spPr>
      </p:sp>
      <p:sp>
        <p:nvSpPr>
          <p:cNvPr id="6" name="Text 4"/>
          <p:cNvSpPr/>
          <p:nvPr/>
        </p:nvSpPr>
        <p:spPr>
          <a:xfrm>
            <a:off x="6263640" y="237744"/>
            <a:ext cx="777240" cy="274320"/>
          </a:xfrm>
          <a:prstGeom prst="rect">
            <a:avLst/>
          </a:prstGeom>
          <a:noFill/>
          <a:ln/>
        </p:spPr>
        <p:txBody>
          <a:bodyPr wrap="square" lIns="0" tIns="0" rIns="0" bIns="0" rtlCol="0" anchor="ctr"/>
          <a:lstStyle/>
          <a:p>
            <a:pPr algn="ctr" indent="0" marL="0">
              <a:buNone/>
            </a:pPr>
            <a:r>
              <a:rPr lang="en-US" sz="700" dirty="0">
                <a:solidFill>
                  <a:srgbClr val="00E676"/>
                </a:solidFill>
                <a:latin typeface="Arial" pitchFamily="34" charset="0"/>
                <a:ea typeface="Arial" pitchFamily="34" charset="-122"/>
                <a:cs typeface="Arial" pitchFamily="34" charset="-120"/>
              </a:rPr>
              <a:t>NOAA: LIVE</a:t>
            </a:r>
            <a:endParaRPr lang="en-US" sz="700" dirty="0"/>
          </a:p>
        </p:txBody>
      </p:sp>
      <p:sp>
        <p:nvSpPr>
          <p:cNvPr id="7" name="Shape 5"/>
          <p:cNvSpPr/>
          <p:nvPr/>
        </p:nvSpPr>
        <p:spPr>
          <a:xfrm>
            <a:off x="7178040" y="228600"/>
            <a:ext cx="868680" cy="292608"/>
          </a:xfrm>
          <a:prstGeom prst="roundRect">
            <a:avLst>
              <a:gd name="adj" fmla="val 25000"/>
            </a:avLst>
          </a:prstGeom>
          <a:solidFill>
            <a:srgbClr val="101D35"/>
          </a:solidFill>
          <a:ln w="12700">
            <a:solidFill>
              <a:srgbClr val="00E5FF">
                <a:alpha val="50000"/>
              </a:srgbClr>
            </a:solidFill>
            <a:prstDash val="solid"/>
          </a:ln>
        </p:spPr>
      </p:sp>
      <p:sp>
        <p:nvSpPr>
          <p:cNvPr id="8" name="Text 6"/>
          <p:cNvSpPr/>
          <p:nvPr/>
        </p:nvSpPr>
        <p:spPr>
          <a:xfrm>
            <a:off x="7223760" y="237744"/>
            <a:ext cx="777240" cy="274320"/>
          </a:xfrm>
          <a:prstGeom prst="rect">
            <a:avLst/>
          </a:prstGeom>
          <a:noFill/>
          <a:ln/>
        </p:spPr>
        <p:txBody>
          <a:bodyPr wrap="square" lIns="0" tIns="0" rIns="0" bIns="0" rtlCol="0" anchor="ctr"/>
          <a:lstStyle/>
          <a:p>
            <a:pPr algn="ctr" indent="0" marL="0">
              <a:buNone/>
            </a:pPr>
            <a:r>
              <a:rPr lang="en-US" sz="700" dirty="0">
                <a:solidFill>
                  <a:srgbClr val="00E5FF"/>
                </a:solidFill>
                <a:latin typeface="Arial" pitchFamily="34" charset="0"/>
                <a:ea typeface="Arial" pitchFamily="34" charset="-122"/>
                <a:cs typeface="Arial" pitchFamily="34" charset="-120"/>
              </a:rPr>
              <a:t>ORBIT: ACTIVE</a:t>
            </a:r>
            <a:endParaRPr lang="en-US" sz="700" dirty="0"/>
          </a:p>
        </p:txBody>
      </p:sp>
      <p:sp>
        <p:nvSpPr>
          <p:cNvPr id="9" name="Shape 7"/>
          <p:cNvSpPr/>
          <p:nvPr/>
        </p:nvSpPr>
        <p:spPr>
          <a:xfrm>
            <a:off x="8138160" y="228600"/>
            <a:ext cx="868680" cy="292608"/>
          </a:xfrm>
          <a:prstGeom prst="roundRect">
            <a:avLst>
              <a:gd name="adj" fmla="val 25000"/>
            </a:avLst>
          </a:prstGeom>
          <a:solidFill>
            <a:srgbClr val="101D35"/>
          </a:solidFill>
          <a:ln w="12700">
            <a:solidFill>
              <a:srgbClr val="AA00FF">
                <a:alpha val="50000"/>
              </a:srgbClr>
            </a:solidFill>
            <a:prstDash val="solid"/>
          </a:ln>
        </p:spPr>
      </p:sp>
      <p:sp>
        <p:nvSpPr>
          <p:cNvPr id="10" name="Text 8"/>
          <p:cNvSpPr/>
          <p:nvPr/>
        </p:nvSpPr>
        <p:spPr>
          <a:xfrm>
            <a:off x="8183880" y="237744"/>
            <a:ext cx="777240" cy="274320"/>
          </a:xfrm>
          <a:prstGeom prst="rect">
            <a:avLst/>
          </a:prstGeom>
          <a:noFill/>
          <a:ln/>
        </p:spPr>
        <p:txBody>
          <a:bodyPr wrap="square" lIns="0" tIns="0" rIns="0" bIns="0" rtlCol="0" anchor="ctr"/>
          <a:lstStyle/>
          <a:p>
            <a:pPr algn="ctr" indent="0" marL="0">
              <a:buNone/>
            </a:pPr>
            <a:r>
              <a:rPr lang="en-US" sz="700" dirty="0">
                <a:solidFill>
                  <a:srgbClr val="AA00FF"/>
                </a:solidFill>
                <a:latin typeface="Arial" pitchFamily="34" charset="0"/>
                <a:ea typeface="Arial" pitchFamily="34" charset="-122"/>
                <a:cs typeface="Arial" pitchFamily="34" charset="-120"/>
              </a:rPr>
              <a:t>AI: ONLINE</a:t>
            </a:r>
            <a:endParaRPr lang="en-US" sz="700" dirty="0"/>
          </a:p>
        </p:txBody>
      </p:sp>
      <p:pic>
        <p:nvPicPr>
          <p:cNvPr id="11" name="Image 0" descr="preencoded.png">    </p:cNvPr>
          <p:cNvPicPr>
            <a:picLocks noChangeAspect="1"/>
          </p:cNvPicPr>
          <p:nvPr/>
        </p:nvPicPr>
        <p:blipFill>
          <a:blip r:embed="rId1"/>
          <a:stretch>
            <a:fillRect/>
          </a:stretch>
        </p:blipFill>
        <p:spPr>
          <a:xfrm>
            <a:off x="182880" y="868680"/>
            <a:ext cx="8778240" cy="4267474"/>
          </a:xfrm>
          <a:prstGeom prst="rect">
            <a:avLst/>
          </a:prstGeom>
        </p:spPr>
      </p:pic>
      <p:sp>
        <p:nvSpPr>
          <p:cNvPr id="12" name="Shape 9"/>
          <p:cNvSpPr/>
          <p:nvPr/>
        </p:nvSpPr>
        <p:spPr>
          <a:xfrm>
            <a:off x="228600" y="2011680"/>
            <a:ext cx="1463040" cy="274320"/>
          </a:xfrm>
          <a:prstGeom prst="roundRect">
            <a:avLst>
              <a:gd name="adj" fmla="val 20000"/>
            </a:avLst>
          </a:prstGeom>
          <a:solidFill>
            <a:srgbClr val="00E676">
              <a:alpha val="18000"/>
            </a:srgbClr>
          </a:solidFill>
          <a:ln w="12700">
            <a:solidFill>
              <a:srgbClr val="00E676">
                <a:alpha val="60000"/>
              </a:srgbClr>
            </a:solidFill>
            <a:prstDash val="solid"/>
          </a:ln>
        </p:spPr>
      </p:sp>
      <p:sp>
        <p:nvSpPr>
          <p:cNvPr id="13" name="Text 10"/>
          <p:cNvSpPr/>
          <p:nvPr/>
        </p:nvSpPr>
        <p:spPr>
          <a:xfrm>
            <a:off x="274320" y="2029968"/>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Health Score</a:t>
            </a:r>
            <a:endParaRPr lang="en-US" sz="800" dirty="0"/>
          </a:p>
        </p:txBody>
      </p:sp>
      <p:sp>
        <p:nvSpPr>
          <p:cNvPr id="14" name="Shape 11"/>
          <p:cNvSpPr/>
          <p:nvPr/>
        </p:nvSpPr>
        <p:spPr>
          <a:xfrm>
            <a:off x="4480560" y="2011680"/>
            <a:ext cx="1463040" cy="274320"/>
          </a:xfrm>
          <a:prstGeom prst="roundRect">
            <a:avLst>
              <a:gd name="adj" fmla="val 20000"/>
            </a:avLst>
          </a:prstGeom>
          <a:solidFill>
            <a:srgbClr val="AA00FF">
              <a:alpha val="18000"/>
            </a:srgbClr>
          </a:solidFill>
          <a:ln w="12700">
            <a:solidFill>
              <a:srgbClr val="AA00FF">
                <a:alpha val="60000"/>
              </a:srgbClr>
            </a:solidFill>
            <a:prstDash val="solid"/>
          </a:ln>
        </p:spPr>
      </p:sp>
      <p:sp>
        <p:nvSpPr>
          <p:cNvPr id="15" name="Text 12"/>
          <p:cNvSpPr/>
          <p:nvPr/>
        </p:nvSpPr>
        <p:spPr>
          <a:xfrm>
            <a:off x="4526280" y="2029968"/>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AI Mission Brief</a:t>
            </a:r>
            <a:endParaRPr lang="en-US" sz="800" dirty="0"/>
          </a:p>
        </p:txBody>
      </p:sp>
      <p:sp>
        <p:nvSpPr>
          <p:cNvPr id="16" name="Shape 13"/>
          <p:cNvSpPr/>
          <p:nvPr/>
        </p:nvSpPr>
        <p:spPr>
          <a:xfrm>
            <a:off x="228600" y="1417320"/>
            <a:ext cx="1463040" cy="274320"/>
          </a:xfrm>
          <a:prstGeom prst="roundRect">
            <a:avLst>
              <a:gd name="adj" fmla="val 20000"/>
            </a:avLst>
          </a:prstGeom>
          <a:solidFill>
            <a:srgbClr val="FF1744">
              <a:alpha val="18000"/>
            </a:srgbClr>
          </a:solidFill>
          <a:ln w="12700">
            <a:solidFill>
              <a:srgbClr val="FF1744">
                <a:alpha val="60000"/>
              </a:srgbClr>
            </a:solidFill>
            <a:prstDash val="solid"/>
          </a:ln>
        </p:spPr>
      </p:sp>
      <p:sp>
        <p:nvSpPr>
          <p:cNvPr id="17" name="Text 14"/>
          <p:cNvSpPr/>
          <p:nvPr/>
        </p:nvSpPr>
        <p:spPr>
          <a:xfrm>
            <a:off x="274320" y="1435608"/>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Critical Alerts</a:t>
            </a:r>
            <a:endParaRPr lang="en-US" sz="800" dirty="0"/>
          </a:p>
        </p:txBody>
      </p:sp>
      <p:sp>
        <p:nvSpPr>
          <p:cNvPr id="18" name="Shape 15"/>
          <p:cNvSpPr/>
          <p:nvPr/>
        </p:nvSpPr>
        <p:spPr>
          <a:xfrm>
            <a:off x="1463040" y="4297680"/>
            <a:ext cx="1463040" cy="274320"/>
          </a:xfrm>
          <a:prstGeom prst="roundRect">
            <a:avLst>
              <a:gd name="adj" fmla="val 20000"/>
            </a:avLst>
          </a:prstGeom>
          <a:solidFill>
            <a:srgbClr val="FF1744">
              <a:alpha val="18000"/>
            </a:srgbClr>
          </a:solidFill>
          <a:ln w="12700">
            <a:solidFill>
              <a:srgbClr val="FF1744">
                <a:alpha val="60000"/>
              </a:srgbClr>
            </a:solidFill>
            <a:prstDash val="solid"/>
          </a:ln>
        </p:spPr>
      </p:sp>
      <p:sp>
        <p:nvSpPr>
          <p:cNvPr id="19" name="Text 16"/>
          <p:cNvSpPr/>
          <p:nvPr/>
        </p:nvSpPr>
        <p:spPr>
          <a:xfrm>
            <a:off x="1508760" y="4315968"/>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Failure Risk: 98%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50A14"/>
          </a:solidFill>
          <a:ln w="12700">
            <a:solidFill>
              <a:srgbClr val="050A14"/>
            </a:solidFill>
            <a:prstDash val="solid"/>
          </a:ln>
        </p:spPr>
      </p:sp>
      <p:sp>
        <p:nvSpPr>
          <p:cNvPr id="3" name="Text 1"/>
          <p:cNvSpPr/>
          <p:nvPr/>
        </p:nvSpPr>
        <p:spPr>
          <a:xfrm>
            <a:off x="365760" y="164592"/>
            <a:ext cx="8412480" cy="365760"/>
          </a:xfrm>
          <a:prstGeom prst="rect">
            <a:avLst/>
          </a:prstGeom>
          <a:noFill/>
          <a:ln/>
        </p:spPr>
        <p:txBody>
          <a:bodyPr wrap="square" lIns="0" tIns="0" rIns="0" bIns="0" rtlCol="0" anchor="ctr"/>
          <a:lstStyle/>
          <a:p>
            <a:pPr algn="l" indent="0" marL="0">
              <a:buNone/>
            </a:pPr>
            <a:r>
              <a:rPr lang="en-US" sz="1000" b="1" spc="300" kern="0" dirty="0">
                <a:solidFill>
                  <a:srgbClr val="00E676"/>
                </a:solidFill>
                <a:latin typeface="Arial" pitchFamily="34" charset="0"/>
                <a:ea typeface="Arial" pitchFamily="34" charset="-122"/>
                <a:cs typeface="Arial" pitchFamily="34" charset="-120"/>
              </a:rPr>
              <a:t>MODULE 01  —  SATELLITE HEALTH &amp; FAILURE PREDICTION</a:t>
            </a:r>
            <a:endParaRPr lang="en-US" sz="1000" dirty="0"/>
          </a:p>
        </p:txBody>
      </p:sp>
      <p:sp>
        <p:nvSpPr>
          <p:cNvPr id="4" name="Text 2"/>
          <p:cNvSpPr/>
          <p:nvPr/>
        </p:nvSpPr>
        <p:spPr>
          <a:xfrm>
            <a:off x="365760" y="914400"/>
            <a:ext cx="3931920" cy="347472"/>
          </a:xfrm>
          <a:prstGeom prst="rect">
            <a:avLst/>
          </a:prstGeom>
          <a:noFill/>
          <a:ln/>
        </p:spPr>
        <p:txBody>
          <a:bodyPr wrap="square" lIns="0" tIns="0" rIns="0" bIns="0" rtlCol="0" anchor="ctr"/>
          <a:lstStyle/>
          <a:p>
            <a:pPr algn="l" indent="0" marL="0">
              <a:buNone/>
            </a:pPr>
            <a:r>
              <a:rPr lang="en-US" sz="1300" b="1" dirty="0">
                <a:solidFill>
                  <a:srgbClr val="B0BEC5"/>
                </a:solidFill>
                <a:latin typeface="Arial" pitchFamily="34" charset="0"/>
                <a:ea typeface="Arial" pitchFamily="34" charset="-122"/>
                <a:cs typeface="Arial" pitchFamily="34" charset="-120"/>
              </a:rPr>
              <a:t>Health Score Widget</a:t>
            </a:r>
            <a:endParaRPr lang="en-US" sz="1300" dirty="0"/>
          </a:p>
        </p:txBody>
      </p:sp>
      <p:pic>
        <p:nvPicPr>
          <p:cNvPr id="5" name="Image 0" descr="preencoded.png">    </p:cNvPr>
          <p:cNvPicPr>
            <a:picLocks noChangeAspect="1"/>
          </p:cNvPicPr>
          <p:nvPr/>
        </p:nvPicPr>
        <p:blipFill>
          <a:blip r:embed="rId1"/>
          <a:srcRect l="0" r="0" t="0" b="0"/>
          <a:stretch/>
        </p:blipFill>
        <p:spPr>
          <a:xfrm>
            <a:off x="365760" y="1280160"/>
            <a:ext cx="3931920" cy="1920240"/>
          </a:xfrm>
          <a:prstGeom prst="rect">
            <a:avLst/>
          </a:prstGeom>
        </p:spPr>
      </p:pic>
      <p:sp>
        <p:nvSpPr>
          <p:cNvPr id="6" name="Shape 3"/>
          <p:cNvSpPr/>
          <p:nvPr/>
        </p:nvSpPr>
        <p:spPr>
          <a:xfrm>
            <a:off x="365760" y="1280160"/>
            <a:ext cx="3931920" cy="1920240"/>
          </a:xfrm>
          <a:prstGeom prst="roundRect">
            <a:avLst>
              <a:gd name="adj" fmla="val 4762"/>
            </a:avLst>
          </a:prstGeom>
          <a:solidFill>
            <a:srgbClr val="00E5FF">
              <a:alpha val="0"/>
            </a:srgbClr>
          </a:solidFill>
          <a:ln w="25400">
            <a:solidFill>
              <a:srgbClr val="00E676">
                <a:alpha val="60000"/>
              </a:srgbClr>
            </a:solidFill>
            <a:prstDash val="solid"/>
          </a:ln>
        </p:spPr>
      </p:sp>
      <p:sp>
        <p:nvSpPr>
          <p:cNvPr id="7" name="Shape 4"/>
          <p:cNvSpPr/>
          <p:nvPr/>
        </p:nvSpPr>
        <p:spPr>
          <a:xfrm>
            <a:off x="4572000" y="960120"/>
            <a:ext cx="4206240" cy="822960"/>
          </a:xfrm>
          <a:prstGeom prst="roundRect">
            <a:avLst>
              <a:gd name="adj" fmla="val 11111"/>
            </a:avLst>
          </a:prstGeom>
          <a:solidFill>
            <a:srgbClr val="101D35"/>
          </a:solidFill>
          <a:ln w="12700">
            <a:solidFill>
              <a:srgbClr val="FFD600">
                <a:alpha val="35000"/>
              </a:srgbClr>
            </a:solidFill>
            <a:prstDash val="solid"/>
          </a:ln>
        </p:spPr>
      </p:sp>
      <p:sp>
        <p:nvSpPr>
          <p:cNvPr id="8" name="Text 5"/>
          <p:cNvSpPr/>
          <p:nvPr/>
        </p:nvSpPr>
        <p:spPr>
          <a:xfrm>
            <a:off x="4709160" y="1033272"/>
            <a:ext cx="2286000" cy="320040"/>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Health Score</a:t>
            </a:r>
            <a:endParaRPr lang="en-US" sz="1000" dirty="0"/>
          </a:p>
        </p:txBody>
      </p:sp>
      <p:sp>
        <p:nvSpPr>
          <p:cNvPr id="9" name="Text 6"/>
          <p:cNvSpPr/>
          <p:nvPr/>
        </p:nvSpPr>
        <p:spPr>
          <a:xfrm>
            <a:off x="6858000" y="1005840"/>
            <a:ext cx="1828800" cy="384048"/>
          </a:xfrm>
          <a:prstGeom prst="rect">
            <a:avLst/>
          </a:prstGeom>
          <a:noFill/>
          <a:ln/>
        </p:spPr>
        <p:txBody>
          <a:bodyPr wrap="square" lIns="0" tIns="0" rIns="0" bIns="0" rtlCol="0" anchor="ctr"/>
          <a:lstStyle/>
          <a:p>
            <a:pPr algn="r" indent="0" marL="0">
              <a:buNone/>
            </a:pPr>
            <a:r>
              <a:rPr lang="en-US" sz="2200" b="1" dirty="0">
                <a:solidFill>
                  <a:srgbClr val="FFD600"/>
                </a:solidFill>
                <a:latin typeface="Arial" pitchFamily="34" charset="0"/>
                <a:ea typeface="Arial" pitchFamily="34" charset="-122"/>
                <a:cs typeface="Arial" pitchFamily="34" charset="-120"/>
              </a:rPr>
              <a:t>54 / 100</a:t>
            </a:r>
            <a:endParaRPr lang="en-US" sz="2200" dirty="0"/>
          </a:p>
        </p:txBody>
      </p:sp>
      <p:sp>
        <p:nvSpPr>
          <p:cNvPr id="10" name="Text 7"/>
          <p:cNvSpPr/>
          <p:nvPr/>
        </p:nvSpPr>
        <p:spPr>
          <a:xfrm>
            <a:off x="4709160" y="1435608"/>
            <a:ext cx="3840480" cy="274320"/>
          </a:xfrm>
          <a:prstGeom prst="rect">
            <a:avLst/>
          </a:prstGeom>
          <a:noFill/>
          <a:ln/>
        </p:spPr>
        <p:txBody>
          <a:bodyPr wrap="square" lIns="0" tIns="0" rIns="0" bIns="0" rtlCol="0" anchor="ctr"/>
          <a:lstStyle/>
          <a:p>
            <a:pPr algn="l" indent="0" marL="0">
              <a:buNone/>
            </a:pPr>
            <a:r>
              <a:rPr lang="en-US" sz="900" i="1" dirty="0">
                <a:solidFill>
                  <a:srgbClr val="8B9AB5"/>
                </a:solidFill>
                <a:latin typeface="Arial" pitchFamily="34" charset="0"/>
                <a:ea typeface="Arial" pitchFamily="34" charset="-122"/>
                <a:cs typeface="Arial" pitchFamily="34" charset="-120"/>
              </a:rPr>
              <a:t>Degraded — Thruster anomaly</a:t>
            </a:r>
            <a:endParaRPr lang="en-US" sz="900" dirty="0"/>
          </a:p>
        </p:txBody>
      </p:sp>
      <p:sp>
        <p:nvSpPr>
          <p:cNvPr id="11" name="Shape 8"/>
          <p:cNvSpPr/>
          <p:nvPr/>
        </p:nvSpPr>
        <p:spPr>
          <a:xfrm>
            <a:off x="4572000" y="1965960"/>
            <a:ext cx="4206240" cy="822960"/>
          </a:xfrm>
          <a:prstGeom prst="roundRect">
            <a:avLst>
              <a:gd name="adj" fmla="val 11111"/>
            </a:avLst>
          </a:prstGeom>
          <a:solidFill>
            <a:srgbClr val="101D35"/>
          </a:solidFill>
          <a:ln w="12700">
            <a:solidFill>
              <a:srgbClr val="FF1744">
                <a:alpha val="35000"/>
              </a:srgbClr>
            </a:solidFill>
            <a:prstDash val="solid"/>
          </a:ln>
        </p:spPr>
      </p:sp>
      <p:sp>
        <p:nvSpPr>
          <p:cNvPr id="12" name="Text 9"/>
          <p:cNvSpPr/>
          <p:nvPr/>
        </p:nvSpPr>
        <p:spPr>
          <a:xfrm>
            <a:off x="4709160" y="2039112"/>
            <a:ext cx="2286000" cy="320040"/>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Failure Risk</a:t>
            </a:r>
            <a:endParaRPr lang="en-US" sz="1000" dirty="0"/>
          </a:p>
        </p:txBody>
      </p:sp>
      <p:sp>
        <p:nvSpPr>
          <p:cNvPr id="13" name="Text 10"/>
          <p:cNvSpPr/>
          <p:nvPr/>
        </p:nvSpPr>
        <p:spPr>
          <a:xfrm>
            <a:off x="6858000" y="2011680"/>
            <a:ext cx="1828800" cy="384048"/>
          </a:xfrm>
          <a:prstGeom prst="rect">
            <a:avLst/>
          </a:prstGeom>
          <a:noFill/>
          <a:ln/>
        </p:spPr>
        <p:txBody>
          <a:bodyPr wrap="square" lIns="0" tIns="0" rIns="0" bIns="0" rtlCol="0" anchor="ctr"/>
          <a:lstStyle/>
          <a:p>
            <a:pPr algn="r" indent="0" marL="0">
              <a:buNone/>
            </a:pPr>
            <a:r>
              <a:rPr lang="en-US" sz="2200" b="1" dirty="0">
                <a:solidFill>
                  <a:srgbClr val="FF1744"/>
                </a:solidFill>
                <a:latin typeface="Arial" pitchFamily="34" charset="0"/>
                <a:ea typeface="Arial" pitchFamily="34" charset="-122"/>
                <a:cs typeface="Arial" pitchFamily="34" charset="-120"/>
              </a:rPr>
              <a:t>98%</a:t>
            </a:r>
            <a:endParaRPr lang="en-US" sz="2200" dirty="0"/>
          </a:p>
        </p:txBody>
      </p:sp>
      <p:sp>
        <p:nvSpPr>
          <p:cNvPr id="14" name="Text 11"/>
          <p:cNvSpPr/>
          <p:nvPr/>
        </p:nvSpPr>
        <p:spPr>
          <a:xfrm>
            <a:off x="4709160" y="2441448"/>
            <a:ext cx="3840480" cy="274320"/>
          </a:xfrm>
          <a:prstGeom prst="rect">
            <a:avLst/>
          </a:prstGeom>
          <a:noFill/>
          <a:ln/>
        </p:spPr>
        <p:txBody>
          <a:bodyPr wrap="square" lIns="0" tIns="0" rIns="0" bIns="0" rtlCol="0" anchor="ctr"/>
          <a:lstStyle/>
          <a:p>
            <a:pPr algn="l" indent="0" marL="0">
              <a:buNone/>
            </a:pPr>
            <a:r>
              <a:rPr lang="en-US" sz="900" i="1" dirty="0">
                <a:solidFill>
                  <a:srgbClr val="8B9AB5"/>
                </a:solidFill>
                <a:latin typeface="Arial" pitchFamily="34" charset="0"/>
                <a:ea typeface="Arial" pitchFamily="34" charset="-122"/>
                <a:cs typeface="Arial" pitchFamily="34" charset="-120"/>
              </a:rPr>
              <a:t>CRITICAL — XGBoost prediction</a:t>
            </a:r>
            <a:endParaRPr lang="en-US" sz="900" dirty="0"/>
          </a:p>
        </p:txBody>
      </p:sp>
      <p:sp>
        <p:nvSpPr>
          <p:cNvPr id="15" name="Shape 12"/>
          <p:cNvSpPr/>
          <p:nvPr/>
        </p:nvSpPr>
        <p:spPr>
          <a:xfrm>
            <a:off x="4572000" y="2971800"/>
            <a:ext cx="4206240" cy="822960"/>
          </a:xfrm>
          <a:prstGeom prst="roundRect">
            <a:avLst>
              <a:gd name="adj" fmla="val 11111"/>
            </a:avLst>
          </a:prstGeom>
          <a:solidFill>
            <a:srgbClr val="101D35"/>
          </a:solidFill>
          <a:ln w="12700">
            <a:solidFill>
              <a:srgbClr val="FF1744">
                <a:alpha val="35000"/>
              </a:srgbClr>
            </a:solidFill>
            <a:prstDash val="solid"/>
          </a:ln>
        </p:spPr>
      </p:sp>
      <p:sp>
        <p:nvSpPr>
          <p:cNvPr id="16" name="Text 13"/>
          <p:cNvSpPr/>
          <p:nvPr/>
        </p:nvSpPr>
        <p:spPr>
          <a:xfrm>
            <a:off x="4709160" y="3044952"/>
            <a:ext cx="2286000" cy="320040"/>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Anomaly Status</a:t>
            </a:r>
            <a:endParaRPr lang="en-US" sz="1000" dirty="0"/>
          </a:p>
        </p:txBody>
      </p:sp>
      <p:sp>
        <p:nvSpPr>
          <p:cNvPr id="17" name="Text 14"/>
          <p:cNvSpPr/>
          <p:nvPr/>
        </p:nvSpPr>
        <p:spPr>
          <a:xfrm>
            <a:off x="6858000" y="3017520"/>
            <a:ext cx="1828800" cy="384048"/>
          </a:xfrm>
          <a:prstGeom prst="rect">
            <a:avLst/>
          </a:prstGeom>
          <a:noFill/>
          <a:ln/>
        </p:spPr>
        <p:txBody>
          <a:bodyPr wrap="square" lIns="0" tIns="0" rIns="0" bIns="0" rtlCol="0" anchor="ctr"/>
          <a:lstStyle/>
          <a:p>
            <a:pPr algn="r" indent="0" marL="0">
              <a:buNone/>
            </a:pPr>
            <a:r>
              <a:rPr lang="en-US" sz="2200" b="1" dirty="0">
                <a:solidFill>
                  <a:srgbClr val="FF1744"/>
                </a:solidFill>
                <a:latin typeface="Arial" pitchFamily="34" charset="0"/>
                <a:ea typeface="Arial" pitchFamily="34" charset="-122"/>
                <a:cs typeface="Arial" pitchFamily="34" charset="-120"/>
              </a:rPr>
              <a:t>DETECTED</a:t>
            </a:r>
            <a:endParaRPr lang="en-US" sz="2200" dirty="0"/>
          </a:p>
        </p:txBody>
      </p:sp>
      <p:sp>
        <p:nvSpPr>
          <p:cNvPr id="18" name="Text 15"/>
          <p:cNvSpPr/>
          <p:nvPr/>
        </p:nvSpPr>
        <p:spPr>
          <a:xfrm>
            <a:off x="4709160" y="3447288"/>
            <a:ext cx="3840480" cy="274320"/>
          </a:xfrm>
          <a:prstGeom prst="rect">
            <a:avLst/>
          </a:prstGeom>
          <a:noFill/>
          <a:ln/>
        </p:spPr>
        <p:txBody>
          <a:bodyPr wrap="square" lIns="0" tIns="0" rIns="0" bIns="0" rtlCol="0" anchor="ctr"/>
          <a:lstStyle/>
          <a:p>
            <a:pPr algn="l" indent="0" marL="0">
              <a:buNone/>
            </a:pPr>
            <a:r>
              <a:rPr lang="en-US" sz="900" i="1" dirty="0">
                <a:solidFill>
                  <a:srgbClr val="8B9AB5"/>
                </a:solidFill>
                <a:latin typeface="Arial" pitchFamily="34" charset="0"/>
                <a:ea typeface="Arial" pitchFamily="34" charset="-122"/>
                <a:cs typeface="Arial" pitchFamily="34" charset="-120"/>
              </a:rPr>
              <a:t>Thruster temp, Battery, Solar</a:t>
            </a:r>
            <a:endParaRPr lang="en-US" sz="900" dirty="0"/>
          </a:p>
        </p:txBody>
      </p:sp>
      <p:sp>
        <p:nvSpPr>
          <p:cNvPr id="19" name="Shape 16"/>
          <p:cNvSpPr/>
          <p:nvPr/>
        </p:nvSpPr>
        <p:spPr>
          <a:xfrm>
            <a:off x="4572000" y="3977640"/>
            <a:ext cx="4206240" cy="822960"/>
          </a:xfrm>
          <a:prstGeom prst="roundRect">
            <a:avLst>
              <a:gd name="adj" fmla="val 11111"/>
            </a:avLst>
          </a:prstGeom>
          <a:solidFill>
            <a:srgbClr val="101D35"/>
          </a:solidFill>
          <a:ln w="12700">
            <a:solidFill>
              <a:srgbClr val="00E676">
                <a:alpha val="35000"/>
              </a:srgbClr>
            </a:solidFill>
            <a:prstDash val="solid"/>
          </a:ln>
        </p:spPr>
      </p:sp>
      <p:sp>
        <p:nvSpPr>
          <p:cNvPr id="20" name="Text 17"/>
          <p:cNvSpPr/>
          <p:nvPr/>
        </p:nvSpPr>
        <p:spPr>
          <a:xfrm>
            <a:off x="4709160" y="4050792"/>
            <a:ext cx="2286000" cy="320040"/>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Monitored Params</a:t>
            </a:r>
            <a:endParaRPr lang="en-US" sz="1000" dirty="0"/>
          </a:p>
        </p:txBody>
      </p:sp>
      <p:sp>
        <p:nvSpPr>
          <p:cNvPr id="21" name="Text 18"/>
          <p:cNvSpPr/>
          <p:nvPr/>
        </p:nvSpPr>
        <p:spPr>
          <a:xfrm>
            <a:off x="6858000" y="4023360"/>
            <a:ext cx="1828800" cy="384048"/>
          </a:xfrm>
          <a:prstGeom prst="rect">
            <a:avLst/>
          </a:prstGeom>
          <a:noFill/>
          <a:ln/>
        </p:spPr>
        <p:txBody>
          <a:bodyPr wrap="square" lIns="0" tIns="0" rIns="0" bIns="0" rtlCol="0" anchor="ctr"/>
          <a:lstStyle/>
          <a:p>
            <a:pPr algn="r" indent="0" marL="0">
              <a:buNone/>
            </a:pPr>
            <a:r>
              <a:rPr lang="en-US" sz="2200" b="1" dirty="0">
                <a:solidFill>
                  <a:srgbClr val="00E676"/>
                </a:solidFill>
                <a:latin typeface="Arial" pitchFamily="34" charset="0"/>
                <a:ea typeface="Arial" pitchFamily="34" charset="-122"/>
                <a:cs typeface="Arial" pitchFamily="34" charset="-120"/>
              </a:rPr>
              <a:t>8+</a:t>
            </a:r>
            <a:endParaRPr lang="en-US" sz="2200" dirty="0"/>
          </a:p>
        </p:txBody>
      </p:sp>
      <p:sp>
        <p:nvSpPr>
          <p:cNvPr id="22" name="Text 19"/>
          <p:cNvSpPr/>
          <p:nvPr/>
        </p:nvSpPr>
        <p:spPr>
          <a:xfrm>
            <a:off x="4709160" y="4453128"/>
            <a:ext cx="3840480" cy="274320"/>
          </a:xfrm>
          <a:prstGeom prst="rect">
            <a:avLst/>
          </a:prstGeom>
          <a:noFill/>
          <a:ln/>
        </p:spPr>
        <p:txBody>
          <a:bodyPr wrap="square" lIns="0" tIns="0" rIns="0" bIns="0" rtlCol="0" anchor="ctr"/>
          <a:lstStyle/>
          <a:p>
            <a:pPr algn="l" indent="0" marL="0">
              <a:buNone/>
            </a:pPr>
            <a:r>
              <a:rPr lang="en-US" sz="900" i="1" dirty="0">
                <a:solidFill>
                  <a:srgbClr val="8B9AB5"/>
                </a:solidFill>
                <a:latin typeface="Arial" pitchFamily="34" charset="0"/>
                <a:ea typeface="Arial" pitchFamily="34" charset="-122"/>
                <a:cs typeface="Arial" pitchFamily="34" charset="-120"/>
              </a:rPr>
              <a:t>Temp, Power, Battery, Telemetry</a:t>
            </a:r>
            <a:endParaRPr lang="en-US" sz="900" dirty="0"/>
          </a:p>
        </p:txBody>
      </p:sp>
      <p:sp>
        <p:nvSpPr>
          <p:cNvPr id="23" name="Text 20"/>
          <p:cNvSpPr/>
          <p:nvPr/>
        </p:nvSpPr>
        <p:spPr>
          <a:xfrm>
            <a:off x="365760" y="4800600"/>
            <a:ext cx="8412480" cy="256032"/>
          </a:xfrm>
          <a:prstGeom prst="rect">
            <a:avLst/>
          </a:prstGeom>
          <a:noFill/>
          <a:ln/>
        </p:spPr>
        <p:txBody>
          <a:bodyPr wrap="square" lIns="0" tIns="0" rIns="0" bIns="0" rtlCol="0" anchor="ctr"/>
          <a:lstStyle/>
          <a:p>
            <a:pPr algn="ctr" indent="0" marL="0">
              <a:buNone/>
            </a:pPr>
            <a:r>
              <a:rPr lang="en-US" sz="900" i="1" dirty="0">
                <a:solidFill>
                  <a:srgbClr val="8B9AB5"/>
                </a:solidFill>
                <a:latin typeface="Arial" pitchFamily="34" charset="0"/>
                <a:ea typeface="Arial" pitchFamily="34" charset="-122"/>
                <a:cs typeface="Arial" pitchFamily="34" charset="-120"/>
              </a:rPr>
              <a:t>Powered by Isolation Forest anomaly detection + XGBoost failure prediction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50A14"/>
          </a:solidFill>
          <a:ln w="12700">
            <a:solidFill>
              <a:srgbClr val="050A14"/>
            </a:solidFill>
            <a:prstDash val="solid"/>
          </a:ln>
        </p:spPr>
      </p:sp>
      <p:sp>
        <p:nvSpPr>
          <p:cNvPr id="3" name="Text 1"/>
          <p:cNvSpPr/>
          <p:nvPr/>
        </p:nvSpPr>
        <p:spPr>
          <a:xfrm>
            <a:off x="365760" y="164592"/>
            <a:ext cx="8412480" cy="365760"/>
          </a:xfrm>
          <a:prstGeom prst="rect">
            <a:avLst/>
          </a:prstGeom>
          <a:noFill/>
          <a:ln/>
        </p:spPr>
        <p:txBody>
          <a:bodyPr wrap="square" lIns="0" tIns="0" rIns="0" bIns="0" rtlCol="0" anchor="ctr"/>
          <a:lstStyle/>
          <a:p>
            <a:pPr algn="l" indent="0" marL="0">
              <a:buNone/>
            </a:pPr>
            <a:r>
              <a:rPr lang="en-US" sz="1000" b="1" spc="300" kern="0" dirty="0">
                <a:solidFill>
                  <a:srgbClr val="FFD600"/>
                </a:solidFill>
                <a:latin typeface="Arial" pitchFamily="34" charset="0"/>
                <a:ea typeface="Arial" pitchFamily="34" charset="-122"/>
                <a:cs typeface="Arial" pitchFamily="34" charset="-120"/>
              </a:rPr>
              <a:t>MODULE 02 &amp; 03  —  SPACE WEATHER &amp; COLLISION RISK</a:t>
            </a:r>
            <a:endParaRPr lang="en-US" sz="1000" dirty="0"/>
          </a:p>
        </p:txBody>
      </p:sp>
      <p:sp>
        <p:nvSpPr>
          <p:cNvPr id="4" name="Shape 2"/>
          <p:cNvSpPr/>
          <p:nvPr/>
        </p:nvSpPr>
        <p:spPr>
          <a:xfrm>
            <a:off x="365760" y="914400"/>
            <a:ext cx="4023360" cy="4069080"/>
          </a:xfrm>
          <a:prstGeom prst="roundRect">
            <a:avLst>
              <a:gd name="adj" fmla="val 2727"/>
            </a:avLst>
          </a:prstGeom>
          <a:solidFill>
            <a:srgbClr val="101D35"/>
          </a:solidFill>
          <a:ln w="12700">
            <a:solidFill>
              <a:srgbClr val="FFD600">
                <a:alpha val="40000"/>
              </a:srgbClr>
            </a:solidFill>
            <a:prstDash val="solid"/>
          </a:ln>
        </p:spPr>
      </p:sp>
      <p:pic>
        <p:nvPicPr>
          <p:cNvPr id="5" name="Image 0" descr="preencoded.png">    </p:cNvPr>
          <p:cNvPicPr>
            <a:picLocks noChangeAspect="1"/>
          </p:cNvPicPr>
          <p:nvPr/>
        </p:nvPicPr>
        <p:blipFill>
          <a:blip r:embed="rId1"/>
          <a:stretch>
            <a:fillRect/>
          </a:stretch>
        </p:blipFill>
        <p:spPr>
          <a:xfrm>
            <a:off x="594360" y="1051560"/>
            <a:ext cx="457200" cy="457200"/>
          </a:xfrm>
          <a:prstGeom prst="rect">
            <a:avLst/>
          </a:prstGeom>
        </p:spPr>
      </p:pic>
      <p:sp>
        <p:nvSpPr>
          <p:cNvPr id="6" name="Text 3"/>
          <p:cNvSpPr/>
          <p:nvPr/>
        </p:nvSpPr>
        <p:spPr>
          <a:xfrm>
            <a:off x="1143000" y="1051560"/>
            <a:ext cx="3108960" cy="411480"/>
          </a:xfrm>
          <a:prstGeom prst="rect">
            <a:avLst/>
          </a:prstGeom>
          <a:noFill/>
          <a:ln/>
        </p:spPr>
        <p:txBody>
          <a:bodyPr wrap="square" lIns="0" tIns="0" rIns="0" bIns="0" rtlCol="0" anchor="ctr"/>
          <a:lstStyle/>
          <a:p>
            <a:pPr algn="l" indent="0" marL="0">
              <a:buNone/>
            </a:pPr>
            <a:r>
              <a:rPr lang="en-US" sz="1600" b="1" dirty="0">
                <a:solidFill>
                  <a:srgbClr val="FFD600"/>
                </a:solidFill>
                <a:latin typeface="Arial" pitchFamily="34" charset="0"/>
                <a:ea typeface="Arial" pitchFamily="34" charset="-122"/>
                <a:cs typeface="Arial" pitchFamily="34" charset="-120"/>
              </a:rPr>
              <a:t>Space Weather</a:t>
            </a:r>
            <a:endParaRPr lang="en-US" sz="1600" dirty="0"/>
          </a:p>
        </p:txBody>
      </p:sp>
      <p:sp>
        <p:nvSpPr>
          <p:cNvPr id="7" name="Text 4"/>
          <p:cNvSpPr/>
          <p:nvPr/>
        </p:nvSpPr>
        <p:spPr>
          <a:xfrm>
            <a:off x="548640" y="1600200"/>
            <a:ext cx="1828800" cy="292608"/>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Kp Index</a:t>
            </a:r>
            <a:endParaRPr lang="en-US" sz="1000" dirty="0"/>
          </a:p>
        </p:txBody>
      </p:sp>
      <p:sp>
        <p:nvSpPr>
          <p:cNvPr id="8" name="Text 5"/>
          <p:cNvSpPr/>
          <p:nvPr/>
        </p:nvSpPr>
        <p:spPr>
          <a:xfrm>
            <a:off x="2377440" y="1554480"/>
            <a:ext cx="1828800" cy="384048"/>
          </a:xfrm>
          <a:prstGeom prst="rect">
            <a:avLst/>
          </a:prstGeom>
          <a:noFill/>
          <a:ln/>
        </p:spPr>
        <p:txBody>
          <a:bodyPr wrap="square" lIns="0" tIns="0" rIns="0" bIns="0" rtlCol="0" anchor="ctr"/>
          <a:lstStyle/>
          <a:p>
            <a:pPr algn="r" indent="0" marL="0">
              <a:buNone/>
            </a:pPr>
            <a:r>
              <a:rPr lang="en-US" sz="2000" b="1" dirty="0">
                <a:solidFill>
                  <a:srgbClr val="FF1744"/>
                </a:solidFill>
                <a:latin typeface="Arial" pitchFamily="34" charset="0"/>
                <a:ea typeface="Arial" pitchFamily="34" charset="-122"/>
                <a:cs typeface="Arial" pitchFamily="34" charset="-120"/>
              </a:rPr>
              <a:t>7</a:t>
            </a:r>
            <a:endParaRPr lang="en-US" sz="2000" dirty="0"/>
          </a:p>
        </p:txBody>
      </p:sp>
      <p:sp>
        <p:nvSpPr>
          <p:cNvPr id="9" name="Text 6"/>
          <p:cNvSpPr/>
          <p:nvPr/>
        </p:nvSpPr>
        <p:spPr>
          <a:xfrm>
            <a:off x="548640" y="1874520"/>
            <a:ext cx="3566160" cy="228600"/>
          </a:xfrm>
          <a:prstGeom prst="rect">
            <a:avLst/>
          </a:prstGeom>
          <a:noFill/>
          <a:ln/>
        </p:spPr>
        <p:txBody>
          <a:bodyPr wrap="square" lIns="0" tIns="0" rIns="0" bIns="0" rtlCol="0" anchor="ctr"/>
          <a:lstStyle/>
          <a:p>
            <a:pPr algn="l" indent="0" marL="0">
              <a:buNone/>
            </a:pPr>
            <a:r>
              <a:rPr lang="en-US" sz="850" i="1" dirty="0">
                <a:solidFill>
                  <a:srgbClr val="8B9AB5"/>
                </a:solidFill>
                <a:latin typeface="Arial" pitchFamily="34" charset="0"/>
                <a:ea typeface="Arial" pitchFamily="34" charset="-122"/>
                <a:cs typeface="Arial" pitchFamily="34" charset="-120"/>
              </a:rPr>
              <a:t>G3 — Strong Geomagnetic Storm</a:t>
            </a:r>
            <a:endParaRPr lang="en-US" sz="850" dirty="0"/>
          </a:p>
        </p:txBody>
      </p:sp>
      <p:sp>
        <p:nvSpPr>
          <p:cNvPr id="10" name="Text 7"/>
          <p:cNvSpPr/>
          <p:nvPr/>
        </p:nvSpPr>
        <p:spPr>
          <a:xfrm>
            <a:off x="548640" y="2331720"/>
            <a:ext cx="1828800" cy="292608"/>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Storm Class</a:t>
            </a:r>
            <a:endParaRPr lang="en-US" sz="1000" dirty="0"/>
          </a:p>
        </p:txBody>
      </p:sp>
      <p:sp>
        <p:nvSpPr>
          <p:cNvPr id="11" name="Text 8"/>
          <p:cNvSpPr/>
          <p:nvPr/>
        </p:nvSpPr>
        <p:spPr>
          <a:xfrm>
            <a:off x="2377440" y="2286000"/>
            <a:ext cx="1828800" cy="384048"/>
          </a:xfrm>
          <a:prstGeom prst="rect">
            <a:avLst/>
          </a:prstGeom>
          <a:noFill/>
          <a:ln/>
        </p:spPr>
        <p:txBody>
          <a:bodyPr wrap="square" lIns="0" tIns="0" rIns="0" bIns="0" rtlCol="0" anchor="ctr"/>
          <a:lstStyle/>
          <a:p>
            <a:pPr algn="r" indent="0" marL="0">
              <a:buNone/>
            </a:pPr>
            <a:r>
              <a:rPr lang="en-US" sz="2000" b="1" dirty="0">
                <a:solidFill>
                  <a:srgbClr val="FFD600"/>
                </a:solidFill>
                <a:latin typeface="Arial" pitchFamily="34" charset="0"/>
                <a:ea typeface="Arial" pitchFamily="34" charset="-122"/>
                <a:cs typeface="Arial" pitchFamily="34" charset="-120"/>
              </a:rPr>
              <a:t>G3</a:t>
            </a:r>
            <a:endParaRPr lang="en-US" sz="2000" dirty="0"/>
          </a:p>
        </p:txBody>
      </p:sp>
      <p:sp>
        <p:nvSpPr>
          <p:cNvPr id="12" name="Text 9"/>
          <p:cNvSpPr/>
          <p:nvPr/>
        </p:nvSpPr>
        <p:spPr>
          <a:xfrm>
            <a:off x="548640" y="2606040"/>
            <a:ext cx="3566160" cy="228600"/>
          </a:xfrm>
          <a:prstGeom prst="rect">
            <a:avLst/>
          </a:prstGeom>
          <a:noFill/>
          <a:ln/>
        </p:spPr>
        <p:txBody>
          <a:bodyPr wrap="square" lIns="0" tIns="0" rIns="0" bIns="0" rtlCol="0" anchor="ctr"/>
          <a:lstStyle/>
          <a:p>
            <a:pPr algn="l" indent="0" marL="0">
              <a:buNone/>
            </a:pPr>
            <a:r>
              <a:rPr lang="en-US" sz="850" i="1" dirty="0">
                <a:solidFill>
                  <a:srgbClr val="8B9AB5"/>
                </a:solidFill>
                <a:latin typeface="Arial" pitchFamily="34" charset="0"/>
                <a:ea typeface="Arial" pitchFamily="34" charset="-122"/>
                <a:cs typeface="Arial" pitchFamily="34" charset="-120"/>
              </a:rPr>
              <a:t>Significant satellite drag</a:t>
            </a:r>
            <a:endParaRPr lang="en-US" sz="850" dirty="0"/>
          </a:p>
        </p:txBody>
      </p:sp>
      <p:sp>
        <p:nvSpPr>
          <p:cNvPr id="13" name="Text 10"/>
          <p:cNvSpPr/>
          <p:nvPr/>
        </p:nvSpPr>
        <p:spPr>
          <a:xfrm>
            <a:off x="548640" y="3063240"/>
            <a:ext cx="1828800" cy="292608"/>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Storms/yr</a:t>
            </a:r>
            <a:endParaRPr lang="en-US" sz="1000" dirty="0"/>
          </a:p>
        </p:txBody>
      </p:sp>
      <p:sp>
        <p:nvSpPr>
          <p:cNvPr id="14" name="Text 11"/>
          <p:cNvSpPr/>
          <p:nvPr/>
        </p:nvSpPr>
        <p:spPr>
          <a:xfrm>
            <a:off x="2377440" y="3017520"/>
            <a:ext cx="1828800" cy="384048"/>
          </a:xfrm>
          <a:prstGeom prst="rect">
            <a:avLst/>
          </a:prstGeom>
          <a:noFill/>
          <a:ln/>
        </p:spPr>
        <p:txBody>
          <a:bodyPr wrap="square" lIns="0" tIns="0" rIns="0" bIns="0" rtlCol="0" anchor="ctr"/>
          <a:lstStyle/>
          <a:p>
            <a:pPr algn="r" indent="0" marL="0">
              <a:buNone/>
            </a:pPr>
            <a:r>
              <a:rPr lang="en-US" sz="2000" b="1" dirty="0">
                <a:solidFill>
                  <a:srgbClr val="00E5FF"/>
                </a:solidFill>
                <a:latin typeface="Arial" pitchFamily="34" charset="0"/>
                <a:ea typeface="Arial" pitchFamily="34" charset="-122"/>
                <a:cs typeface="Arial" pitchFamily="34" charset="-120"/>
              </a:rPr>
              <a:t>237</a:t>
            </a:r>
            <a:endParaRPr lang="en-US" sz="2000" dirty="0"/>
          </a:p>
        </p:txBody>
      </p:sp>
      <p:sp>
        <p:nvSpPr>
          <p:cNvPr id="15" name="Text 12"/>
          <p:cNvSpPr/>
          <p:nvPr/>
        </p:nvSpPr>
        <p:spPr>
          <a:xfrm>
            <a:off x="548640" y="3337560"/>
            <a:ext cx="3566160" cy="228600"/>
          </a:xfrm>
          <a:prstGeom prst="rect">
            <a:avLst/>
          </a:prstGeom>
          <a:noFill/>
          <a:ln/>
        </p:spPr>
        <p:txBody>
          <a:bodyPr wrap="square" lIns="0" tIns="0" rIns="0" bIns="0" rtlCol="0" anchor="ctr"/>
          <a:lstStyle/>
          <a:p>
            <a:pPr algn="l" indent="0" marL="0">
              <a:buNone/>
            </a:pPr>
            <a:r>
              <a:rPr lang="en-US" sz="850" i="1" dirty="0">
                <a:solidFill>
                  <a:srgbClr val="8B9AB5"/>
                </a:solidFill>
                <a:latin typeface="Arial" pitchFamily="34" charset="0"/>
                <a:ea typeface="Arial" pitchFamily="34" charset="-122"/>
                <a:cs typeface="Arial" pitchFamily="34" charset="-120"/>
              </a:rPr>
              <a:t>Average Kp≥5 events annually</a:t>
            </a:r>
            <a:endParaRPr lang="en-US" sz="850" dirty="0"/>
          </a:p>
        </p:txBody>
      </p:sp>
      <p:sp>
        <p:nvSpPr>
          <p:cNvPr id="16" name="Text 13"/>
          <p:cNvSpPr/>
          <p:nvPr/>
        </p:nvSpPr>
        <p:spPr>
          <a:xfrm>
            <a:off x="548640" y="3794760"/>
            <a:ext cx="1828800" cy="292608"/>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Warning Lead</a:t>
            </a:r>
            <a:endParaRPr lang="en-US" sz="1000" dirty="0"/>
          </a:p>
        </p:txBody>
      </p:sp>
      <p:sp>
        <p:nvSpPr>
          <p:cNvPr id="17" name="Text 14"/>
          <p:cNvSpPr/>
          <p:nvPr/>
        </p:nvSpPr>
        <p:spPr>
          <a:xfrm>
            <a:off x="2377440" y="3749040"/>
            <a:ext cx="1828800" cy="384048"/>
          </a:xfrm>
          <a:prstGeom prst="rect">
            <a:avLst/>
          </a:prstGeom>
          <a:noFill/>
          <a:ln/>
        </p:spPr>
        <p:txBody>
          <a:bodyPr wrap="square" lIns="0" tIns="0" rIns="0" bIns="0" rtlCol="0" anchor="ctr"/>
          <a:lstStyle/>
          <a:p>
            <a:pPr algn="r" indent="0" marL="0">
              <a:buNone/>
            </a:pPr>
            <a:r>
              <a:rPr lang="en-US" sz="2000" b="1" dirty="0">
                <a:solidFill>
                  <a:srgbClr val="00E676"/>
                </a:solidFill>
                <a:latin typeface="Arial" pitchFamily="34" charset="0"/>
                <a:ea typeface="Arial" pitchFamily="34" charset="-122"/>
                <a:cs typeface="Arial" pitchFamily="34" charset="-120"/>
              </a:rPr>
              <a:t>18h–3d</a:t>
            </a:r>
            <a:endParaRPr lang="en-US" sz="2000" dirty="0"/>
          </a:p>
        </p:txBody>
      </p:sp>
      <p:sp>
        <p:nvSpPr>
          <p:cNvPr id="18" name="Text 15"/>
          <p:cNvSpPr/>
          <p:nvPr/>
        </p:nvSpPr>
        <p:spPr>
          <a:xfrm>
            <a:off x="548640" y="4069080"/>
            <a:ext cx="3566160" cy="228600"/>
          </a:xfrm>
          <a:prstGeom prst="rect">
            <a:avLst/>
          </a:prstGeom>
          <a:noFill/>
          <a:ln/>
        </p:spPr>
        <p:txBody>
          <a:bodyPr wrap="square" lIns="0" tIns="0" rIns="0" bIns="0" rtlCol="0" anchor="ctr"/>
          <a:lstStyle/>
          <a:p>
            <a:pPr algn="l" indent="0" marL="0">
              <a:buNone/>
            </a:pPr>
            <a:r>
              <a:rPr lang="en-US" sz="850" i="1" dirty="0">
                <a:solidFill>
                  <a:srgbClr val="8B9AB5"/>
                </a:solidFill>
                <a:latin typeface="Arial" pitchFamily="34" charset="0"/>
                <a:ea typeface="Arial" pitchFamily="34" charset="-122"/>
                <a:cs typeface="Arial" pitchFamily="34" charset="-120"/>
              </a:rPr>
              <a:t>CME arrival forecast window</a:t>
            </a:r>
            <a:endParaRPr lang="en-US" sz="850" dirty="0"/>
          </a:p>
        </p:txBody>
      </p:sp>
      <p:sp>
        <p:nvSpPr>
          <p:cNvPr id="19" name="Shape 16"/>
          <p:cNvSpPr/>
          <p:nvPr/>
        </p:nvSpPr>
        <p:spPr>
          <a:xfrm>
            <a:off x="457200" y="4617720"/>
            <a:ext cx="3840480" cy="274320"/>
          </a:xfrm>
          <a:prstGeom prst="roundRect">
            <a:avLst>
              <a:gd name="adj" fmla="val 23333"/>
            </a:avLst>
          </a:prstGeom>
          <a:solidFill>
            <a:srgbClr val="D50000">
              <a:alpha val="40000"/>
            </a:srgbClr>
          </a:solidFill>
          <a:ln w="12700">
            <a:solidFill>
              <a:srgbClr val="FF1744">
                <a:alpha val="60000"/>
              </a:srgbClr>
            </a:solidFill>
            <a:prstDash val="solid"/>
          </a:ln>
        </p:spPr>
      </p:sp>
      <p:sp>
        <p:nvSpPr>
          <p:cNvPr id="20" name="Text 17"/>
          <p:cNvSpPr/>
          <p:nvPr/>
        </p:nvSpPr>
        <p:spPr>
          <a:xfrm>
            <a:off x="502920" y="4636008"/>
            <a:ext cx="374904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  G3 STRONG GEOMAGNETIC STORM — Kp 7</a:t>
            </a:r>
            <a:endParaRPr lang="en-US" sz="850" dirty="0"/>
          </a:p>
        </p:txBody>
      </p:sp>
      <p:sp>
        <p:nvSpPr>
          <p:cNvPr id="21" name="Shape 18"/>
          <p:cNvSpPr/>
          <p:nvPr/>
        </p:nvSpPr>
        <p:spPr>
          <a:xfrm>
            <a:off x="4663440" y="914400"/>
            <a:ext cx="4114800" cy="4069080"/>
          </a:xfrm>
          <a:prstGeom prst="roundRect">
            <a:avLst>
              <a:gd name="adj" fmla="val 2697"/>
            </a:avLst>
          </a:prstGeom>
          <a:solidFill>
            <a:srgbClr val="101D35"/>
          </a:solidFill>
          <a:ln w="12700">
            <a:solidFill>
              <a:srgbClr val="FF1744">
                <a:alpha val="40000"/>
              </a:srgbClr>
            </a:solidFill>
            <a:prstDash val="solid"/>
          </a:ln>
        </p:spPr>
      </p:sp>
      <p:pic>
        <p:nvPicPr>
          <p:cNvPr id="22" name="Image 1" descr="preencoded.png">    </p:cNvPr>
          <p:cNvPicPr>
            <a:picLocks noChangeAspect="1"/>
          </p:cNvPicPr>
          <p:nvPr/>
        </p:nvPicPr>
        <p:blipFill>
          <a:blip r:embed="rId2"/>
          <a:stretch>
            <a:fillRect/>
          </a:stretch>
        </p:blipFill>
        <p:spPr>
          <a:xfrm>
            <a:off x="4892040" y="1051560"/>
            <a:ext cx="457200" cy="457200"/>
          </a:xfrm>
          <a:prstGeom prst="rect">
            <a:avLst/>
          </a:prstGeom>
        </p:spPr>
      </p:pic>
      <p:sp>
        <p:nvSpPr>
          <p:cNvPr id="23" name="Text 19"/>
          <p:cNvSpPr/>
          <p:nvPr/>
        </p:nvSpPr>
        <p:spPr>
          <a:xfrm>
            <a:off x="5440680" y="1051560"/>
            <a:ext cx="3200400" cy="411480"/>
          </a:xfrm>
          <a:prstGeom prst="rect">
            <a:avLst/>
          </a:prstGeom>
          <a:noFill/>
          <a:ln/>
        </p:spPr>
        <p:txBody>
          <a:bodyPr wrap="square" lIns="0" tIns="0" rIns="0" bIns="0" rtlCol="0" anchor="ctr"/>
          <a:lstStyle/>
          <a:p>
            <a:pPr algn="l" indent="0" marL="0">
              <a:buNone/>
            </a:pPr>
            <a:r>
              <a:rPr lang="en-US" sz="1600" b="1" dirty="0">
                <a:solidFill>
                  <a:srgbClr val="FF1744"/>
                </a:solidFill>
                <a:latin typeface="Arial" pitchFamily="34" charset="0"/>
                <a:ea typeface="Arial" pitchFamily="34" charset="-122"/>
                <a:cs typeface="Arial" pitchFamily="34" charset="-120"/>
              </a:rPr>
              <a:t>Collision Risk</a:t>
            </a:r>
            <a:endParaRPr lang="en-US" sz="1600" dirty="0"/>
          </a:p>
        </p:txBody>
      </p:sp>
      <p:sp>
        <p:nvSpPr>
          <p:cNvPr id="24" name="Text 20"/>
          <p:cNvSpPr/>
          <p:nvPr/>
        </p:nvSpPr>
        <p:spPr>
          <a:xfrm>
            <a:off x="4846320" y="1600200"/>
            <a:ext cx="2286000" cy="292608"/>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Object ID</a:t>
            </a:r>
            <a:endParaRPr lang="en-US" sz="1000" dirty="0"/>
          </a:p>
        </p:txBody>
      </p:sp>
      <p:sp>
        <p:nvSpPr>
          <p:cNvPr id="25" name="Text 21"/>
          <p:cNvSpPr/>
          <p:nvPr/>
        </p:nvSpPr>
        <p:spPr>
          <a:xfrm>
            <a:off x="7132320" y="1554480"/>
            <a:ext cx="1508760" cy="384048"/>
          </a:xfrm>
          <a:prstGeom prst="rect">
            <a:avLst/>
          </a:prstGeom>
          <a:noFill/>
          <a:ln/>
        </p:spPr>
        <p:txBody>
          <a:bodyPr wrap="square" lIns="0" tIns="0" rIns="0" bIns="0" rtlCol="0" anchor="ctr"/>
          <a:lstStyle/>
          <a:p>
            <a:pPr algn="r" indent="0" marL="0">
              <a:buNone/>
            </a:pPr>
            <a:r>
              <a:rPr lang="en-US" sz="1800" b="1" dirty="0">
                <a:solidFill>
                  <a:srgbClr val="00E5FF"/>
                </a:solidFill>
                <a:latin typeface="Arial" pitchFamily="34" charset="0"/>
                <a:ea typeface="Arial" pitchFamily="34" charset="-122"/>
                <a:cs typeface="Arial" pitchFamily="34" charset="-120"/>
              </a:rPr>
              <a:t>TBA-4821</a:t>
            </a:r>
            <a:endParaRPr lang="en-US" sz="1800" dirty="0"/>
          </a:p>
        </p:txBody>
      </p:sp>
      <p:sp>
        <p:nvSpPr>
          <p:cNvPr id="26" name="Text 22"/>
          <p:cNvSpPr/>
          <p:nvPr/>
        </p:nvSpPr>
        <p:spPr>
          <a:xfrm>
            <a:off x="4846320" y="1874520"/>
            <a:ext cx="3749040" cy="228600"/>
          </a:xfrm>
          <a:prstGeom prst="rect">
            <a:avLst/>
          </a:prstGeom>
          <a:noFill/>
          <a:ln/>
        </p:spPr>
        <p:txBody>
          <a:bodyPr wrap="square" lIns="0" tIns="0" rIns="0" bIns="0" rtlCol="0" anchor="ctr"/>
          <a:lstStyle/>
          <a:p>
            <a:pPr algn="l" indent="0" marL="0">
              <a:buNone/>
            </a:pPr>
            <a:r>
              <a:rPr lang="en-US" sz="850" i="1" dirty="0">
                <a:solidFill>
                  <a:srgbClr val="8B9AB5"/>
                </a:solidFill>
                <a:latin typeface="Arial" pitchFamily="34" charset="0"/>
                <a:ea typeface="Arial" pitchFamily="34" charset="-122"/>
                <a:cs typeface="Arial" pitchFamily="34" charset="-120"/>
              </a:rPr>
              <a:t>Tracked debris object</a:t>
            </a:r>
            <a:endParaRPr lang="en-US" sz="850" dirty="0"/>
          </a:p>
        </p:txBody>
      </p:sp>
      <p:sp>
        <p:nvSpPr>
          <p:cNvPr id="27" name="Text 23"/>
          <p:cNvSpPr/>
          <p:nvPr/>
        </p:nvSpPr>
        <p:spPr>
          <a:xfrm>
            <a:off x="4846320" y="2331720"/>
            <a:ext cx="2286000" cy="292608"/>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Distance</a:t>
            </a:r>
            <a:endParaRPr lang="en-US" sz="1000" dirty="0"/>
          </a:p>
        </p:txBody>
      </p:sp>
      <p:sp>
        <p:nvSpPr>
          <p:cNvPr id="28" name="Text 24"/>
          <p:cNvSpPr/>
          <p:nvPr/>
        </p:nvSpPr>
        <p:spPr>
          <a:xfrm>
            <a:off x="7132320" y="2286000"/>
            <a:ext cx="1508760" cy="384048"/>
          </a:xfrm>
          <a:prstGeom prst="rect">
            <a:avLst/>
          </a:prstGeom>
          <a:noFill/>
          <a:ln/>
        </p:spPr>
        <p:txBody>
          <a:bodyPr wrap="square" lIns="0" tIns="0" rIns="0" bIns="0" rtlCol="0" anchor="ctr"/>
          <a:lstStyle/>
          <a:p>
            <a:pPr algn="r" indent="0" marL="0">
              <a:buNone/>
            </a:pPr>
            <a:r>
              <a:rPr lang="en-US" sz="1800" b="1" dirty="0">
                <a:solidFill>
                  <a:srgbClr val="FF1744"/>
                </a:solidFill>
                <a:latin typeface="Arial" pitchFamily="34" charset="0"/>
                <a:ea typeface="Arial" pitchFamily="34" charset="-122"/>
                <a:cs typeface="Arial" pitchFamily="34" charset="-120"/>
              </a:rPr>
              <a:t>4.2 km</a:t>
            </a:r>
            <a:endParaRPr lang="en-US" sz="1800" dirty="0"/>
          </a:p>
        </p:txBody>
      </p:sp>
      <p:sp>
        <p:nvSpPr>
          <p:cNvPr id="29" name="Text 25"/>
          <p:cNvSpPr/>
          <p:nvPr/>
        </p:nvSpPr>
        <p:spPr>
          <a:xfrm>
            <a:off x="4846320" y="2606040"/>
            <a:ext cx="3749040" cy="228600"/>
          </a:xfrm>
          <a:prstGeom prst="rect">
            <a:avLst/>
          </a:prstGeom>
          <a:noFill/>
          <a:ln/>
        </p:spPr>
        <p:txBody>
          <a:bodyPr wrap="square" lIns="0" tIns="0" rIns="0" bIns="0" rtlCol="0" anchor="ctr"/>
          <a:lstStyle/>
          <a:p>
            <a:pPr algn="l" indent="0" marL="0">
              <a:buNone/>
            </a:pPr>
            <a:r>
              <a:rPr lang="en-US" sz="850" i="1" dirty="0">
                <a:solidFill>
                  <a:srgbClr val="8B9AB5"/>
                </a:solidFill>
                <a:latin typeface="Arial" pitchFamily="34" charset="0"/>
                <a:ea typeface="Arial" pitchFamily="34" charset="-122"/>
                <a:cs typeface="Arial" pitchFamily="34" charset="-120"/>
              </a:rPr>
              <a:t>Critical close approach</a:t>
            </a:r>
            <a:endParaRPr lang="en-US" sz="850" dirty="0"/>
          </a:p>
        </p:txBody>
      </p:sp>
      <p:sp>
        <p:nvSpPr>
          <p:cNvPr id="30" name="Text 26"/>
          <p:cNvSpPr/>
          <p:nvPr/>
        </p:nvSpPr>
        <p:spPr>
          <a:xfrm>
            <a:off x="4846320" y="3063240"/>
            <a:ext cx="2286000" cy="292608"/>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Time to CA</a:t>
            </a:r>
            <a:endParaRPr lang="en-US" sz="1000" dirty="0"/>
          </a:p>
        </p:txBody>
      </p:sp>
      <p:sp>
        <p:nvSpPr>
          <p:cNvPr id="31" name="Text 27"/>
          <p:cNvSpPr/>
          <p:nvPr/>
        </p:nvSpPr>
        <p:spPr>
          <a:xfrm>
            <a:off x="7132320" y="3017520"/>
            <a:ext cx="1508760" cy="384048"/>
          </a:xfrm>
          <a:prstGeom prst="rect">
            <a:avLst/>
          </a:prstGeom>
          <a:noFill/>
          <a:ln/>
        </p:spPr>
        <p:txBody>
          <a:bodyPr wrap="square" lIns="0" tIns="0" rIns="0" bIns="0" rtlCol="0" anchor="ctr"/>
          <a:lstStyle/>
          <a:p>
            <a:pPr algn="r" indent="0" marL="0">
              <a:buNone/>
            </a:pPr>
            <a:r>
              <a:rPr lang="en-US" sz="1800" b="1" dirty="0">
                <a:solidFill>
                  <a:srgbClr val="FFD600"/>
                </a:solidFill>
                <a:latin typeface="Arial" pitchFamily="34" charset="0"/>
                <a:ea typeface="Arial" pitchFamily="34" charset="-122"/>
                <a:cs typeface="Arial" pitchFamily="34" charset="-120"/>
              </a:rPr>
              <a:t>3.5h</a:t>
            </a:r>
            <a:endParaRPr lang="en-US" sz="1800" dirty="0"/>
          </a:p>
        </p:txBody>
      </p:sp>
      <p:sp>
        <p:nvSpPr>
          <p:cNvPr id="32" name="Text 28"/>
          <p:cNvSpPr/>
          <p:nvPr/>
        </p:nvSpPr>
        <p:spPr>
          <a:xfrm>
            <a:off x="4846320" y="3337560"/>
            <a:ext cx="3749040" cy="228600"/>
          </a:xfrm>
          <a:prstGeom prst="rect">
            <a:avLst/>
          </a:prstGeom>
          <a:noFill/>
          <a:ln/>
        </p:spPr>
        <p:txBody>
          <a:bodyPr wrap="square" lIns="0" tIns="0" rIns="0" bIns="0" rtlCol="0" anchor="ctr"/>
          <a:lstStyle/>
          <a:p>
            <a:pPr algn="l" indent="0" marL="0">
              <a:buNone/>
            </a:pPr>
            <a:r>
              <a:rPr lang="en-US" sz="850" i="1" dirty="0">
                <a:solidFill>
                  <a:srgbClr val="8B9AB5"/>
                </a:solidFill>
                <a:latin typeface="Arial" pitchFamily="34" charset="0"/>
                <a:ea typeface="Arial" pitchFamily="34" charset="-122"/>
                <a:cs typeface="Arial" pitchFamily="34" charset="-120"/>
              </a:rPr>
              <a:t>Conjunction in 3.5 hours</a:t>
            </a:r>
            <a:endParaRPr lang="en-US" sz="850" dirty="0"/>
          </a:p>
        </p:txBody>
      </p:sp>
      <p:sp>
        <p:nvSpPr>
          <p:cNvPr id="33" name="Text 29"/>
          <p:cNvSpPr/>
          <p:nvPr/>
        </p:nvSpPr>
        <p:spPr>
          <a:xfrm>
            <a:off x="4846320" y="3794760"/>
            <a:ext cx="2286000" cy="292608"/>
          </a:xfrm>
          <a:prstGeom prst="rect">
            <a:avLst/>
          </a:prstGeom>
          <a:noFill/>
          <a:ln/>
        </p:spPr>
        <p:txBody>
          <a:bodyPr wrap="square" lIns="0" tIns="0" rIns="0" bIns="0" rtlCol="0" anchor="ctr"/>
          <a:lstStyle/>
          <a:p>
            <a:pPr algn="l" indent="0" marL="0">
              <a:buNone/>
            </a:pPr>
            <a:r>
              <a:rPr lang="en-US" sz="1000" dirty="0">
                <a:solidFill>
                  <a:srgbClr val="8B9AB5"/>
                </a:solidFill>
                <a:latin typeface="Arial" pitchFamily="34" charset="0"/>
                <a:ea typeface="Arial" pitchFamily="34" charset="-122"/>
                <a:cs typeface="Arial" pitchFamily="34" charset="-120"/>
              </a:rPr>
              <a:t>Decision Lead</a:t>
            </a:r>
            <a:endParaRPr lang="en-US" sz="1000" dirty="0"/>
          </a:p>
        </p:txBody>
      </p:sp>
      <p:sp>
        <p:nvSpPr>
          <p:cNvPr id="34" name="Text 30"/>
          <p:cNvSpPr/>
          <p:nvPr/>
        </p:nvSpPr>
        <p:spPr>
          <a:xfrm>
            <a:off x="7132320" y="3749040"/>
            <a:ext cx="1508760" cy="384048"/>
          </a:xfrm>
          <a:prstGeom prst="rect">
            <a:avLst/>
          </a:prstGeom>
          <a:noFill/>
          <a:ln/>
        </p:spPr>
        <p:txBody>
          <a:bodyPr wrap="square" lIns="0" tIns="0" rIns="0" bIns="0" rtlCol="0" anchor="ctr"/>
          <a:lstStyle/>
          <a:p>
            <a:pPr algn="r" indent="0" marL="0">
              <a:buNone/>
            </a:pPr>
            <a:r>
              <a:rPr lang="en-US" sz="1800" b="1" dirty="0">
                <a:solidFill>
                  <a:srgbClr val="00E676"/>
                </a:solidFill>
                <a:latin typeface="Arial" pitchFamily="34" charset="0"/>
                <a:ea typeface="Arial" pitchFamily="34" charset="-122"/>
                <a:cs typeface="Arial" pitchFamily="34" charset="-120"/>
              </a:rPr>
              <a:t>~16h</a:t>
            </a:r>
            <a:endParaRPr lang="en-US" sz="1800" dirty="0"/>
          </a:p>
        </p:txBody>
      </p:sp>
      <p:sp>
        <p:nvSpPr>
          <p:cNvPr id="35" name="Text 31"/>
          <p:cNvSpPr/>
          <p:nvPr/>
        </p:nvSpPr>
        <p:spPr>
          <a:xfrm>
            <a:off x="4846320" y="4069080"/>
            <a:ext cx="3749040" cy="228600"/>
          </a:xfrm>
          <a:prstGeom prst="rect">
            <a:avLst/>
          </a:prstGeom>
          <a:noFill/>
          <a:ln/>
        </p:spPr>
        <p:txBody>
          <a:bodyPr wrap="square" lIns="0" tIns="0" rIns="0" bIns="0" rtlCol="0" anchor="ctr"/>
          <a:lstStyle/>
          <a:p>
            <a:pPr algn="l" indent="0" marL="0">
              <a:buNone/>
            </a:pPr>
            <a:r>
              <a:rPr lang="en-US" sz="850" i="1" dirty="0">
                <a:solidFill>
                  <a:srgbClr val="8B9AB5"/>
                </a:solidFill>
                <a:latin typeface="Arial" pitchFamily="34" charset="0"/>
                <a:ea typeface="Arial" pitchFamily="34" charset="-122"/>
                <a:cs typeface="Arial" pitchFamily="34" charset="-120"/>
              </a:rPr>
              <a:t>Standard avoidance notice</a:t>
            </a:r>
            <a:endParaRPr lang="en-US" sz="850" dirty="0"/>
          </a:p>
        </p:txBody>
      </p:sp>
      <p:sp>
        <p:nvSpPr>
          <p:cNvPr id="36" name="Shape 32"/>
          <p:cNvSpPr/>
          <p:nvPr/>
        </p:nvSpPr>
        <p:spPr>
          <a:xfrm>
            <a:off x="4754880" y="4617720"/>
            <a:ext cx="3840480" cy="274320"/>
          </a:xfrm>
          <a:prstGeom prst="roundRect">
            <a:avLst>
              <a:gd name="adj" fmla="val 23333"/>
            </a:avLst>
          </a:prstGeom>
          <a:solidFill>
            <a:srgbClr val="D50000">
              <a:alpha val="40000"/>
            </a:srgbClr>
          </a:solidFill>
          <a:ln w="12700">
            <a:solidFill>
              <a:srgbClr val="FF1744">
                <a:alpha val="60000"/>
              </a:srgbClr>
            </a:solidFill>
            <a:prstDash val="solid"/>
          </a:ln>
        </p:spPr>
      </p:sp>
      <p:sp>
        <p:nvSpPr>
          <p:cNvPr id="37" name="Text 33"/>
          <p:cNvSpPr/>
          <p:nvPr/>
        </p:nvSpPr>
        <p:spPr>
          <a:xfrm>
            <a:off x="4800600" y="4636008"/>
            <a:ext cx="374904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Arial" pitchFamily="34" charset="0"/>
                <a:ea typeface="Arial" pitchFamily="34" charset="-122"/>
                <a:cs typeface="Arial" pitchFamily="34" charset="-120"/>
              </a:rPr>
              <a:t>⚠  CONJUNCTION ALERT — TBA-4821 at 4.2 km in 3.5h</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50A14"/>
          </a:solidFill>
          <a:ln w="12700">
            <a:solidFill>
              <a:srgbClr val="050A14"/>
            </a:solidFill>
            <a:prstDash val="solid"/>
          </a:ln>
        </p:spPr>
      </p:sp>
      <p:sp>
        <p:nvSpPr>
          <p:cNvPr id="3" name="Text 1"/>
          <p:cNvSpPr/>
          <p:nvPr/>
        </p:nvSpPr>
        <p:spPr>
          <a:xfrm>
            <a:off x="365760" y="164592"/>
            <a:ext cx="8412480" cy="365760"/>
          </a:xfrm>
          <a:prstGeom prst="rect">
            <a:avLst/>
          </a:prstGeom>
          <a:noFill/>
          <a:ln/>
        </p:spPr>
        <p:txBody>
          <a:bodyPr wrap="square" lIns="0" tIns="0" rIns="0" bIns="0" rtlCol="0" anchor="ctr"/>
          <a:lstStyle/>
          <a:p>
            <a:pPr algn="l" indent="0" marL="0">
              <a:buNone/>
            </a:pPr>
            <a:r>
              <a:rPr lang="en-US" sz="1000" b="1" spc="300" kern="0" dirty="0">
                <a:solidFill>
                  <a:srgbClr val="AA00FF"/>
                </a:solidFill>
                <a:latin typeface="Arial" pitchFamily="34" charset="0"/>
                <a:ea typeface="Arial" pitchFamily="34" charset="-122"/>
                <a:cs typeface="Arial" pitchFamily="34" charset="-120"/>
              </a:rPr>
              <a:t>MODULE 04  —  AI COPILOT MISSION INTELLIGENCE</a:t>
            </a:r>
            <a:endParaRPr lang="en-US" sz="1000" dirty="0"/>
          </a:p>
        </p:txBody>
      </p:sp>
      <p:pic>
        <p:nvPicPr>
          <p:cNvPr id="4" name="Image 0" descr="preencoded.png">    </p:cNvPr>
          <p:cNvPicPr>
            <a:picLocks noChangeAspect="1"/>
          </p:cNvPicPr>
          <p:nvPr/>
        </p:nvPicPr>
        <p:blipFill>
          <a:blip r:embed="rId1"/>
          <a:srcRect l="0" r="0" t="0" b="0"/>
          <a:stretch/>
        </p:blipFill>
        <p:spPr>
          <a:xfrm>
            <a:off x="4846320" y="868680"/>
            <a:ext cx="4206240" cy="2048256"/>
          </a:xfrm>
          <a:prstGeom prst="rect">
            <a:avLst/>
          </a:prstGeom>
        </p:spPr>
      </p:pic>
      <p:sp>
        <p:nvSpPr>
          <p:cNvPr id="5" name="Shape 2"/>
          <p:cNvSpPr/>
          <p:nvPr/>
        </p:nvSpPr>
        <p:spPr>
          <a:xfrm>
            <a:off x="4846320" y="868680"/>
            <a:ext cx="4206240" cy="2048256"/>
          </a:xfrm>
          <a:prstGeom prst="roundRect">
            <a:avLst>
              <a:gd name="adj" fmla="val 4464"/>
            </a:avLst>
          </a:prstGeom>
          <a:solidFill>
            <a:srgbClr val="AA00FF">
              <a:alpha val="0"/>
            </a:srgbClr>
          </a:solidFill>
          <a:ln w="25400">
            <a:solidFill>
              <a:srgbClr val="AA00FF">
                <a:alpha val="60000"/>
              </a:srgbClr>
            </a:solidFill>
            <a:prstDash val="solid"/>
          </a:ln>
        </p:spPr>
      </p:sp>
      <p:sp>
        <p:nvSpPr>
          <p:cNvPr id="6" name="Text 3"/>
          <p:cNvSpPr/>
          <p:nvPr/>
        </p:nvSpPr>
        <p:spPr>
          <a:xfrm>
            <a:off x="4892040" y="2926080"/>
            <a:ext cx="4114800" cy="256032"/>
          </a:xfrm>
          <a:prstGeom prst="rect">
            <a:avLst/>
          </a:prstGeom>
          <a:noFill/>
          <a:ln/>
        </p:spPr>
        <p:txBody>
          <a:bodyPr wrap="square" lIns="0" tIns="0" rIns="0" bIns="0" rtlCol="0" anchor="ctr"/>
          <a:lstStyle/>
          <a:p>
            <a:pPr algn="ctr" indent="0" marL="0">
              <a:buNone/>
            </a:pPr>
            <a:r>
              <a:rPr lang="en-US" sz="850" i="1" dirty="0">
                <a:solidFill>
                  <a:srgbClr val="8B9AB5"/>
                </a:solidFill>
                <a:latin typeface="Arial" pitchFamily="34" charset="0"/>
                <a:ea typeface="Arial" pitchFamily="34" charset="-122"/>
                <a:cs typeface="Arial" pitchFamily="34" charset="-120"/>
              </a:rPr>
              <a:t>AI Mission Brief widget — live</a:t>
            </a:r>
            <a:endParaRPr lang="en-US" sz="850" dirty="0"/>
          </a:p>
        </p:txBody>
      </p:sp>
      <p:sp>
        <p:nvSpPr>
          <p:cNvPr id="7" name="Shape 4"/>
          <p:cNvSpPr/>
          <p:nvPr/>
        </p:nvSpPr>
        <p:spPr>
          <a:xfrm>
            <a:off x="365760" y="960120"/>
            <a:ext cx="4206240" cy="548640"/>
          </a:xfrm>
          <a:prstGeom prst="roundRect">
            <a:avLst>
              <a:gd name="adj" fmla="val 20000"/>
            </a:avLst>
          </a:prstGeom>
          <a:solidFill>
            <a:srgbClr val="0D1A2E"/>
          </a:solidFill>
          <a:ln w="12700">
            <a:solidFill>
              <a:srgbClr val="2979FF">
                <a:alpha val="50000"/>
              </a:srgbClr>
            </a:solidFill>
            <a:prstDash val="solid"/>
          </a:ln>
        </p:spPr>
      </p:sp>
      <p:sp>
        <p:nvSpPr>
          <p:cNvPr id="8" name="Text 5"/>
          <p:cNvSpPr/>
          <p:nvPr/>
        </p:nvSpPr>
        <p:spPr>
          <a:xfrm>
            <a:off x="502920" y="1005840"/>
            <a:ext cx="1828800" cy="228600"/>
          </a:xfrm>
          <a:prstGeom prst="rect">
            <a:avLst/>
          </a:prstGeom>
          <a:noFill/>
          <a:ln/>
        </p:spPr>
        <p:txBody>
          <a:bodyPr wrap="square" lIns="0" tIns="0" rIns="0" bIns="0" rtlCol="0" anchor="ctr"/>
          <a:lstStyle/>
          <a:p>
            <a:pPr algn="l" indent="0" marL="0">
              <a:buNone/>
            </a:pPr>
            <a:r>
              <a:rPr lang="en-US" sz="900" dirty="0">
                <a:solidFill>
                  <a:srgbClr val="8B9AB5"/>
                </a:solidFill>
                <a:latin typeface="Arial" pitchFamily="34" charset="0"/>
                <a:ea typeface="Arial" pitchFamily="34" charset="-122"/>
                <a:cs typeface="Arial" pitchFamily="34" charset="-120"/>
              </a:rPr>
              <a:t>Operator asks:</a:t>
            </a:r>
            <a:endParaRPr lang="en-US" sz="900" dirty="0"/>
          </a:p>
        </p:txBody>
      </p:sp>
      <p:sp>
        <p:nvSpPr>
          <p:cNvPr id="9" name="Text 6"/>
          <p:cNvSpPr/>
          <p:nvPr/>
        </p:nvSpPr>
        <p:spPr>
          <a:xfrm>
            <a:off x="502920" y="1216152"/>
            <a:ext cx="3931920" cy="256032"/>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"What should I do right now?"</a:t>
            </a:r>
            <a:endParaRPr lang="en-US" sz="1300" dirty="0"/>
          </a:p>
        </p:txBody>
      </p:sp>
      <p:sp>
        <p:nvSpPr>
          <p:cNvPr id="10" name="Shape 7"/>
          <p:cNvSpPr/>
          <p:nvPr/>
        </p:nvSpPr>
        <p:spPr>
          <a:xfrm>
            <a:off x="365760" y="1664208"/>
            <a:ext cx="4206240" cy="3063240"/>
          </a:xfrm>
          <a:prstGeom prst="roundRect">
            <a:avLst>
              <a:gd name="adj" fmla="val 3582"/>
            </a:avLst>
          </a:prstGeom>
          <a:solidFill>
            <a:srgbClr val="101D35"/>
          </a:solidFill>
          <a:ln w="12700">
            <a:solidFill>
              <a:srgbClr val="AA00FF">
                <a:alpha val="55000"/>
              </a:srgbClr>
            </a:solidFill>
            <a:prstDash val="solid"/>
          </a:ln>
        </p:spPr>
      </p:sp>
      <p:pic>
        <p:nvPicPr>
          <p:cNvPr id="11" name="Image 1" descr="preencoded.png">    </p:cNvPr>
          <p:cNvPicPr>
            <a:picLocks noChangeAspect="1"/>
          </p:cNvPicPr>
          <p:nvPr/>
        </p:nvPicPr>
        <p:blipFill>
          <a:blip r:embed="rId2"/>
          <a:stretch>
            <a:fillRect/>
          </a:stretch>
        </p:blipFill>
        <p:spPr>
          <a:xfrm>
            <a:off x="548640" y="1810512"/>
            <a:ext cx="411480" cy="411480"/>
          </a:xfrm>
          <a:prstGeom prst="rect">
            <a:avLst/>
          </a:prstGeom>
        </p:spPr>
      </p:pic>
      <p:sp>
        <p:nvSpPr>
          <p:cNvPr id="12" name="Text 8"/>
          <p:cNvSpPr/>
          <p:nvPr/>
        </p:nvSpPr>
        <p:spPr>
          <a:xfrm>
            <a:off x="1051560" y="1783080"/>
            <a:ext cx="3383280" cy="365760"/>
          </a:xfrm>
          <a:prstGeom prst="rect">
            <a:avLst/>
          </a:prstGeom>
          <a:noFill/>
          <a:ln/>
        </p:spPr>
        <p:txBody>
          <a:bodyPr wrap="square" lIns="0" tIns="0" rIns="0" bIns="0" rtlCol="0" anchor="ctr"/>
          <a:lstStyle/>
          <a:p>
            <a:pPr algn="l" indent="0" marL="0">
              <a:buNone/>
            </a:pPr>
            <a:r>
              <a:rPr lang="en-US" sz="1200" b="1" dirty="0">
                <a:solidFill>
                  <a:srgbClr val="AA00FF"/>
                </a:solidFill>
                <a:latin typeface="Arial" pitchFamily="34" charset="0"/>
                <a:ea typeface="Arial" pitchFamily="34" charset="-122"/>
                <a:cs typeface="Arial" pitchFamily="34" charset="-120"/>
              </a:rPr>
              <a:t>AI Copilot Response</a:t>
            </a:r>
            <a:endParaRPr lang="en-US" sz="1200" dirty="0"/>
          </a:p>
        </p:txBody>
      </p:sp>
      <p:sp>
        <p:nvSpPr>
          <p:cNvPr id="13" name="Shape 9"/>
          <p:cNvSpPr/>
          <p:nvPr/>
        </p:nvSpPr>
        <p:spPr>
          <a:xfrm>
            <a:off x="502920" y="2212848"/>
            <a:ext cx="1371600" cy="256032"/>
          </a:xfrm>
          <a:prstGeom prst="roundRect">
            <a:avLst>
              <a:gd name="adj" fmla="val 21429"/>
            </a:avLst>
          </a:prstGeom>
          <a:solidFill>
            <a:srgbClr val="D50000">
              <a:alpha val="50000"/>
            </a:srgbClr>
          </a:solidFill>
          <a:ln w="12700">
            <a:solidFill>
              <a:srgbClr val="FF1744">
                <a:alpha val="60000"/>
              </a:srgbClr>
            </a:solidFill>
            <a:prstDash val="solid"/>
          </a:ln>
        </p:spPr>
      </p:sp>
      <p:sp>
        <p:nvSpPr>
          <p:cNvPr id="14" name="Text 10"/>
          <p:cNvSpPr/>
          <p:nvPr/>
        </p:nvSpPr>
        <p:spPr>
          <a:xfrm>
            <a:off x="502920" y="2221992"/>
            <a:ext cx="137160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CRITICAL RISK</a:t>
            </a:r>
            <a:endParaRPr lang="en-US" sz="800" dirty="0"/>
          </a:p>
        </p:txBody>
      </p:sp>
      <p:sp>
        <p:nvSpPr>
          <p:cNvPr id="15" name="Text 11"/>
          <p:cNvSpPr/>
          <p:nvPr/>
        </p:nvSpPr>
        <p:spPr>
          <a:xfrm>
            <a:off x="1965960" y="2221992"/>
            <a:ext cx="2468880" cy="246888"/>
          </a:xfrm>
          <a:prstGeom prst="rect">
            <a:avLst/>
          </a:prstGeom>
          <a:noFill/>
          <a:ln/>
        </p:spPr>
        <p:txBody>
          <a:bodyPr wrap="square" lIns="0" tIns="0" rIns="0" bIns="0" rtlCol="0" anchor="ctr"/>
          <a:lstStyle/>
          <a:p>
            <a:pPr algn="r" indent="0" marL="0">
              <a:buNone/>
            </a:pPr>
            <a:r>
              <a:rPr lang="en-US" sz="900" dirty="0">
                <a:solidFill>
                  <a:srgbClr val="00E676"/>
                </a:solidFill>
                <a:latin typeface="Arial" pitchFamily="34" charset="0"/>
                <a:ea typeface="Arial" pitchFamily="34" charset="-122"/>
                <a:cs typeface="Arial" pitchFamily="34" charset="-120"/>
              </a:rPr>
              <a:t>Confidence: 85%</a:t>
            </a:r>
            <a:endParaRPr lang="en-US" sz="900" dirty="0"/>
          </a:p>
        </p:txBody>
      </p:sp>
      <p:sp>
        <p:nvSpPr>
          <p:cNvPr id="16" name="Text 12"/>
          <p:cNvSpPr/>
          <p:nvPr/>
        </p:nvSpPr>
        <p:spPr>
          <a:xfrm>
            <a:off x="548640" y="2606040"/>
            <a:ext cx="3840480" cy="365760"/>
          </a:xfrm>
          <a:prstGeom prst="rect">
            <a:avLst/>
          </a:prstGeom>
          <a:noFill/>
          <a:ln/>
        </p:spPr>
        <p:txBody>
          <a:bodyPr wrap="square" lIns="0" tIns="0" rIns="0" bIns="0" rtlCol="0" anchor="ctr"/>
          <a:lstStyle/>
          <a:p>
            <a:pPr algn="l" indent="0" marL="0">
              <a:buNone/>
            </a:pPr>
            <a:r>
              <a:rPr lang="en-US" sz="1050" dirty="0">
                <a:solidFill>
                  <a:srgbClr val="B0BEC5"/>
                </a:solidFill>
                <a:latin typeface="Arial" pitchFamily="34" charset="0"/>
                <a:ea typeface="Arial" pitchFamily="34" charset="-122"/>
                <a:cs typeface="Arial" pitchFamily="34" charset="-120"/>
              </a:rPr>
              <a:t>• Thruster anomaly likely caused by solar particle interference.</a:t>
            </a:r>
            <a:endParaRPr lang="en-US" sz="1050" dirty="0"/>
          </a:p>
        </p:txBody>
      </p:sp>
      <p:sp>
        <p:nvSpPr>
          <p:cNvPr id="17" name="Text 13"/>
          <p:cNvSpPr/>
          <p:nvPr/>
        </p:nvSpPr>
        <p:spPr>
          <a:xfrm>
            <a:off x="548640" y="3035808"/>
            <a:ext cx="3840480" cy="365760"/>
          </a:xfrm>
          <a:prstGeom prst="rect">
            <a:avLst/>
          </a:prstGeom>
          <a:noFill/>
          <a:ln/>
        </p:spPr>
        <p:txBody>
          <a:bodyPr wrap="square" lIns="0" tIns="0" rIns="0" bIns="0" rtlCol="0" anchor="ctr"/>
          <a:lstStyle/>
          <a:p>
            <a:pPr algn="l" indent="0" marL="0">
              <a:buNone/>
            </a:pPr>
            <a:r>
              <a:rPr lang="en-US" sz="1050" dirty="0">
                <a:solidFill>
                  <a:srgbClr val="B0BEC5"/>
                </a:solidFill>
                <a:latin typeface="Arial" pitchFamily="34" charset="0"/>
                <a:ea typeface="Arial" pitchFamily="34" charset="-122"/>
                <a:cs typeface="Arial" pitchFamily="34" charset="-120"/>
              </a:rPr>
              <a:t>• Debris conjunction expected in 3.5 hours (TBA-4821 at 4.2 km).</a:t>
            </a:r>
            <a:endParaRPr lang="en-US" sz="1050" dirty="0"/>
          </a:p>
        </p:txBody>
      </p:sp>
      <p:sp>
        <p:nvSpPr>
          <p:cNvPr id="18" name="Text 14"/>
          <p:cNvSpPr/>
          <p:nvPr/>
        </p:nvSpPr>
        <p:spPr>
          <a:xfrm>
            <a:off x="548640" y="3465576"/>
            <a:ext cx="3840480" cy="365760"/>
          </a:xfrm>
          <a:prstGeom prst="rect">
            <a:avLst/>
          </a:prstGeom>
          <a:noFill/>
          <a:ln/>
        </p:spPr>
        <p:txBody>
          <a:bodyPr wrap="square" lIns="0" tIns="0" rIns="0" bIns="0" rtlCol="0" anchor="ctr"/>
          <a:lstStyle/>
          <a:p>
            <a:pPr algn="l" indent="0" marL="0">
              <a:buNone/>
            </a:pPr>
            <a:r>
              <a:rPr lang="en-US" sz="1050" b="1" dirty="0">
                <a:solidFill>
                  <a:srgbClr val="00E5FF"/>
                </a:solidFill>
                <a:latin typeface="Arial" pitchFamily="34" charset="0"/>
                <a:ea typeface="Arial" pitchFamily="34" charset="-122"/>
                <a:cs typeface="Arial" pitchFamily="34" charset="-120"/>
              </a:rPr>
              <a:t>• Recommend DELAYING maneuver by 6 hours until storm conditions improve.</a:t>
            </a:r>
            <a:endParaRPr lang="en-US" sz="1050" dirty="0"/>
          </a:p>
        </p:txBody>
      </p:sp>
      <p:sp>
        <p:nvSpPr>
          <p:cNvPr id="19" name="Text 15"/>
          <p:cNvSpPr/>
          <p:nvPr/>
        </p:nvSpPr>
        <p:spPr>
          <a:xfrm>
            <a:off x="548640" y="3895344"/>
            <a:ext cx="3840480" cy="365760"/>
          </a:xfrm>
          <a:prstGeom prst="rect">
            <a:avLst/>
          </a:prstGeom>
          <a:noFill/>
          <a:ln/>
        </p:spPr>
        <p:txBody>
          <a:bodyPr wrap="square" lIns="0" tIns="0" rIns="0" bIns="0" rtlCol="0" anchor="ctr"/>
          <a:lstStyle/>
          <a:p>
            <a:pPr algn="l" indent="0" marL="0">
              <a:buNone/>
            </a:pPr>
            <a:r>
              <a:rPr lang="en-US" sz="1050" dirty="0">
                <a:solidFill>
                  <a:srgbClr val="B0BEC5"/>
                </a:solidFill>
                <a:latin typeface="Arial" pitchFamily="34" charset="0"/>
                <a:ea typeface="Arial" pitchFamily="34" charset="-122"/>
                <a:cs typeface="Arial" pitchFamily="34" charset="-120"/>
              </a:rPr>
              <a:t>• Monitor thruster temperature every 15 minutes.</a:t>
            </a:r>
            <a:endParaRPr lang="en-US" sz="1050" dirty="0"/>
          </a:p>
        </p:txBody>
      </p:sp>
      <p:sp>
        <p:nvSpPr>
          <p:cNvPr id="20" name="Text 16"/>
          <p:cNvSpPr/>
          <p:nvPr/>
        </p:nvSpPr>
        <p:spPr>
          <a:xfrm>
            <a:off x="548640" y="4325112"/>
            <a:ext cx="3840480" cy="365760"/>
          </a:xfrm>
          <a:prstGeom prst="rect">
            <a:avLst/>
          </a:prstGeom>
          <a:noFill/>
          <a:ln/>
        </p:spPr>
        <p:txBody>
          <a:bodyPr wrap="square" lIns="0" tIns="0" rIns="0" bIns="0" rtlCol="0" anchor="ctr"/>
          <a:lstStyle/>
          <a:p>
            <a:pPr algn="l" indent="0" marL="0">
              <a:buNone/>
            </a:pPr>
            <a:r>
              <a:rPr lang="en-US" sz="1050" dirty="0">
                <a:solidFill>
                  <a:srgbClr val="B0BEC5"/>
                </a:solidFill>
                <a:latin typeface="Arial" pitchFamily="34" charset="0"/>
                <a:ea typeface="Arial" pitchFamily="34" charset="-122"/>
                <a:cs typeface="Arial" pitchFamily="34" charset="-120"/>
              </a:rPr>
              <a:t>• Issue standby notification to ground operations team.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A14"/>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80E1C"/>
          </a:solidFill>
          <a:ln w="12700">
            <a:solidFill>
              <a:srgbClr val="080E1C"/>
            </a:solidFill>
            <a:prstDash val="solid"/>
          </a:ln>
        </p:spPr>
      </p:sp>
      <p:sp>
        <p:nvSpPr>
          <p:cNvPr id="3" name="Text 1"/>
          <p:cNvSpPr/>
          <p:nvPr/>
        </p:nvSpPr>
        <p:spPr>
          <a:xfrm>
            <a:off x="365760" y="201168"/>
            <a:ext cx="8412480" cy="347472"/>
          </a:xfrm>
          <a:prstGeom prst="rect">
            <a:avLst/>
          </a:prstGeom>
          <a:noFill/>
          <a:ln/>
        </p:spPr>
        <p:txBody>
          <a:bodyPr wrap="square" lIns="0" tIns="0" rIns="0" bIns="0" rtlCol="0" anchor="ctr"/>
          <a:lstStyle/>
          <a:p>
            <a:pPr algn="l" indent="0" marL="0">
              <a:buNone/>
            </a:pPr>
            <a:r>
              <a:rPr lang="en-US" sz="1000" b="1" spc="300" kern="0" dirty="0">
                <a:solidFill>
                  <a:srgbClr val="2979FF"/>
                </a:solidFill>
                <a:latin typeface="Arial" pitchFamily="34" charset="0"/>
                <a:ea typeface="Arial" pitchFamily="34" charset="-122"/>
                <a:cs typeface="Arial" pitchFamily="34" charset="-120"/>
              </a:rPr>
              <a:t>SAT-7 LIVE MISSION SCENARIO  —  END-TO-END WORKFLOW</a:t>
            </a:r>
            <a:endParaRPr lang="en-US" sz="1000" dirty="0"/>
          </a:p>
        </p:txBody>
      </p:sp>
      <p:sp>
        <p:nvSpPr>
          <p:cNvPr id="4" name="Shape 2"/>
          <p:cNvSpPr/>
          <p:nvPr/>
        </p:nvSpPr>
        <p:spPr>
          <a:xfrm>
            <a:off x="320040" y="914400"/>
            <a:ext cx="475488" cy="475488"/>
          </a:xfrm>
          <a:prstGeom prst="ellipse">
            <a:avLst/>
          </a:prstGeom>
          <a:solidFill>
            <a:srgbClr val="00E676">
              <a:alpha val="28000"/>
            </a:srgbClr>
          </a:solidFill>
          <a:ln w="12700">
            <a:solidFill>
              <a:srgbClr val="00E676">
                <a:alpha val="70000"/>
              </a:srgbClr>
            </a:solidFill>
            <a:prstDash val="solid"/>
          </a:ln>
        </p:spPr>
      </p:sp>
      <p:sp>
        <p:nvSpPr>
          <p:cNvPr id="5" name="Text 3"/>
          <p:cNvSpPr/>
          <p:nvPr/>
        </p:nvSpPr>
        <p:spPr>
          <a:xfrm>
            <a:off x="320040" y="923544"/>
            <a:ext cx="475488" cy="457200"/>
          </a:xfrm>
          <a:prstGeom prst="rect">
            <a:avLst/>
          </a:prstGeom>
          <a:noFill/>
          <a:ln/>
        </p:spPr>
        <p:txBody>
          <a:bodyPr wrap="square" lIns="0" tIns="0" rIns="0" bIns="0" rtlCol="0" anchor="ctr"/>
          <a:lstStyle/>
          <a:p>
            <a:pPr algn="ctr" indent="0" marL="0">
              <a:buNone/>
            </a:pPr>
            <a:r>
              <a:rPr lang="en-US" sz="1100" b="1" dirty="0">
                <a:solidFill>
                  <a:srgbClr val="00E676"/>
                </a:solidFill>
                <a:latin typeface="Arial" pitchFamily="34" charset="0"/>
                <a:ea typeface="Arial" pitchFamily="34" charset="-122"/>
                <a:cs typeface="Arial" pitchFamily="34" charset="-120"/>
              </a:rPr>
              <a:t>01</a:t>
            </a:r>
            <a:endParaRPr lang="en-US" sz="1100" dirty="0"/>
          </a:p>
        </p:txBody>
      </p:sp>
      <p:sp>
        <p:nvSpPr>
          <p:cNvPr id="6" name="Text 4"/>
          <p:cNvSpPr/>
          <p:nvPr/>
        </p:nvSpPr>
        <p:spPr>
          <a:xfrm>
            <a:off x="886968" y="886968"/>
            <a:ext cx="3200400" cy="292608"/>
          </a:xfrm>
          <a:prstGeom prst="rect">
            <a:avLst/>
          </a:prstGeom>
          <a:noFill/>
          <a:ln/>
        </p:spPr>
        <p:txBody>
          <a:bodyPr wrap="square" lIns="0" tIns="0" rIns="0" bIns="0" rtlCol="0" anchor="ctr"/>
          <a:lstStyle/>
          <a:p>
            <a:pPr algn="l" indent="0" marL="0">
              <a:buNone/>
            </a:pPr>
            <a:r>
              <a:rPr lang="en-US" sz="1100" b="1" dirty="0">
                <a:solidFill>
                  <a:srgbClr val="00E676"/>
                </a:solidFill>
                <a:latin typeface="Arial" pitchFamily="34" charset="0"/>
                <a:ea typeface="Arial" pitchFamily="34" charset="-122"/>
                <a:cs typeface="Arial" pitchFamily="34" charset="-120"/>
              </a:rPr>
              <a:t>NOMINAL</a:t>
            </a:r>
            <a:endParaRPr lang="en-US" sz="1100" dirty="0"/>
          </a:p>
        </p:txBody>
      </p:sp>
      <p:sp>
        <p:nvSpPr>
          <p:cNvPr id="7" name="Text 5"/>
          <p:cNvSpPr/>
          <p:nvPr/>
        </p:nvSpPr>
        <p:spPr>
          <a:xfrm>
            <a:off x="886968" y="1161288"/>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Health: 92 / 100 · All systems green</a:t>
            </a:r>
            <a:endParaRPr lang="en-US" sz="950" dirty="0"/>
          </a:p>
        </p:txBody>
      </p:sp>
      <p:sp>
        <p:nvSpPr>
          <p:cNvPr id="8" name="Shape 6"/>
          <p:cNvSpPr/>
          <p:nvPr/>
        </p:nvSpPr>
        <p:spPr>
          <a:xfrm>
            <a:off x="539496" y="1399032"/>
            <a:ext cx="0" cy="347472"/>
          </a:xfrm>
          <a:prstGeom prst="line">
            <a:avLst/>
          </a:prstGeom>
          <a:noFill/>
          <a:ln w="12700">
            <a:solidFill>
              <a:srgbClr val="00E676">
                <a:alpha val="40000"/>
              </a:srgbClr>
            </a:solidFill>
            <a:prstDash val="dash"/>
          </a:ln>
        </p:spPr>
      </p:sp>
      <p:sp>
        <p:nvSpPr>
          <p:cNvPr id="9" name="Shape 7"/>
          <p:cNvSpPr/>
          <p:nvPr/>
        </p:nvSpPr>
        <p:spPr>
          <a:xfrm>
            <a:off x="320040" y="1755648"/>
            <a:ext cx="475488" cy="475488"/>
          </a:xfrm>
          <a:prstGeom prst="ellipse">
            <a:avLst/>
          </a:prstGeom>
          <a:solidFill>
            <a:srgbClr val="FFD600">
              <a:alpha val="28000"/>
            </a:srgbClr>
          </a:solidFill>
          <a:ln w="12700">
            <a:solidFill>
              <a:srgbClr val="FFD600">
                <a:alpha val="70000"/>
              </a:srgbClr>
            </a:solidFill>
            <a:prstDash val="solid"/>
          </a:ln>
        </p:spPr>
      </p:sp>
      <p:sp>
        <p:nvSpPr>
          <p:cNvPr id="10" name="Text 8"/>
          <p:cNvSpPr/>
          <p:nvPr/>
        </p:nvSpPr>
        <p:spPr>
          <a:xfrm>
            <a:off x="320040" y="1764792"/>
            <a:ext cx="475488" cy="457200"/>
          </a:xfrm>
          <a:prstGeom prst="rect">
            <a:avLst/>
          </a:prstGeom>
          <a:noFill/>
          <a:ln/>
        </p:spPr>
        <p:txBody>
          <a:bodyPr wrap="square" lIns="0" tIns="0" rIns="0" bIns="0" rtlCol="0" anchor="ctr"/>
          <a:lstStyle/>
          <a:p>
            <a:pPr algn="ctr" indent="0" marL="0">
              <a:buNone/>
            </a:pPr>
            <a:r>
              <a:rPr lang="en-US" sz="1100" b="1" dirty="0">
                <a:solidFill>
                  <a:srgbClr val="FFD600"/>
                </a:solidFill>
                <a:latin typeface="Arial" pitchFamily="34" charset="0"/>
                <a:ea typeface="Arial" pitchFamily="34" charset="-122"/>
                <a:cs typeface="Arial" pitchFamily="34" charset="-120"/>
              </a:rPr>
              <a:t>02</a:t>
            </a:r>
            <a:endParaRPr lang="en-US" sz="1100" dirty="0"/>
          </a:p>
        </p:txBody>
      </p:sp>
      <p:sp>
        <p:nvSpPr>
          <p:cNvPr id="11" name="Text 9"/>
          <p:cNvSpPr/>
          <p:nvPr/>
        </p:nvSpPr>
        <p:spPr>
          <a:xfrm>
            <a:off x="886968" y="1728216"/>
            <a:ext cx="3200400" cy="292608"/>
          </a:xfrm>
          <a:prstGeom prst="rect">
            <a:avLst/>
          </a:prstGeom>
          <a:noFill/>
          <a:ln/>
        </p:spPr>
        <p:txBody>
          <a:bodyPr wrap="square" lIns="0" tIns="0" rIns="0" bIns="0" rtlCol="0" anchor="ctr"/>
          <a:lstStyle/>
          <a:p>
            <a:pPr algn="l" indent="0" marL="0">
              <a:buNone/>
            </a:pPr>
            <a:r>
              <a:rPr lang="en-US" sz="1100" b="1" dirty="0">
                <a:solidFill>
                  <a:srgbClr val="FFD600"/>
                </a:solidFill>
                <a:latin typeface="Arial" pitchFamily="34" charset="0"/>
                <a:ea typeface="Arial" pitchFamily="34" charset="-122"/>
                <a:cs typeface="Arial" pitchFamily="34" charset="-120"/>
              </a:rPr>
              <a:t>ANOMALY</a:t>
            </a:r>
            <a:endParaRPr lang="en-US" sz="1100" dirty="0"/>
          </a:p>
        </p:txBody>
      </p:sp>
      <p:sp>
        <p:nvSpPr>
          <p:cNvPr id="12" name="Text 10"/>
          <p:cNvSpPr/>
          <p:nvPr/>
        </p:nvSpPr>
        <p:spPr>
          <a:xfrm>
            <a:off x="886968" y="2002536"/>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Thruster temp spikes to 340°C</a:t>
            </a:r>
            <a:endParaRPr lang="en-US" sz="950" dirty="0"/>
          </a:p>
        </p:txBody>
      </p:sp>
      <p:sp>
        <p:nvSpPr>
          <p:cNvPr id="13" name="Shape 11"/>
          <p:cNvSpPr/>
          <p:nvPr/>
        </p:nvSpPr>
        <p:spPr>
          <a:xfrm>
            <a:off x="539496" y="2240280"/>
            <a:ext cx="0" cy="347472"/>
          </a:xfrm>
          <a:prstGeom prst="line">
            <a:avLst/>
          </a:prstGeom>
          <a:noFill/>
          <a:ln w="12700">
            <a:solidFill>
              <a:srgbClr val="FFD600">
                <a:alpha val="40000"/>
              </a:srgbClr>
            </a:solidFill>
            <a:prstDash val="dash"/>
          </a:ln>
        </p:spPr>
      </p:sp>
      <p:sp>
        <p:nvSpPr>
          <p:cNvPr id="14" name="Shape 12"/>
          <p:cNvSpPr/>
          <p:nvPr/>
        </p:nvSpPr>
        <p:spPr>
          <a:xfrm>
            <a:off x="320040" y="2596896"/>
            <a:ext cx="475488" cy="475488"/>
          </a:xfrm>
          <a:prstGeom prst="ellipse">
            <a:avLst/>
          </a:prstGeom>
          <a:solidFill>
            <a:srgbClr val="FF1744">
              <a:alpha val="28000"/>
            </a:srgbClr>
          </a:solidFill>
          <a:ln w="12700">
            <a:solidFill>
              <a:srgbClr val="FF1744">
                <a:alpha val="70000"/>
              </a:srgbClr>
            </a:solidFill>
            <a:prstDash val="solid"/>
          </a:ln>
        </p:spPr>
      </p:sp>
      <p:sp>
        <p:nvSpPr>
          <p:cNvPr id="15" name="Text 13"/>
          <p:cNvSpPr/>
          <p:nvPr/>
        </p:nvSpPr>
        <p:spPr>
          <a:xfrm>
            <a:off x="320040" y="2606040"/>
            <a:ext cx="475488" cy="457200"/>
          </a:xfrm>
          <a:prstGeom prst="rect">
            <a:avLst/>
          </a:prstGeom>
          <a:noFill/>
          <a:ln/>
        </p:spPr>
        <p:txBody>
          <a:bodyPr wrap="square" lIns="0" tIns="0" rIns="0" bIns="0" rtlCol="0" anchor="ctr"/>
          <a:lstStyle/>
          <a:p>
            <a:pPr algn="ctr" indent="0" marL="0">
              <a:buNone/>
            </a:pPr>
            <a:r>
              <a:rPr lang="en-US" sz="1100" b="1" dirty="0">
                <a:solidFill>
                  <a:srgbClr val="FF1744"/>
                </a:solidFill>
                <a:latin typeface="Arial" pitchFamily="34" charset="0"/>
                <a:ea typeface="Arial" pitchFamily="34" charset="-122"/>
                <a:cs typeface="Arial" pitchFamily="34" charset="-120"/>
              </a:rPr>
              <a:t>03</a:t>
            </a:r>
            <a:endParaRPr lang="en-US" sz="1100" dirty="0"/>
          </a:p>
        </p:txBody>
      </p:sp>
      <p:sp>
        <p:nvSpPr>
          <p:cNvPr id="16" name="Text 14"/>
          <p:cNvSpPr/>
          <p:nvPr/>
        </p:nvSpPr>
        <p:spPr>
          <a:xfrm>
            <a:off x="886968" y="2569464"/>
            <a:ext cx="3200400" cy="292608"/>
          </a:xfrm>
          <a:prstGeom prst="rect">
            <a:avLst/>
          </a:prstGeom>
          <a:noFill/>
          <a:ln/>
        </p:spPr>
        <p:txBody>
          <a:bodyPr wrap="square" lIns="0" tIns="0" rIns="0" bIns="0" rtlCol="0" anchor="ctr"/>
          <a:lstStyle/>
          <a:p>
            <a:pPr algn="l" indent="0" marL="0">
              <a:buNone/>
            </a:pPr>
            <a:r>
              <a:rPr lang="en-US" sz="1100" b="1" dirty="0">
                <a:solidFill>
                  <a:srgbClr val="FF1744"/>
                </a:solidFill>
                <a:latin typeface="Arial" pitchFamily="34" charset="0"/>
                <a:ea typeface="Arial" pitchFamily="34" charset="-122"/>
                <a:cs typeface="Arial" pitchFamily="34" charset="-120"/>
              </a:rPr>
              <a:t>ALERT</a:t>
            </a:r>
            <a:endParaRPr lang="en-US" sz="1100" dirty="0"/>
          </a:p>
        </p:txBody>
      </p:sp>
      <p:sp>
        <p:nvSpPr>
          <p:cNvPr id="17" name="Text 15"/>
          <p:cNvSpPr/>
          <p:nvPr/>
        </p:nvSpPr>
        <p:spPr>
          <a:xfrm>
            <a:off x="886968" y="2843784"/>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Health drops · Anomaly detected</a:t>
            </a:r>
            <a:endParaRPr lang="en-US" sz="950" dirty="0"/>
          </a:p>
        </p:txBody>
      </p:sp>
      <p:sp>
        <p:nvSpPr>
          <p:cNvPr id="18" name="Shape 16"/>
          <p:cNvSpPr/>
          <p:nvPr/>
        </p:nvSpPr>
        <p:spPr>
          <a:xfrm>
            <a:off x="539496" y="3081528"/>
            <a:ext cx="0" cy="347472"/>
          </a:xfrm>
          <a:prstGeom prst="line">
            <a:avLst/>
          </a:prstGeom>
          <a:noFill/>
          <a:ln w="12700">
            <a:solidFill>
              <a:srgbClr val="FF1744">
                <a:alpha val="40000"/>
              </a:srgbClr>
            </a:solidFill>
            <a:prstDash val="dash"/>
          </a:ln>
        </p:spPr>
      </p:sp>
      <p:sp>
        <p:nvSpPr>
          <p:cNvPr id="19" name="Shape 17"/>
          <p:cNvSpPr/>
          <p:nvPr/>
        </p:nvSpPr>
        <p:spPr>
          <a:xfrm>
            <a:off x="320040" y="3438144"/>
            <a:ext cx="475488" cy="475488"/>
          </a:xfrm>
          <a:prstGeom prst="ellipse">
            <a:avLst/>
          </a:prstGeom>
          <a:solidFill>
            <a:srgbClr val="FF1744">
              <a:alpha val="28000"/>
            </a:srgbClr>
          </a:solidFill>
          <a:ln w="12700">
            <a:solidFill>
              <a:srgbClr val="FF1744">
                <a:alpha val="70000"/>
              </a:srgbClr>
            </a:solidFill>
            <a:prstDash val="solid"/>
          </a:ln>
        </p:spPr>
      </p:sp>
      <p:sp>
        <p:nvSpPr>
          <p:cNvPr id="20" name="Text 18"/>
          <p:cNvSpPr/>
          <p:nvPr/>
        </p:nvSpPr>
        <p:spPr>
          <a:xfrm>
            <a:off x="320040" y="3447288"/>
            <a:ext cx="475488" cy="457200"/>
          </a:xfrm>
          <a:prstGeom prst="rect">
            <a:avLst/>
          </a:prstGeom>
          <a:noFill/>
          <a:ln/>
        </p:spPr>
        <p:txBody>
          <a:bodyPr wrap="square" lIns="0" tIns="0" rIns="0" bIns="0" rtlCol="0" anchor="ctr"/>
          <a:lstStyle/>
          <a:p>
            <a:pPr algn="ctr" indent="0" marL="0">
              <a:buNone/>
            </a:pPr>
            <a:r>
              <a:rPr lang="en-US" sz="1100" b="1" dirty="0">
                <a:solidFill>
                  <a:srgbClr val="FF1744"/>
                </a:solidFill>
                <a:latin typeface="Arial" pitchFamily="34" charset="0"/>
                <a:ea typeface="Arial" pitchFamily="34" charset="-122"/>
                <a:cs typeface="Arial" pitchFamily="34" charset="-120"/>
              </a:rPr>
              <a:t>04</a:t>
            </a:r>
            <a:endParaRPr lang="en-US" sz="1100" dirty="0"/>
          </a:p>
        </p:txBody>
      </p:sp>
      <p:sp>
        <p:nvSpPr>
          <p:cNvPr id="21" name="Text 19"/>
          <p:cNvSpPr/>
          <p:nvPr/>
        </p:nvSpPr>
        <p:spPr>
          <a:xfrm>
            <a:off x="886968" y="3410712"/>
            <a:ext cx="3200400" cy="292608"/>
          </a:xfrm>
          <a:prstGeom prst="rect">
            <a:avLst/>
          </a:prstGeom>
          <a:noFill/>
          <a:ln/>
        </p:spPr>
        <p:txBody>
          <a:bodyPr wrap="square" lIns="0" tIns="0" rIns="0" bIns="0" rtlCol="0" anchor="ctr"/>
          <a:lstStyle/>
          <a:p>
            <a:pPr algn="l" indent="0" marL="0">
              <a:buNone/>
            </a:pPr>
            <a:r>
              <a:rPr lang="en-US" sz="1100" b="1" dirty="0">
                <a:solidFill>
                  <a:srgbClr val="FF1744"/>
                </a:solidFill>
                <a:latin typeface="Arial" pitchFamily="34" charset="0"/>
                <a:ea typeface="Arial" pitchFamily="34" charset="-122"/>
                <a:cs typeface="Arial" pitchFamily="34" charset="-120"/>
              </a:rPr>
              <a:t>DEBRIS</a:t>
            </a:r>
            <a:endParaRPr lang="en-US" sz="1100" dirty="0"/>
          </a:p>
        </p:txBody>
      </p:sp>
      <p:sp>
        <p:nvSpPr>
          <p:cNvPr id="22" name="Text 20"/>
          <p:cNvSpPr/>
          <p:nvPr/>
        </p:nvSpPr>
        <p:spPr>
          <a:xfrm>
            <a:off x="886968" y="3685032"/>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TBA-4821 at 4.2 km · 3.5h to conjunction</a:t>
            </a:r>
            <a:endParaRPr lang="en-US" sz="950" dirty="0"/>
          </a:p>
        </p:txBody>
      </p:sp>
      <p:sp>
        <p:nvSpPr>
          <p:cNvPr id="23" name="Shape 21"/>
          <p:cNvSpPr/>
          <p:nvPr/>
        </p:nvSpPr>
        <p:spPr>
          <a:xfrm>
            <a:off x="539496" y="3922776"/>
            <a:ext cx="0" cy="347472"/>
          </a:xfrm>
          <a:prstGeom prst="line">
            <a:avLst/>
          </a:prstGeom>
          <a:noFill/>
          <a:ln w="12700">
            <a:solidFill>
              <a:srgbClr val="FF1744">
                <a:alpha val="40000"/>
              </a:srgbClr>
            </a:solidFill>
            <a:prstDash val="dash"/>
          </a:ln>
        </p:spPr>
      </p:sp>
      <p:sp>
        <p:nvSpPr>
          <p:cNvPr id="24" name="Shape 22"/>
          <p:cNvSpPr/>
          <p:nvPr/>
        </p:nvSpPr>
        <p:spPr>
          <a:xfrm>
            <a:off x="320040" y="4279392"/>
            <a:ext cx="475488" cy="475488"/>
          </a:xfrm>
          <a:prstGeom prst="ellipse">
            <a:avLst/>
          </a:prstGeom>
          <a:solidFill>
            <a:srgbClr val="FFD600">
              <a:alpha val="28000"/>
            </a:srgbClr>
          </a:solidFill>
          <a:ln w="12700">
            <a:solidFill>
              <a:srgbClr val="FFD600">
                <a:alpha val="70000"/>
              </a:srgbClr>
            </a:solidFill>
            <a:prstDash val="solid"/>
          </a:ln>
        </p:spPr>
      </p:sp>
      <p:sp>
        <p:nvSpPr>
          <p:cNvPr id="25" name="Text 23"/>
          <p:cNvSpPr/>
          <p:nvPr/>
        </p:nvSpPr>
        <p:spPr>
          <a:xfrm>
            <a:off x="320040" y="4288536"/>
            <a:ext cx="475488" cy="457200"/>
          </a:xfrm>
          <a:prstGeom prst="rect">
            <a:avLst/>
          </a:prstGeom>
          <a:noFill/>
          <a:ln/>
        </p:spPr>
        <p:txBody>
          <a:bodyPr wrap="square" lIns="0" tIns="0" rIns="0" bIns="0" rtlCol="0" anchor="ctr"/>
          <a:lstStyle/>
          <a:p>
            <a:pPr algn="ctr" indent="0" marL="0">
              <a:buNone/>
            </a:pPr>
            <a:r>
              <a:rPr lang="en-US" sz="1100" b="1" dirty="0">
                <a:solidFill>
                  <a:srgbClr val="FFD600"/>
                </a:solidFill>
                <a:latin typeface="Arial" pitchFamily="34" charset="0"/>
                <a:ea typeface="Arial" pitchFamily="34" charset="-122"/>
                <a:cs typeface="Arial" pitchFamily="34" charset="-120"/>
              </a:rPr>
              <a:t>05</a:t>
            </a:r>
            <a:endParaRPr lang="en-US" sz="1100" dirty="0"/>
          </a:p>
        </p:txBody>
      </p:sp>
      <p:sp>
        <p:nvSpPr>
          <p:cNvPr id="26" name="Text 24"/>
          <p:cNvSpPr/>
          <p:nvPr/>
        </p:nvSpPr>
        <p:spPr>
          <a:xfrm>
            <a:off x="886968" y="4251960"/>
            <a:ext cx="3200400" cy="292608"/>
          </a:xfrm>
          <a:prstGeom prst="rect">
            <a:avLst/>
          </a:prstGeom>
          <a:noFill/>
          <a:ln/>
        </p:spPr>
        <p:txBody>
          <a:bodyPr wrap="square" lIns="0" tIns="0" rIns="0" bIns="0" rtlCol="0" anchor="ctr"/>
          <a:lstStyle/>
          <a:p>
            <a:pPr algn="l" indent="0" marL="0">
              <a:buNone/>
            </a:pPr>
            <a:r>
              <a:rPr lang="en-US" sz="1100" b="1" dirty="0">
                <a:solidFill>
                  <a:srgbClr val="FFD600"/>
                </a:solidFill>
                <a:latin typeface="Arial" pitchFamily="34" charset="0"/>
                <a:ea typeface="Arial" pitchFamily="34" charset="-122"/>
                <a:cs typeface="Arial" pitchFamily="34" charset="-120"/>
              </a:rPr>
              <a:t>STORM</a:t>
            </a:r>
            <a:endParaRPr lang="en-US" sz="1100" dirty="0"/>
          </a:p>
        </p:txBody>
      </p:sp>
      <p:sp>
        <p:nvSpPr>
          <p:cNvPr id="27" name="Text 25"/>
          <p:cNvSpPr/>
          <p:nvPr/>
        </p:nvSpPr>
        <p:spPr>
          <a:xfrm>
            <a:off x="886968" y="4526280"/>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Kp = 7 · G3 geomagnetic storm warning</a:t>
            </a:r>
            <a:endParaRPr lang="en-US" sz="950" dirty="0"/>
          </a:p>
        </p:txBody>
      </p:sp>
      <p:sp>
        <p:nvSpPr>
          <p:cNvPr id="28" name="Shape 26"/>
          <p:cNvSpPr/>
          <p:nvPr/>
        </p:nvSpPr>
        <p:spPr>
          <a:xfrm>
            <a:off x="4754880" y="914400"/>
            <a:ext cx="475488" cy="475488"/>
          </a:xfrm>
          <a:prstGeom prst="ellipse">
            <a:avLst/>
          </a:prstGeom>
          <a:solidFill>
            <a:srgbClr val="FF1744">
              <a:alpha val="28000"/>
            </a:srgbClr>
          </a:solidFill>
          <a:ln w="12700">
            <a:solidFill>
              <a:srgbClr val="FF1744">
                <a:alpha val="70000"/>
              </a:srgbClr>
            </a:solidFill>
            <a:prstDash val="solid"/>
          </a:ln>
        </p:spPr>
      </p:sp>
      <p:sp>
        <p:nvSpPr>
          <p:cNvPr id="29" name="Text 27"/>
          <p:cNvSpPr/>
          <p:nvPr/>
        </p:nvSpPr>
        <p:spPr>
          <a:xfrm>
            <a:off x="4754880" y="923544"/>
            <a:ext cx="475488" cy="457200"/>
          </a:xfrm>
          <a:prstGeom prst="rect">
            <a:avLst/>
          </a:prstGeom>
          <a:noFill/>
          <a:ln/>
        </p:spPr>
        <p:txBody>
          <a:bodyPr wrap="square" lIns="0" tIns="0" rIns="0" bIns="0" rtlCol="0" anchor="ctr"/>
          <a:lstStyle/>
          <a:p>
            <a:pPr algn="ctr" indent="0" marL="0">
              <a:buNone/>
            </a:pPr>
            <a:r>
              <a:rPr lang="en-US" sz="1100" b="1" dirty="0">
                <a:solidFill>
                  <a:srgbClr val="FF1744"/>
                </a:solidFill>
                <a:latin typeface="Arial" pitchFamily="34" charset="0"/>
                <a:ea typeface="Arial" pitchFamily="34" charset="-122"/>
                <a:cs typeface="Arial" pitchFamily="34" charset="-120"/>
              </a:rPr>
              <a:t>06</a:t>
            </a:r>
            <a:endParaRPr lang="en-US" sz="1100" dirty="0"/>
          </a:p>
        </p:txBody>
      </p:sp>
      <p:sp>
        <p:nvSpPr>
          <p:cNvPr id="30" name="Text 28"/>
          <p:cNvSpPr/>
          <p:nvPr/>
        </p:nvSpPr>
        <p:spPr>
          <a:xfrm>
            <a:off x="5321808" y="886968"/>
            <a:ext cx="3200400" cy="292608"/>
          </a:xfrm>
          <a:prstGeom prst="rect">
            <a:avLst/>
          </a:prstGeom>
          <a:noFill/>
          <a:ln/>
        </p:spPr>
        <p:txBody>
          <a:bodyPr wrap="square" lIns="0" tIns="0" rIns="0" bIns="0" rtlCol="0" anchor="ctr"/>
          <a:lstStyle/>
          <a:p>
            <a:pPr algn="l" indent="0" marL="0">
              <a:buNone/>
            </a:pPr>
            <a:r>
              <a:rPr lang="en-US" sz="1100" b="1" dirty="0">
                <a:solidFill>
                  <a:srgbClr val="FF1744"/>
                </a:solidFill>
                <a:latin typeface="Arial" pitchFamily="34" charset="0"/>
                <a:ea typeface="Arial" pitchFamily="34" charset="-122"/>
                <a:cs typeface="Arial" pitchFamily="34" charset="-120"/>
              </a:rPr>
              <a:t>PREDICTION</a:t>
            </a:r>
            <a:endParaRPr lang="en-US" sz="1100" dirty="0"/>
          </a:p>
        </p:txBody>
      </p:sp>
      <p:sp>
        <p:nvSpPr>
          <p:cNvPr id="31" name="Text 29"/>
          <p:cNvSpPr/>
          <p:nvPr/>
        </p:nvSpPr>
        <p:spPr>
          <a:xfrm>
            <a:off x="5321808" y="1161288"/>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XGBoost: 73% → 98% failure probability</a:t>
            </a:r>
            <a:endParaRPr lang="en-US" sz="950" dirty="0"/>
          </a:p>
        </p:txBody>
      </p:sp>
      <p:sp>
        <p:nvSpPr>
          <p:cNvPr id="32" name="Shape 30"/>
          <p:cNvSpPr/>
          <p:nvPr/>
        </p:nvSpPr>
        <p:spPr>
          <a:xfrm>
            <a:off x="4974336" y="1399032"/>
            <a:ext cx="0" cy="347472"/>
          </a:xfrm>
          <a:prstGeom prst="line">
            <a:avLst/>
          </a:prstGeom>
          <a:noFill/>
          <a:ln w="12700">
            <a:solidFill>
              <a:srgbClr val="FF1744">
                <a:alpha val="40000"/>
              </a:srgbClr>
            </a:solidFill>
            <a:prstDash val="dash"/>
          </a:ln>
        </p:spPr>
      </p:sp>
      <p:sp>
        <p:nvSpPr>
          <p:cNvPr id="33" name="Shape 31"/>
          <p:cNvSpPr/>
          <p:nvPr/>
        </p:nvSpPr>
        <p:spPr>
          <a:xfrm>
            <a:off x="4754880" y="1755648"/>
            <a:ext cx="475488" cy="475488"/>
          </a:xfrm>
          <a:prstGeom prst="ellipse">
            <a:avLst/>
          </a:prstGeom>
          <a:solidFill>
            <a:srgbClr val="AA00FF">
              <a:alpha val="28000"/>
            </a:srgbClr>
          </a:solidFill>
          <a:ln w="12700">
            <a:solidFill>
              <a:srgbClr val="AA00FF">
                <a:alpha val="70000"/>
              </a:srgbClr>
            </a:solidFill>
            <a:prstDash val="solid"/>
          </a:ln>
        </p:spPr>
      </p:sp>
      <p:sp>
        <p:nvSpPr>
          <p:cNvPr id="34" name="Text 32"/>
          <p:cNvSpPr/>
          <p:nvPr/>
        </p:nvSpPr>
        <p:spPr>
          <a:xfrm>
            <a:off x="4754880" y="1764792"/>
            <a:ext cx="475488" cy="457200"/>
          </a:xfrm>
          <a:prstGeom prst="rect">
            <a:avLst/>
          </a:prstGeom>
          <a:noFill/>
          <a:ln/>
        </p:spPr>
        <p:txBody>
          <a:bodyPr wrap="square" lIns="0" tIns="0" rIns="0" bIns="0" rtlCol="0" anchor="ctr"/>
          <a:lstStyle/>
          <a:p>
            <a:pPr algn="ctr" indent="0" marL="0">
              <a:buNone/>
            </a:pPr>
            <a:r>
              <a:rPr lang="en-US" sz="1100" b="1" dirty="0">
                <a:solidFill>
                  <a:srgbClr val="AA00FF"/>
                </a:solidFill>
                <a:latin typeface="Arial" pitchFamily="34" charset="0"/>
                <a:ea typeface="Arial" pitchFamily="34" charset="-122"/>
                <a:cs typeface="Arial" pitchFamily="34" charset="-120"/>
              </a:rPr>
              <a:t>07</a:t>
            </a:r>
            <a:endParaRPr lang="en-US" sz="1100" dirty="0"/>
          </a:p>
        </p:txBody>
      </p:sp>
      <p:sp>
        <p:nvSpPr>
          <p:cNvPr id="35" name="Text 33"/>
          <p:cNvSpPr/>
          <p:nvPr/>
        </p:nvSpPr>
        <p:spPr>
          <a:xfrm>
            <a:off x="5321808" y="1728216"/>
            <a:ext cx="3200400" cy="292608"/>
          </a:xfrm>
          <a:prstGeom prst="rect">
            <a:avLst/>
          </a:prstGeom>
          <a:noFill/>
          <a:ln/>
        </p:spPr>
        <p:txBody>
          <a:bodyPr wrap="square" lIns="0" tIns="0" rIns="0" bIns="0" rtlCol="0" anchor="ctr"/>
          <a:lstStyle/>
          <a:p>
            <a:pPr algn="l" indent="0" marL="0">
              <a:buNone/>
            </a:pPr>
            <a:r>
              <a:rPr lang="en-US" sz="1100" b="1" dirty="0">
                <a:solidFill>
                  <a:srgbClr val="AA00FF"/>
                </a:solidFill>
                <a:latin typeface="Arial" pitchFamily="34" charset="0"/>
                <a:ea typeface="Arial" pitchFamily="34" charset="-122"/>
                <a:cs typeface="Arial" pitchFamily="34" charset="-120"/>
              </a:rPr>
              <a:t>AI RESPONSE</a:t>
            </a:r>
            <a:endParaRPr lang="en-US" sz="1100" dirty="0"/>
          </a:p>
        </p:txBody>
      </p:sp>
      <p:sp>
        <p:nvSpPr>
          <p:cNvPr id="36" name="Text 34"/>
          <p:cNvSpPr/>
          <p:nvPr/>
        </p:nvSpPr>
        <p:spPr>
          <a:xfrm>
            <a:off x="5321808" y="2002536"/>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Co-pilot: Delay maneuver 6h · Monitor temp</a:t>
            </a:r>
            <a:endParaRPr lang="en-US" sz="950" dirty="0"/>
          </a:p>
        </p:txBody>
      </p:sp>
      <p:sp>
        <p:nvSpPr>
          <p:cNvPr id="37" name="Shape 35"/>
          <p:cNvSpPr/>
          <p:nvPr/>
        </p:nvSpPr>
        <p:spPr>
          <a:xfrm>
            <a:off x="4974336" y="2240280"/>
            <a:ext cx="0" cy="347472"/>
          </a:xfrm>
          <a:prstGeom prst="line">
            <a:avLst/>
          </a:prstGeom>
          <a:noFill/>
          <a:ln w="12700">
            <a:solidFill>
              <a:srgbClr val="AA00FF">
                <a:alpha val="40000"/>
              </a:srgbClr>
            </a:solidFill>
            <a:prstDash val="dash"/>
          </a:ln>
        </p:spPr>
      </p:sp>
      <p:sp>
        <p:nvSpPr>
          <p:cNvPr id="38" name="Shape 36"/>
          <p:cNvSpPr/>
          <p:nvPr/>
        </p:nvSpPr>
        <p:spPr>
          <a:xfrm>
            <a:off x="4754880" y="2596896"/>
            <a:ext cx="475488" cy="475488"/>
          </a:xfrm>
          <a:prstGeom prst="ellipse">
            <a:avLst/>
          </a:prstGeom>
          <a:solidFill>
            <a:srgbClr val="00E5FF">
              <a:alpha val="28000"/>
            </a:srgbClr>
          </a:solidFill>
          <a:ln w="12700">
            <a:solidFill>
              <a:srgbClr val="00E5FF">
                <a:alpha val="70000"/>
              </a:srgbClr>
            </a:solidFill>
            <a:prstDash val="solid"/>
          </a:ln>
        </p:spPr>
      </p:sp>
      <p:sp>
        <p:nvSpPr>
          <p:cNvPr id="39" name="Text 37"/>
          <p:cNvSpPr/>
          <p:nvPr/>
        </p:nvSpPr>
        <p:spPr>
          <a:xfrm>
            <a:off x="4754880" y="2606040"/>
            <a:ext cx="475488" cy="457200"/>
          </a:xfrm>
          <a:prstGeom prst="rect">
            <a:avLst/>
          </a:prstGeom>
          <a:noFill/>
          <a:ln/>
        </p:spPr>
        <p:txBody>
          <a:bodyPr wrap="square" lIns="0" tIns="0" rIns="0" bIns="0" rtlCol="0" anchor="ctr"/>
          <a:lstStyle/>
          <a:p>
            <a:pPr algn="ctr" indent="0" marL="0">
              <a:buNone/>
            </a:pPr>
            <a:r>
              <a:rPr lang="en-US" sz="1100" b="1" dirty="0">
                <a:solidFill>
                  <a:srgbClr val="00E5FF"/>
                </a:solidFill>
                <a:latin typeface="Arial" pitchFamily="34" charset="0"/>
                <a:ea typeface="Arial" pitchFamily="34" charset="-122"/>
                <a:cs typeface="Arial" pitchFamily="34" charset="-120"/>
              </a:rPr>
              <a:t>08</a:t>
            </a:r>
            <a:endParaRPr lang="en-US" sz="1100" dirty="0"/>
          </a:p>
        </p:txBody>
      </p:sp>
      <p:sp>
        <p:nvSpPr>
          <p:cNvPr id="40" name="Text 38"/>
          <p:cNvSpPr/>
          <p:nvPr/>
        </p:nvSpPr>
        <p:spPr>
          <a:xfrm>
            <a:off x="5321808" y="2569464"/>
            <a:ext cx="3200400" cy="292608"/>
          </a:xfrm>
          <a:prstGeom prst="rect">
            <a:avLst/>
          </a:prstGeom>
          <a:noFill/>
          <a:ln/>
        </p:spPr>
        <p:txBody>
          <a:bodyPr wrap="square" lIns="0" tIns="0" rIns="0" bIns="0" rtlCol="0" anchor="ctr"/>
          <a:lstStyle/>
          <a:p>
            <a:pPr algn="l" indent="0" marL="0">
              <a:buNone/>
            </a:pPr>
            <a:r>
              <a:rPr lang="en-US" sz="1100" b="1" dirty="0">
                <a:solidFill>
                  <a:srgbClr val="00E5FF"/>
                </a:solidFill>
                <a:latin typeface="Arial" pitchFamily="34" charset="0"/>
                <a:ea typeface="Arial" pitchFamily="34" charset="-122"/>
                <a:cs typeface="Arial" pitchFamily="34" charset="-120"/>
              </a:rPr>
              <a:t>REPORT</a:t>
            </a:r>
            <a:endParaRPr lang="en-US" sz="1100" dirty="0"/>
          </a:p>
        </p:txBody>
      </p:sp>
      <p:sp>
        <p:nvSpPr>
          <p:cNvPr id="41" name="Text 39"/>
          <p:cNvSpPr/>
          <p:nvPr/>
        </p:nvSpPr>
        <p:spPr>
          <a:xfrm>
            <a:off x="5321808" y="2843784"/>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Incident report auto-generated</a:t>
            </a:r>
            <a:endParaRPr lang="en-US" sz="950" dirty="0"/>
          </a:p>
        </p:txBody>
      </p:sp>
      <p:sp>
        <p:nvSpPr>
          <p:cNvPr id="42" name="Shape 40"/>
          <p:cNvSpPr/>
          <p:nvPr/>
        </p:nvSpPr>
        <p:spPr>
          <a:xfrm>
            <a:off x="4974336" y="3081528"/>
            <a:ext cx="0" cy="347472"/>
          </a:xfrm>
          <a:prstGeom prst="line">
            <a:avLst/>
          </a:prstGeom>
          <a:noFill/>
          <a:ln w="12700">
            <a:solidFill>
              <a:srgbClr val="00E5FF">
                <a:alpha val="40000"/>
              </a:srgbClr>
            </a:solidFill>
            <a:prstDash val="dash"/>
          </a:ln>
        </p:spPr>
      </p:sp>
      <p:sp>
        <p:nvSpPr>
          <p:cNvPr id="43" name="Shape 41"/>
          <p:cNvSpPr/>
          <p:nvPr/>
        </p:nvSpPr>
        <p:spPr>
          <a:xfrm>
            <a:off x="4754880" y="3438144"/>
            <a:ext cx="475488" cy="475488"/>
          </a:xfrm>
          <a:prstGeom prst="ellipse">
            <a:avLst/>
          </a:prstGeom>
          <a:solidFill>
            <a:srgbClr val="00E676">
              <a:alpha val="28000"/>
            </a:srgbClr>
          </a:solidFill>
          <a:ln w="12700">
            <a:solidFill>
              <a:srgbClr val="00E676">
                <a:alpha val="70000"/>
              </a:srgbClr>
            </a:solidFill>
            <a:prstDash val="solid"/>
          </a:ln>
        </p:spPr>
      </p:sp>
      <p:sp>
        <p:nvSpPr>
          <p:cNvPr id="44" name="Text 42"/>
          <p:cNvSpPr/>
          <p:nvPr/>
        </p:nvSpPr>
        <p:spPr>
          <a:xfrm>
            <a:off x="4754880" y="3447288"/>
            <a:ext cx="475488" cy="457200"/>
          </a:xfrm>
          <a:prstGeom prst="rect">
            <a:avLst/>
          </a:prstGeom>
          <a:noFill/>
          <a:ln/>
        </p:spPr>
        <p:txBody>
          <a:bodyPr wrap="square" lIns="0" tIns="0" rIns="0" bIns="0" rtlCol="0" anchor="ctr"/>
          <a:lstStyle/>
          <a:p>
            <a:pPr algn="ctr" indent="0" marL="0">
              <a:buNone/>
            </a:pPr>
            <a:r>
              <a:rPr lang="en-US" sz="1100" b="1" dirty="0">
                <a:solidFill>
                  <a:srgbClr val="00E676"/>
                </a:solidFill>
                <a:latin typeface="Arial" pitchFamily="34" charset="0"/>
                <a:ea typeface="Arial" pitchFamily="34" charset="-122"/>
                <a:cs typeface="Arial" pitchFamily="34" charset="-120"/>
              </a:rPr>
              <a:t>09</a:t>
            </a:r>
            <a:endParaRPr lang="en-US" sz="1100" dirty="0"/>
          </a:p>
        </p:txBody>
      </p:sp>
      <p:sp>
        <p:nvSpPr>
          <p:cNvPr id="45" name="Text 43"/>
          <p:cNvSpPr/>
          <p:nvPr/>
        </p:nvSpPr>
        <p:spPr>
          <a:xfrm>
            <a:off x="5321808" y="3410712"/>
            <a:ext cx="3200400" cy="292608"/>
          </a:xfrm>
          <a:prstGeom prst="rect">
            <a:avLst/>
          </a:prstGeom>
          <a:noFill/>
          <a:ln/>
        </p:spPr>
        <p:txBody>
          <a:bodyPr wrap="square" lIns="0" tIns="0" rIns="0" bIns="0" rtlCol="0" anchor="ctr"/>
          <a:lstStyle/>
          <a:p>
            <a:pPr algn="l" indent="0" marL="0">
              <a:buNone/>
            </a:pPr>
            <a:r>
              <a:rPr lang="en-US" sz="1100" b="1" dirty="0">
                <a:solidFill>
                  <a:srgbClr val="00E676"/>
                </a:solidFill>
                <a:latin typeface="Arial" pitchFamily="34" charset="0"/>
                <a:ea typeface="Arial" pitchFamily="34" charset="-122"/>
                <a:cs typeface="Arial" pitchFamily="34" charset="-120"/>
              </a:rPr>
              <a:t>SIMULATION</a:t>
            </a:r>
            <a:endParaRPr lang="en-US" sz="1100" dirty="0"/>
          </a:p>
        </p:txBody>
      </p:sp>
      <p:sp>
        <p:nvSpPr>
          <p:cNvPr id="46" name="Text 44"/>
          <p:cNvSpPr/>
          <p:nvPr/>
        </p:nvSpPr>
        <p:spPr>
          <a:xfrm>
            <a:off x="5321808" y="3685032"/>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What-If: Reduce thruster load → Health: 81</a:t>
            </a:r>
            <a:endParaRPr lang="en-US" sz="950" dirty="0"/>
          </a:p>
        </p:txBody>
      </p:sp>
      <p:sp>
        <p:nvSpPr>
          <p:cNvPr id="47" name="Shape 45"/>
          <p:cNvSpPr/>
          <p:nvPr/>
        </p:nvSpPr>
        <p:spPr>
          <a:xfrm>
            <a:off x="4974336" y="3922776"/>
            <a:ext cx="0" cy="347472"/>
          </a:xfrm>
          <a:prstGeom prst="line">
            <a:avLst/>
          </a:prstGeom>
          <a:noFill/>
          <a:ln w="12700">
            <a:solidFill>
              <a:srgbClr val="00E676">
                <a:alpha val="40000"/>
              </a:srgbClr>
            </a:solidFill>
            <a:prstDash val="dash"/>
          </a:ln>
        </p:spPr>
      </p:sp>
      <p:sp>
        <p:nvSpPr>
          <p:cNvPr id="48" name="Shape 46"/>
          <p:cNvSpPr/>
          <p:nvPr/>
        </p:nvSpPr>
        <p:spPr>
          <a:xfrm>
            <a:off x="4754880" y="4279392"/>
            <a:ext cx="475488" cy="475488"/>
          </a:xfrm>
          <a:prstGeom prst="ellipse">
            <a:avLst/>
          </a:prstGeom>
          <a:solidFill>
            <a:srgbClr val="00E676">
              <a:alpha val="28000"/>
            </a:srgbClr>
          </a:solidFill>
          <a:ln w="12700">
            <a:solidFill>
              <a:srgbClr val="00E676">
                <a:alpha val="70000"/>
              </a:srgbClr>
            </a:solidFill>
            <a:prstDash val="solid"/>
          </a:ln>
        </p:spPr>
      </p:sp>
      <p:sp>
        <p:nvSpPr>
          <p:cNvPr id="49" name="Text 47"/>
          <p:cNvSpPr/>
          <p:nvPr/>
        </p:nvSpPr>
        <p:spPr>
          <a:xfrm>
            <a:off x="4754880" y="4288536"/>
            <a:ext cx="475488" cy="457200"/>
          </a:xfrm>
          <a:prstGeom prst="rect">
            <a:avLst/>
          </a:prstGeom>
          <a:noFill/>
          <a:ln/>
        </p:spPr>
        <p:txBody>
          <a:bodyPr wrap="square" lIns="0" tIns="0" rIns="0" bIns="0" rtlCol="0" anchor="ctr"/>
          <a:lstStyle/>
          <a:p>
            <a:pPr algn="ctr" indent="0" marL="0">
              <a:buNone/>
            </a:pPr>
            <a:r>
              <a:rPr lang="en-US" sz="1100" b="1" dirty="0">
                <a:solidFill>
                  <a:srgbClr val="00E676"/>
                </a:solidFill>
                <a:latin typeface="Arial" pitchFamily="34" charset="0"/>
                <a:ea typeface="Arial" pitchFamily="34" charset="-122"/>
                <a:cs typeface="Arial" pitchFamily="34" charset="-120"/>
              </a:rPr>
              <a:t>10</a:t>
            </a:r>
            <a:endParaRPr lang="en-US" sz="1100" dirty="0"/>
          </a:p>
        </p:txBody>
      </p:sp>
      <p:sp>
        <p:nvSpPr>
          <p:cNvPr id="50" name="Text 48"/>
          <p:cNvSpPr/>
          <p:nvPr/>
        </p:nvSpPr>
        <p:spPr>
          <a:xfrm>
            <a:off x="5321808" y="4251960"/>
            <a:ext cx="3200400" cy="292608"/>
          </a:xfrm>
          <a:prstGeom prst="rect">
            <a:avLst/>
          </a:prstGeom>
          <a:noFill/>
          <a:ln/>
        </p:spPr>
        <p:txBody>
          <a:bodyPr wrap="square" lIns="0" tIns="0" rIns="0" bIns="0" rtlCol="0" anchor="ctr"/>
          <a:lstStyle/>
          <a:p>
            <a:pPr algn="l" indent="0" marL="0">
              <a:buNone/>
            </a:pPr>
            <a:r>
              <a:rPr lang="en-US" sz="1100" b="1" dirty="0">
                <a:solidFill>
                  <a:srgbClr val="00E676"/>
                </a:solidFill>
                <a:latin typeface="Arial" pitchFamily="34" charset="0"/>
                <a:ea typeface="Arial" pitchFamily="34" charset="-122"/>
                <a:cs typeface="Arial" pitchFamily="34" charset="-120"/>
              </a:rPr>
              <a:t>RESOLUTION</a:t>
            </a:r>
            <a:endParaRPr lang="en-US" sz="1100" dirty="0"/>
          </a:p>
        </p:txBody>
      </p:sp>
      <p:sp>
        <p:nvSpPr>
          <p:cNvPr id="51" name="Text 49"/>
          <p:cNvSpPr/>
          <p:nvPr/>
        </p:nvSpPr>
        <p:spPr>
          <a:xfrm>
            <a:off x="5321808" y="4526280"/>
            <a:ext cx="3657600" cy="347472"/>
          </a:xfrm>
          <a:prstGeom prst="rect">
            <a:avLst/>
          </a:prstGeom>
          <a:noFill/>
          <a:ln/>
        </p:spPr>
        <p:txBody>
          <a:bodyPr wrap="square" lIns="0" tIns="0" rIns="0" bIns="0" rtlCol="0" anchor="ctr"/>
          <a:lstStyle/>
          <a:p>
            <a:pPr algn="l" indent="0" marL="0">
              <a:buNone/>
            </a:pPr>
            <a:r>
              <a:rPr lang="en-US" sz="950" dirty="0">
                <a:solidFill>
                  <a:srgbClr val="B0BEC5"/>
                </a:solidFill>
                <a:latin typeface="Arial" pitchFamily="34" charset="0"/>
                <a:ea typeface="Arial" pitchFamily="34" charset="-122"/>
                <a:cs typeface="Arial" pitchFamily="34" charset="-120"/>
              </a:rPr>
              <a:t>Mission continues · Threat window cleared</a:t>
            </a:r>
            <a:endParaRPr lang="en-US" sz="950" dirty="0"/>
          </a:p>
        </p:txBody>
      </p:sp>
      <p:pic>
        <p:nvPicPr>
          <p:cNvPr id="52" name="Image 0" descr="preencoded.png">    </p:cNvPr>
          <p:cNvPicPr>
            <a:picLocks noChangeAspect="1"/>
          </p:cNvPicPr>
          <p:nvPr/>
        </p:nvPicPr>
        <p:blipFill>
          <a:blip r:embed="rId1"/>
          <a:srcRect l="0" r="0" t="0" b="0"/>
          <a:stretch/>
        </p:blipFill>
        <p:spPr>
          <a:xfrm>
            <a:off x="4160520" y="1234440"/>
            <a:ext cx="594360" cy="2926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50A14"/>
          </a:solidFill>
          <a:ln w="12700">
            <a:solidFill>
              <a:srgbClr val="050A14"/>
            </a:solidFill>
            <a:prstDash val="solid"/>
          </a:ln>
        </p:spPr>
      </p:sp>
      <p:sp>
        <p:nvSpPr>
          <p:cNvPr id="3" name="Text 1"/>
          <p:cNvSpPr/>
          <p:nvPr/>
        </p:nvSpPr>
        <p:spPr>
          <a:xfrm>
            <a:off x="365760" y="201168"/>
            <a:ext cx="8412480" cy="347472"/>
          </a:xfrm>
          <a:prstGeom prst="rect">
            <a:avLst/>
          </a:prstGeom>
          <a:noFill/>
          <a:ln/>
        </p:spPr>
        <p:txBody>
          <a:bodyPr wrap="square" lIns="0" tIns="0" rIns="0" bIns="0" rtlCol="0" anchor="ctr"/>
          <a:lstStyle/>
          <a:p>
            <a:pPr algn="l" indent="0" marL="0">
              <a:buNone/>
            </a:pPr>
            <a:r>
              <a:rPr lang="en-US" sz="1000" b="1" spc="300" kern="0" dirty="0">
                <a:solidFill>
                  <a:srgbClr val="2979FF"/>
                </a:solidFill>
                <a:latin typeface="Arial" pitchFamily="34" charset="0"/>
                <a:ea typeface="Arial" pitchFamily="34" charset="-122"/>
                <a:cs typeface="Arial" pitchFamily="34" charset="-120"/>
              </a:rPr>
              <a:t>ENGINEERING  —  ARCHITECTURE &amp; TECH STACK</a:t>
            </a:r>
            <a:endParaRPr lang="en-US" sz="1000" dirty="0"/>
          </a:p>
        </p:txBody>
      </p:sp>
      <p:sp>
        <p:nvSpPr>
          <p:cNvPr id="4" name="Shape 2"/>
          <p:cNvSpPr/>
          <p:nvPr/>
        </p:nvSpPr>
        <p:spPr>
          <a:xfrm>
            <a:off x="320040" y="1005840"/>
            <a:ext cx="1828800" cy="566928"/>
          </a:xfrm>
          <a:prstGeom prst="roundRect">
            <a:avLst>
              <a:gd name="adj" fmla="val 14516"/>
            </a:avLst>
          </a:prstGeom>
          <a:solidFill>
            <a:srgbClr val="101D35"/>
          </a:solidFill>
          <a:ln w="12700">
            <a:solidFill>
              <a:srgbClr val="00E5FF">
                <a:alpha val="55000"/>
              </a:srgbClr>
            </a:solidFill>
            <a:prstDash val="solid"/>
          </a:ln>
        </p:spPr>
      </p:sp>
      <p:sp>
        <p:nvSpPr>
          <p:cNvPr id="5" name="Text 3"/>
          <p:cNvSpPr/>
          <p:nvPr/>
        </p:nvSpPr>
        <p:spPr>
          <a:xfrm>
            <a:off x="365760" y="1042416"/>
            <a:ext cx="1737360" cy="493776"/>
          </a:xfrm>
          <a:prstGeom prst="rect">
            <a:avLst/>
          </a:prstGeom>
          <a:noFill/>
          <a:ln/>
        </p:spPr>
        <p:txBody>
          <a:bodyPr wrap="square" lIns="0" tIns="0" rIns="0" bIns="0" rtlCol="0" anchor="ctr"/>
          <a:lstStyle/>
          <a:p>
            <a:pPr algn="ctr" indent="0" marL="0">
              <a:buNone/>
            </a:pPr>
            <a:r>
              <a:rPr lang="en-US" sz="950" b="1" dirty="0">
                <a:solidFill>
                  <a:srgbClr val="00E5FF"/>
                </a:solidFill>
                <a:latin typeface="Arial" pitchFamily="34" charset="0"/>
                <a:ea typeface="Arial" pitchFamily="34" charset="-122"/>
                <a:cs typeface="Arial" pitchFamily="34" charset="-120"/>
              </a:rPr>
              <a:t>NOAA API</a:t>
            </a:r>
            <a:endParaRPr lang="en-US" sz="950" dirty="0"/>
          </a:p>
        </p:txBody>
      </p:sp>
      <p:sp>
        <p:nvSpPr>
          <p:cNvPr id="6" name="Shape 4"/>
          <p:cNvSpPr/>
          <p:nvPr/>
        </p:nvSpPr>
        <p:spPr>
          <a:xfrm>
            <a:off x="320040" y="1691640"/>
            <a:ext cx="1828800" cy="566928"/>
          </a:xfrm>
          <a:prstGeom prst="roundRect">
            <a:avLst>
              <a:gd name="adj" fmla="val 14516"/>
            </a:avLst>
          </a:prstGeom>
          <a:solidFill>
            <a:srgbClr val="101D35"/>
          </a:solidFill>
          <a:ln w="12700">
            <a:solidFill>
              <a:srgbClr val="00E5FF">
                <a:alpha val="55000"/>
              </a:srgbClr>
            </a:solidFill>
            <a:prstDash val="solid"/>
          </a:ln>
        </p:spPr>
      </p:sp>
      <p:sp>
        <p:nvSpPr>
          <p:cNvPr id="7" name="Text 5"/>
          <p:cNvSpPr/>
          <p:nvPr/>
        </p:nvSpPr>
        <p:spPr>
          <a:xfrm>
            <a:off x="365760" y="1728216"/>
            <a:ext cx="1737360" cy="493776"/>
          </a:xfrm>
          <a:prstGeom prst="rect">
            <a:avLst/>
          </a:prstGeom>
          <a:noFill/>
          <a:ln/>
        </p:spPr>
        <p:txBody>
          <a:bodyPr wrap="square" lIns="0" tIns="0" rIns="0" bIns="0" rtlCol="0" anchor="ctr"/>
          <a:lstStyle/>
          <a:p>
            <a:pPr algn="ctr" indent="0" marL="0">
              <a:buNone/>
            </a:pPr>
            <a:r>
              <a:rPr lang="en-US" sz="950" b="1" dirty="0">
                <a:solidFill>
                  <a:srgbClr val="00E5FF"/>
                </a:solidFill>
                <a:latin typeface="Arial" pitchFamily="34" charset="0"/>
                <a:ea typeface="Arial" pitchFamily="34" charset="-122"/>
                <a:cs typeface="Arial" pitchFamily="34" charset="-120"/>
              </a:rPr>
              <a:t>CelesTrak</a:t>
            </a:r>
            <a:endParaRPr lang="en-US" sz="950" dirty="0"/>
          </a:p>
        </p:txBody>
      </p:sp>
      <p:sp>
        <p:nvSpPr>
          <p:cNvPr id="8" name="Shape 6"/>
          <p:cNvSpPr/>
          <p:nvPr/>
        </p:nvSpPr>
        <p:spPr>
          <a:xfrm>
            <a:off x="320040" y="2377440"/>
            <a:ext cx="1828800" cy="566928"/>
          </a:xfrm>
          <a:prstGeom prst="roundRect">
            <a:avLst>
              <a:gd name="adj" fmla="val 14516"/>
            </a:avLst>
          </a:prstGeom>
          <a:solidFill>
            <a:srgbClr val="101D35"/>
          </a:solidFill>
          <a:ln w="12700">
            <a:solidFill>
              <a:srgbClr val="00E5FF">
                <a:alpha val="55000"/>
              </a:srgbClr>
            </a:solidFill>
            <a:prstDash val="solid"/>
          </a:ln>
        </p:spPr>
      </p:sp>
      <p:sp>
        <p:nvSpPr>
          <p:cNvPr id="9" name="Text 7"/>
          <p:cNvSpPr/>
          <p:nvPr/>
        </p:nvSpPr>
        <p:spPr>
          <a:xfrm>
            <a:off x="365760" y="2414016"/>
            <a:ext cx="1737360" cy="493776"/>
          </a:xfrm>
          <a:prstGeom prst="rect">
            <a:avLst/>
          </a:prstGeom>
          <a:noFill/>
          <a:ln/>
        </p:spPr>
        <p:txBody>
          <a:bodyPr wrap="square" lIns="0" tIns="0" rIns="0" bIns="0" rtlCol="0" anchor="ctr"/>
          <a:lstStyle/>
          <a:p>
            <a:pPr algn="ctr" indent="0" marL="0">
              <a:buNone/>
            </a:pPr>
            <a:r>
              <a:rPr lang="en-US" sz="950" b="1" dirty="0">
                <a:solidFill>
                  <a:srgbClr val="00E5FF"/>
                </a:solidFill>
                <a:latin typeface="Arial" pitchFamily="34" charset="0"/>
                <a:ea typeface="Arial" pitchFamily="34" charset="-122"/>
                <a:cs typeface="Arial" pitchFamily="34" charset="-120"/>
              </a:rPr>
              <a:t>ESA Data</a:t>
            </a:r>
            <a:endParaRPr lang="en-US" sz="950" dirty="0"/>
          </a:p>
        </p:txBody>
      </p:sp>
      <p:sp>
        <p:nvSpPr>
          <p:cNvPr id="10" name="Shape 8"/>
          <p:cNvSpPr/>
          <p:nvPr/>
        </p:nvSpPr>
        <p:spPr>
          <a:xfrm>
            <a:off x="2377440" y="1691640"/>
            <a:ext cx="1828800" cy="566928"/>
          </a:xfrm>
          <a:prstGeom prst="roundRect">
            <a:avLst>
              <a:gd name="adj" fmla="val 14516"/>
            </a:avLst>
          </a:prstGeom>
          <a:solidFill>
            <a:srgbClr val="101D35"/>
          </a:solidFill>
          <a:ln w="12700">
            <a:solidFill>
              <a:srgbClr val="2979FF">
                <a:alpha val="55000"/>
              </a:srgbClr>
            </a:solidFill>
            <a:prstDash val="solid"/>
          </a:ln>
        </p:spPr>
      </p:sp>
      <p:sp>
        <p:nvSpPr>
          <p:cNvPr id="11" name="Text 9"/>
          <p:cNvSpPr/>
          <p:nvPr/>
        </p:nvSpPr>
        <p:spPr>
          <a:xfrm>
            <a:off x="2423160" y="1728216"/>
            <a:ext cx="1737360" cy="493776"/>
          </a:xfrm>
          <a:prstGeom prst="rect">
            <a:avLst/>
          </a:prstGeom>
          <a:noFill/>
          <a:ln/>
        </p:spPr>
        <p:txBody>
          <a:bodyPr wrap="square" lIns="0" tIns="0" rIns="0" bIns="0" rtlCol="0" anchor="ctr"/>
          <a:lstStyle/>
          <a:p>
            <a:pPr algn="ctr" indent="0" marL="0">
              <a:buNone/>
            </a:pPr>
            <a:r>
              <a:rPr lang="en-US" sz="950" b="1" dirty="0">
                <a:solidFill>
                  <a:srgbClr val="2979FF"/>
                </a:solidFill>
                <a:latin typeface="Arial" pitchFamily="34" charset="0"/>
                <a:ea typeface="Arial" pitchFamily="34" charset="-122"/>
                <a:cs typeface="Arial" pitchFamily="34" charset="-120"/>
              </a:rPr>
              <a:t>FastAPI</a:t>
            </a:r>
            <a:endParaRPr lang="en-US" sz="950" dirty="0"/>
          </a:p>
          <a:p>
            <a:pPr algn="ctr" indent="0" marL="0">
              <a:buNone/>
            </a:pPr>
            <a:r>
              <a:rPr lang="en-US" sz="950" b="1" dirty="0">
                <a:solidFill>
                  <a:srgbClr val="2979FF"/>
                </a:solidFill>
                <a:latin typeface="Arial" pitchFamily="34" charset="0"/>
                <a:ea typeface="Arial" pitchFamily="34" charset="-122"/>
                <a:cs typeface="Arial" pitchFamily="34" charset="-120"/>
              </a:rPr>
              <a:t>Backend</a:t>
            </a:r>
            <a:endParaRPr lang="en-US" sz="950" dirty="0"/>
          </a:p>
        </p:txBody>
      </p:sp>
      <p:sp>
        <p:nvSpPr>
          <p:cNvPr id="12" name="Shape 10"/>
          <p:cNvSpPr/>
          <p:nvPr/>
        </p:nvSpPr>
        <p:spPr>
          <a:xfrm>
            <a:off x="4572000" y="1691640"/>
            <a:ext cx="1828800" cy="566928"/>
          </a:xfrm>
          <a:prstGeom prst="roundRect">
            <a:avLst>
              <a:gd name="adj" fmla="val 14516"/>
            </a:avLst>
          </a:prstGeom>
          <a:solidFill>
            <a:srgbClr val="101D35"/>
          </a:solidFill>
          <a:ln w="12700">
            <a:solidFill>
              <a:srgbClr val="AA00FF">
                <a:alpha val="55000"/>
              </a:srgbClr>
            </a:solidFill>
            <a:prstDash val="solid"/>
          </a:ln>
        </p:spPr>
      </p:sp>
      <p:sp>
        <p:nvSpPr>
          <p:cNvPr id="13" name="Text 11"/>
          <p:cNvSpPr/>
          <p:nvPr/>
        </p:nvSpPr>
        <p:spPr>
          <a:xfrm>
            <a:off x="4617720" y="1728216"/>
            <a:ext cx="1737360" cy="493776"/>
          </a:xfrm>
          <a:prstGeom prst="rect">
            <a:avLst/>
          </a:prstGeom>
          <a:noFill/>
          <a:ln/>
        </p:spPr>
        <p:txBody>
          <a:bodyPr wrap="square" lIns="0" tIns="0" rIns="0" bIns="0" rtlCol="0" anchor="ctr"/>
          <a:lstStyle/>
          <a:p>
            <a:pPr algn="ctr" indent="0" marL="0">
              <a:buNone/>
            </a:pPr>
            <a:r>
              <a:rPr lang="en-US" sz="950" b="1" dirty="0">
                <a:solidFill>
                  <a:srgbClr val="AA00FF"/>
                </a:solidFill>
                <a:latin typeface="Arial" pitchFamily="34" charset="0"/>
                <a:ea typeface="Arial" pitchFamily="34" charset="-122"/>
                <a:cs typeface="Arial" pitchFamily="34" charset="-120"/>
              </a:rPr>
              <a:t>AI Engine</a:t>
            </a:r>
            <a:endParaRPr lang="en-US" sz="950" dirty="0"/>
          </a:p>
          <a:p>
            <a:pPr algn="ctr" indent="0" marL="0">
              <a:buNone/>
            </a:pPr>
            <a:r>
              <a:rPr lang="en-US" sz="950" b="1" dirty="0">
                <a:solidFill>
                  <a:srgbClr val="AA00FF"/>
                </a:solidFill>
                <a:latin typeface="Arial" pitchFamily="34" charset="0"/>
                <a:ea typeface="Arial" pitchFamily="34" charset="-122"/>
                <a:cs typeface="Arial" pitchFamily="34" charset="-120"/>
              </a:rPr>
              <a:t>(Claude + XGBoost)</a:t>
            </a:r>
            <a:endParaRPr lang="en-US" sz="950" dirty="0"/>
          </a:p>
        </p:txBody>
      </p:sp>
      <p:sp>
        <p:nvSpPr>
          <p:cNvPr id="14" name="Shape 12"/>
          <p:cNvSpPr/>
          <p:nvPr/>
        </p:nvSpPr>
        <p:spPr>
          <a:xfrm>
            <a:off x="6766560" y="1691640"/>
            <a:ext cx="1828800" cy="566928"/>
          </a:xfrm>
          <a:prstGeom prst="roundRect">
            <a:avLst>
              <a:gd name="adj" fmla="val 14516"/>
            </a:avLst>
          </a:prstGeom>
          <a:solidFill>
            <a:srgbClr val="101D35"/>
          </a:solidFill>
          <a:ln w="12700">
            <a:solidFill>
              <a:srgbClr val="00E676">
                <a:alpha val="55000"/>
              </a:srgbClr>
            </a:solidFill>
            <a:prstDash val="solid"/>
          </a:ln>
        </p:spPr>
      </p:sp>
      <p:sp>
        <p:nvSpPr>
          <p:cNvPr id="15" name="Text 13"/>
          <p:cNvSpPr/>
          <p:nvPr/>
        </p:nvSpPr>
        <p:spPr>
          <a:xfrm>
            <a:off x="6812280" y="1728216"/>
            <a:ext cx="1737360" cy="493776"/>
          </a:xfrm>
          <a:prstGeom prst="rect">
            <a:avLst/>
          </a:prstGeom>
          <a:noFill/>
          <a:ln/>
        </p:spPr>
        <p:txBody>
          <a:bodyPr wrap="square" lIns="0" tIns="0" rIns="0" bIns="0" rtlCol="0" anchor="ctr"/>
          <a:lstStyle/>
          <a:p>
            <a:pPr algn="ctr" indent="0" marL="0">
              <a:buNone/>
            </a:pPr>
            <a:r>
              <a:rPr lang="en-US" sz="950" b="1" dirty="0">
                <a:solidFill>
                  <a:srgbClr val="00E676"/>
                </a:solidFill>
                <a:latin typeface="Arial" pitchFamily="34" charset="0"/>
                <a:ea typeface="Arial" pitchFamily="34" charset="-122"/>
                <a:cs typeface="Arial" pitchFamily="34" charset="-120"/>
              </a:rPr>
              <a:t>Mission</a:t>
            </a:r>
            <a:endParaRPr lang="en-US" sz="950" dirty="0"/>
          </a:p>
          <a:p>
            <a:pPr algn="ctr" indent="0" marL="0">
              <a:buNone/>
            </a:pPr>
            <a:r>
              <a:rPr lang="en-US" sz="950" b="1" dirty="0">
                <a:solidFill>
                  <a:srgbClr val="00E676"/>
                </a:solidFill>
                <a:latin typeface="Arial" pitchFamily="34" charset="0"/>
                <a:ea typeface="Arial" pitchFamily="34" charset="-122"/>
                <a:cs typeface="Arial" pitchFamily="34" charset="-120"/>
              </a:rPr>
              <a:t>Insights</a:t>
            </a:r>
            <a:endParaRPr lang="en-US" sz="950" dirty="0"/>
          </a:p>
        </p:txBody>
      </p:sp>
      <p:sp>
        <p:nvSpPr>
          <p:cNvPr id="16" name="Shape 14"/>
          <p:cNvSpPr/>
          <p:nvPr/>
        </p:nvSpPr>
        <p:spPr>
          <a:xfrm>
            <a:off x="2148840" y="1289304"/>
            <a:ext cx="228600" cy="0"/>
          </a:xfrm>
          <a:prstGeom prst="line">
            <a:avLst/>
          </a:prstGeom>
          <a:noFill/>
          <a:ln w="12700">
            <a:solidFill>
              <a:srgbClr val="8B9AB5">
                <a:alpha val="60000"/>
              </a:srgbClr>
            </a:solidFill>
            <a:prstDash val="solid"/>
          </a:ln>
        </p:spPr>
      </p:sp>
      <p:sp>
        <p:nvSpPr>
          <p:cNvPr id="17" name="Shape 15"/>
          <p:cNvSpPr/>
          <p:nvPr/>
        </p:nvSpPr>
        <p:spPr>
          <a:xfrm>
            <a:off x="2148840" y="1975104"/>
            <a:ext cx="228600" cy="0"/>
          </a:xfrm>
          <a:prstGeom prst="line">
            <a:avLst/>
          </a:prstGeom>
          <a:noFill/>
          <a:ln w="12700">
            <a:solidFill>
              <a:srgbClr val="8B9AB5">
                <a:alpha val="60000"/>
              </a:srgbClr>
            </a:solidFill>
            <a:prstDash val="solid"/>
          </a:ln>
        </p:spPr>
      </p:sp>
      <p:sp>
        <p:nvSpPr>
          <p:cNvPr id="18" name="Shape 16"/>
          <p:cNvSpPr/>
          <p:nvPr/>
        </p:nvSpPr>
        <p:spPr>
          <a:xfrm>
            <a:off x="2148840" y="2660904"/>
            <a:ext cx="228600" cy="0"/>
          </a:xfrm>
          <a:prstGeom prst="line">
            <a:avLst/>
          </a:prstGeom>
          <a:noFill/>
          <a:ln w="12700">
            <a:solidFill>
              <a:srgbClr val="8B9AB5">
                <a:alpha val="60000"/>
              </a:srgbClr>
            </a:solidFill>
            <a:prstDash val="solid"/>
          </a:ln>
        </p:spPr>
      </p:sp>
      <p:sp>
        <p:nvSpPr>
          <p:cNvPr id="19" name="Shape 17"/>
          <p:cNvSpPr/>
          <p:nvPr/>
        </p:nvSpPr>
        <p:spPr>
          <a:xfrm>
            <a:off x="4206240" y="1975104"/>
            <a:ext cx="365760" cy="0"/>
          </a:xfrm>
          <a:prstGeom prst="line">
            <a:avLst/>
          </a:prstGeom>
          <a:noFill/>
          <a:ln w="12700">
            <a:solidFill>
              <a:srgbClr val="8B9AB5">
                <a:alpha val="60000"/>
              </a:srgbClr>
            </a:solidFill>
            <a:prstDash val="solid"/>
          </a:ln>
        </p:spPr>
      </p:sp>
      <p:sp>
        <p:nvSpPr>
          <p:cNvPr id="20" name="Shape 18"/>
          <p:cNvSpPr/>
          <p:nvPr/>
        </p:nvSpPr>
        <p:spPr>
          <a:xfrm>
            <a:off x="6400800" y="1975104"/>
            <a:ext cx="365760" cy="0"/>
          </a:xfrm>
          <a:prstGeom prst="line">
            <a:avLst/>
          </a:prstGeom>
          <a:noFill/>
          <a:ln w="12700">
            <a:solidFill>
              <a:srgbClr val="8B9AB5">
                <a:alpha val="60000"/>
              </a:srgbClr>
            </a:solidFill>
            <a:prstDash val="solid"/>
          </a:ln>
        </p:spPr>
      </p:sp>
      <p:sp>
        <p:nvSpPr>
          <p:cNvPr id="21" name="Shape 19"/>
          <p:cNvSpPr/>
          <p:nvPr/>
        </p:nvSpPr>
        <p:spPr>
          <a:xfrm>
            <a:off x="3200400" y="2788920"/>
            <a:ext cx="2743200" cy="548640"/>
          </a:xfrm>
          <a:prstGeom prst="roundRect">
            <a:avLst>
              <a:gd name="adj" fmla="val 15000"/>
            </a:avLst>
          </a:prstGeom>
          <a:solidFill>
            <a:srgbClr val="101D35"/>
          </a:solidFill>
          <a:ln w="12700">
            <a:solidFill>
              <a:srgbClr val="448AFF">
                <a:alpha val="55000"/>
              </a:srgbClr>
            </a:solidFill>
            <a:prstDash val="solid"/>
          </a:ln>
        </p:spPr>
      </p:sp>
      <p:sp>
        <p:nvSpPr>
          <p:cNvPr id="22" name="Text 20"/>
          <p:cNvSpPr/>
          <p:nvPr/>
        </p:nvSpPr>
        <p:spPr>
          <a:xfrm>
            <a:off x="3246120" y="2834640"/>
            <a:ext cx="2651760" cy="457200"/>
          </a:xfrm>
          <a:prstGeom prst="rect">
            <a:avLst/>
          </a:prstGeom>
          <a:noFill/>
          <a:ln/>
        </p:spPr>
        <p:txBody>
          <a:bodyPr wrap="square" lIns="0" tIns="0" rIns="0" bIns="0" rtlCol="0" anchor="ctr"/>
          <a:lstStyle/>
          <a:p>
            <a:pPr algn="ctr" indent="0" marL="0">
              <a:buNone/>
            </a:pPr>
            <a:r>
              <a:rPr lang="en-US" sz="1100" b="1" dirty="0">
                <a:solidFill>
                  <a:srgbClr val="448AFF"/>
                </a:solidFill>
                <a:latin typeface="Arial" pitchFamily="34" charset="0"/>
                <a:ea typeface="Arial" pitchFamily="34" charset="-122"/>
                <a:cs typeface="Arial" pitchFamily="34" charset="-120"/>
              </a:rPr>
              <a:t>Next.js 14 Dashboard</a:t>
            </a:r>
            <a:endParaRPr lang="en-US" sz="1100" dirty="0"/>
          </a:p>
        </p:txBody>
      </p:sp>
      <p:sp>
        <p:nvSpPr>
          <p:cNvPr id="23" name="Shape 21"/>
          <p:cNvSpPr/>
          <p:nvPr/>
        </p:nvSpPr>
        <p:spPr>
          <a:xfrm>
            <a:off x="5486400" y="2258568"/>
            <a:ext cx="0" cy="530352"/>
          </a:xfrm>
          <a:prstGeom prst="line">
            <a:avLst/>
          </a:prstGeom>
          <a:noFill/>
          <a:ln w="12700">
            <a:solidFill>
              <a:srgbClr val="8B9AB5">
                <a:alpha val="60000"/>
              </a:srgbClr>
            </a:solidFill>
            <a:prstDash val="solid"/>
          </a:ln>
        </p:spPr>
      </p:sp>
      <p:sp>
        <p:nvSpPr>
          <p:cNvPr id="24" name="Shape 22"/>
          <p:cNvSpPr/>
          <p:nvPr/>
        </p:nvSpPr>
        <p:spPr>
          <a:xfrm>
            <a:off x="320040" y="3520440"/>
            <a:ext cx="2011680" cy="1463040"/>
          </a:xfrm>
          <a:prstGeom prst="roundRect">
            <a:avLst>
              <a:gd name="adj" fmla="val 6250"/>
            </a:avLst>
          </a:prstGeom>
          <a:solidFill>
            <a:srgbClr val="101D35"/>
          </a:solidFill>
          <a:ln w="12700">
            <a:solidFill>
              <a:srgbClr val="448AFF">
                <a:alpha val="40000"/>
              </a:srgbClr>
            </a:solidFill>
            <a:prstDash val="solid"/>
          </a:ln>
        </p:spPr>
      </p:sp>
      <p:pic>
        <p:nvPicPr>
          <p:cNvPr id="25" name="Image 0" descr="preencoded.png">    </p:cNvPr>
          <p:cNvPicPr>
            <a:picLocks noChangeAspect="1"/>
          </p:cNvPicPr>
          <p:nvPr/>
        </p:nvPicPr>
        <p:blipFill>
          <a:blip r:embed="rId1"/>
          <a:stretch>
            <a:fillRect/>
          </a:stretch>
        </p:blipFill>
        <p:spPr>
          <a:xfrm>
            <a:off x="411480" y="3611880"/>
            <a:ext cx="347472" cy="347472"/>
          </a:xfrm>
          <a:prstGeom prst="rect">
            <a:avLst/>
          </a:prstGeom>
        </p:spPr>
      </p:pic>
      <p:sp>
        <p:nvSpPr>
          <p:cNvPr id="26" name="Text 23"/>
          <p:cNvSpPr/>
          <p:nvPr/>
        </p:nvSpPr>
        <p:spPr>
          <a:xfrm>
            <a:off x="822960" y="3611880"/>
            <a:ext cx="1417320" cy="320040"/>
          </a:xfrm>
          <a:prstGeom prst="rect">
            <a:avLst/>
          </a:prstGeom>
          <a:noFill/>
          <a:ln/>
        </p:spPr>
        <p:txBody>
          <a:bodyPr wrap="square" lIns="0" tIns="0" rIns="0" bIns="0" rtlCol="0" anchor="ctr"/>
          <a:lstStyle/>
          <a:p>
            <a:pPr algn="l" indent="0" marL="0">
              <a:buNone/>
            </a:pPr>
            <a:r>
              <a:rPr lang="en-US" sz="1100" b="1" dirty="0">
                <a:solidFill>
                  <a:srgbClr val="448AFF"/>
                </a:solidFill>
                <a:latin typeface="Arial" pitchFamily="34" charset="0"/>
                <a:ea typeface="Arial" pitchFamily="34" charset="-122"/>
                <a:cs typeface="Arial" pitchFamily="34" charset="-120"/>
              </a:rPr>
              <a:t>Frontend</a:t>
            </a:r>
            <a:endParaRPr lang="en-US" sz="1100" dirty="0"/>
          </a:p>
        </p:txBody>
      </p:sp>
      <p:sp>
        <p:nvSpPr>
          <p:cNvPr id="27" name="Text 24"/>
          <p:cNvSpPr/>
          <p:nvPr/>
        </p:nvSpPr>
        <p:spPr>
          <a:xfrm>
            <a:off x="411480" y="4041648"/>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Next.js 14 · React</a:t>
            </a:r>
            <a:endParaRPr lang="en-US" sz="850" dirty="0"/>
          </a:p>
        </p:txBody>
      </p:sp>
      <p:sp>
        <p:nvSpPr>
          <p:cNvPr id="28" name="Text 25"/>
          <p:cNvSpPr/>
          <p:nvPr/>
        </p:nvSpPr>
        <p:spPr>
          <a:xfrm>
            <a:off x="411480" y="4325112"/>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Tailwind CSS · Recharts</a:t>
            </a:r>
            <a:endParaRPr lang="en-US" sz="850" dirty="0"/>
          </a:p>
        </p:txBody>
      </p:sp>
      <p:sp>
        <p:nvSpPr>
          <p:cNvPr id="29" name="Text 26"/>
          <p:cNvSpPr/>
          <p:nvPr/>
        </p:nvSpPr>
        <p:spPr>
          <a:xfrm>
            <a:off x="411480" y="4608576"/>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Zustand · Axios</a:t>
            </a:r>
            <a:endParaRPr lang="en-US" sz="850" dirty="0"/>
          </a:p>
        </p:txBody>
      </p:sp>
      <p:sp>
        <p:nvSpPr>
          <p:cNvPr id="30" name="Shape 27"/>
          <p:cNvSpPr/>
          <p:nvPr/>
        </p:nvSpPr>
        <p:spPr>
          <a:xfrm>
            <a:off x="2514600" y="3520440"/>
            <a:ext cx="2011680" cy="1463040"/>
          </a:xfrm>
          <a:prstGeom prst="roundRect">
            <a:avLst>
              <a:gd name="adj" fmla="val 6250"/>
            </a:avLst>
          </a:prstGeom>
          <a:solidFill>
            <a:srgbClr val="101D35"/>
          </a:solidFill>
          <a:ln w="12700">
            <a:solidFill>
              <a:srgbClr val="00E5FF">
                <a:alpha val="40000"/>
              </a:srgbClr>
            </a:solidFill>
            <a:prstDash val="solid"/>
          </a:ln>
        </p:spPr>
      </p:sp>
      <p:pic>
        <p:nvPicPr>
          <p:cNvPr id="31" name="Image 1" descr="preencoded.png">    </p:cNvPr>
          <p:cNvPicPr>
            <a:picLocks noChangeAspect="1"/>
          </p:cNvPicPr>
          <p:nvPr/>
        </p:nvPicPr>
        <p:blipFill>
          <a:blip r:embed="rId2"/>
          <a:stretch>
            <a:fillRect/>
          </a:stretch>
        </p:blipFill>
        <p:spPr>
          <a:xfrm>
            <a:off x="2606040" y="3611880"/>
            <a:ext cx="347472" cy="347472"/>
          </a:xfrm>
          <a:prstGeom prst="rect">
            <a:avLst/>
          </a:prstGeom>
        </p:spPr>
      </p:pic>
      <p:sp>
        <p:nvSpPr>
          <p:cNvPr id="32" name="Text 28"/>
          <p:cNvSpPr/>
          <p:nvPr/>
        </p:nvSpPr>
        <p:spPr>
          <a:xfrm>
            <a:off x="3017520" y="3611880"/>
            <a:ext cx="1417320" cy="320040"/>
          </a:xfrm>
          <a:prstGeom prst="rect">
            <a:avLst/>
          </a:prstGeom>
          <a:noFill/>
          <a:ln/>
        </p:spPr>
        <p:txBody>
          <a:bodyPr wrap="square" lIns="0" tIns="0" rIns="0" bIns="0" rtlCol="0" anchor="ctr"/>
          <a:lstStyle/>
          <a:p>
            <a:pPr algn="l" indent="0" marL="0">
              <a:buNone/>
            </a:pPr>
            <a:r>
              <a:rPr lang="en-US" sz="1100" b="1" dirty="0">
                <a:solidFill>
                  <a:srgbClr val="00E5FF"/>
                </a:solidFill>
                <a:latin typeface="Arial" pitchFamily="34" charset="0"/>
                <a:ea typeface="Arial" pitchFamily="34" charset="-122"/>
                <a:cs typeface="Arial" pitchFamily="34" charset="-120"/>
              </a:rPr>
              <a:t>Backend</a:t>
            </a:r>
            <a:endParaRPr lang="en-US" sz="1100" dirty="0"/>
          </a:p>
        </p:txBody>
      </p:sp>
      <p:sp>
        <p:nvSpPr>
          <p:cNvPr id="33" name="Text 29"/>
          <p:cNvSpPr/>
          <p:nvPr/>
        </p:nvSpPr>
        <p:spPr>
          <a:xfrm>
            <a:off x="2606040" y="4041648"/>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FastAPI · Python</a:t>
            </a:r>
            <a:endParaRPr lang="en-US" sz="850" dirty="0"/>
          </a:p>
        </p:txBody>
      </p:sp>
      <p:sp>
        <p:nvSpPr>
          <p:cNvPr id="34" name="Text 30"/>
          <p:cNvSpPr/>
          <p:nvPr/>
        </p:nvSpPr>
        <p:spPr>
          <a:xfrm>
            <a:off x="2606040" y="4325112"/>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PostgreSQL · SQLAlchemy</a:t>
            </a:r>
            <a:endParaRPr lang="en-US" sz="850" dirty="0"/>
          </a:p>
        </p:txBody>
      </p:sp>
      <p:sp>
        <p:nvSpPr>
          <p:cNvPr id="35" name="Text 31"/>
          <p:cNvSpPr/>
          <p:nvPr/>
        </p:nvSpPr>
        <p:spPr>
          <a:xfrm>
            <a:off x="2606040" y="4608576"/>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Uvicorn</a:t>
            </a:r>
            <a:endParaRPr lang="en-US" sz="850" dirty="0"/>
          </a:p>
        </p:txBody>
      </p:sp>
      <p:sp>
        <p:nvSpPr>
          <p:cNvPr id="36" name="Shape 32"/>
          <p:cNvSpPr/>
          <p:nvPr/>
        </p:nvSpPr>
        <p:spPr>
          <a:xfrm>
            <a:off x="4709160" y="3520440"/>
            <a:ext cx="2011680" cy="1463040"/>
          </a:xfrm>
          <a:prstGeom prst="roundRect">
            <a:avLst>
              <a:gd name="adj" fmla="val 6250"/>
            </a:avLst>
          </a:prstGeom>
          <a:solidFill>
            <a:srgbClr val="101D35"/>
          </a:solidFill>
          <a:ln w="12700">
            <a:solidFill>
              <a:srgbClr val="AA00FF">
                <a:alpha val="40000"/>
              </a:srgbClr>
            </a:solidFill>
            <a:prstDash val="solid"/>
          </a:ln>
        </p:spPr>
      </p:sp>
      <p:pic>
        <p:nvPicPr>
          <p:cNvPr id="37" name="Image 2" descr="preencoded.png">    </p:cNvPr>
          <p:cNvPicPr>
            <a:picLocks noChangeAspect="1"/>
          </p:cNvPicPr>
          <p:nvPr/>
        </p:nvPicPr>
        <p:blipFill>
          <a:blip r:embed="rId3"/>
          <a:stretch>
            <a:fillRect/>
          </a:stretch>
        </p:blipFill>
        <p:spPr>
          <a:xfrm>
            <a:off x="4800600" y="3611880"/>
            <a:ext cx="347472" cy="347472"/>
          </a:xfrm>
          <a:prstGeom prst="rect">
            <a:avLst/>
          </a:prstGeom>
        </p:spPr>
      </p:pic>
      <p:sp>
        <p:nvSpPr>
          <p:cNvPr id="38" name="Text 33"/>
          <p:cNvSpPr/>
          <p:nvPr/>
        </p:nvSpPr>
        <p:spPr>
          <a:xfrm>
            <a:off x="5212080" y="3611880"/>
            <a:ext cx="1417320" cy="320040"/>
          </a:xfrm>
          <a:prstGeom prst="rect">
            <a:avLst/>
          </a:prstGeom>
          <a:noFill/>
          <a:ln/>
        </p:spPr>
        <p:txBody>
          <a:bodyPr wrap="square" lIns="0" tIns="0" rIns="0" bIns="0" rtlCol="0" anchor="ctr"/>
          <a:lstStyle/>
          <a:p>
            <a:pPr algn="l" indent="0" marL="0">
              <a:buNone/>
            </a:pPr>
            <a:r>
              <a:rPr lang="en-US" sz="1100" b="1" dirty="0">
                <a:solidFill>
                  <a:srgbClr val="AA00FF"/>
                </a:solidFill>
                <a:latin typeface="Arial" pitchFamily="34" charset="0"/>
                <a:ea typeface="Arial" pitchFamily="34" charset="-122"/>
                <a:cs typeface="Arial" pitchFamily="34" charset="-120"/>
              </a:rPr>
              <a:t>AI &amp; ML</a:t>
            </a:r>
            <a:endParaRPr lang="en-US" sz="1100" dirty="0"/>
          </a:p>
        </p:txBody>
      </p:sp>
      <p:sp>
        <p:nvSpPr>
          <p:cNvPr id="39" name="Text 34"/>
          <p:cNvSpPr/>
          <p:nvPr/>
        </p:nvSpPr>
        <p:spPr>
          <a:xfrm>
            <a:off x="4800600" y="4041648"/>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Claude AI · OpenAI API</a:t>
            </a:r>
            <a:endParaRPr lang="en-US" sz="850" dirty="0"/>
          </a:p>
        </p:txBody>
      </p:sp>
      <p:sp>
        <p:nvSpPr>
          <p:cNvPr id="40" name="Text 35"/>
          <p:cNvSpPr/>
          <p:nvPr/>
        </p:nvSpPr>
        <p:spPr>
          <a:xfrm>
            <a:off x="4800600" y="4325112"/>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XGBoost · Isolation Forest</a:t>
            </a:r>
            <a:endParaRPr lang="en-US" sz="850" dirty="0"/>
          </a:p>
        </p:txBody>
      </p:sp>
      <p:sp>
        <p:nvSpPr>
          <p:cNvPr id="41" name="Text 36"/>
          <p:cNvSpPr/>
          <p:nvPr/>
        </p:nvSpPr>
        <p:spPr>
          <a:xfrm>
            <a:off x="4800600" y="4608576"/>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AI Copilot · Report Gen</a:t>
            </a:r>
            <a:endParaRPr lang="en-US" sz="850" dirty="0"/>
          </a:p>
        </p:txBody>
      </p:sp>
      <p:sp>
        <p:nvSpPr>
          <p:cNvPr id="42" name="Shape 37"/>
          <p:cNvSpPr/>
          <p:nvPr/>
        </p:nvSpPr>
        <p:spPr>
          <a:xfrm>
            <a:off x="6903720" y="3520440"/>
            <a:ext cx="2011680" cy="1463040"/>
          </a:xfrm>
          <a:prstGeom prst="roundRect">
            <a:avLst>
              <a:gd name="adj" fmla="val 6250"/>
            </a:avLst>
          </a:prstGeom>
          <a:solidFill>
            <a:srgbClr val="101D35"/>
          </a:solidFill>
          <a:ln w="12700">
            <a:solidFill>
              <a:srgbClr val="00E676">
                <a:alpha val="40000"/>
              </a:srgbClr>
            </a:solidFill>
            <a:prstDash val="solid"/>
          </a:ln>
        </p:spPr>
      </p:sp>
      <p:pic>
        <p:nvPicPr>
          <p:cNvPr id="43" name="Image 3" descr="preencoded.png">    </p:cNvPr>
          <p:cNvPicPr>
            <a:picLocks noChangeAspect="1"/>
          </p:cNvPicPr>
          <p:nvPr/>
        </p:nvPicPr>
        <p:blipFill>
          <a:blip r:embed="rId4"/>
          <a:stretch>
            <a:fillRect/>
          </a:stretch>
        </p:blipFill>
        <p:spPr>
          <a:xfrm>
            <a:off x="6995160" y="3611880"/>
            <a:ext cx="347472" cy="347472"/>
          </a:xfrm>
          <a:prstGeom prst="rect">
            <a:avLst/>
          </a:prstGeom>
        </p:spPr>
      </p:pic>
      <p:sp>
        <p:nvSpPr>
          <p:cNvPr id="44" name="Text 38"/>
          <p:cNvSpPr/>
          <p:nvPr/>
        </p:nvSpPr>
        <p:spPr>
          <a:xfrm>
            <a:off x="7406640" y="3611880"/>
            <a:ext cx="1417320" cy="320040"/>
          </a:xfrm>
          <a:prstGeom prst="rect">
            <a:avLst/>
          </a:prstGeom>
          <a:noFill/>
          <a:ln/>
        </p:spPr>
        <p:txBody>
          <a:bodyPr wrap="square" lIns="0" tIns="0" rIns="0" bIns="0" rtlCol="0" anchor="ctr"/>
          <a:lstStyle/>
          <a:p>
            <a:pPr algn="l" indent="0" marL="0">
              <a:buNone/>
            </a:pPr>
            <a:r>
              <a:rPr lang="en-US" sz="1100" b="1" dirty="0">
                <a:solidFill>
                  <a:srgbClr val="00E676"/>
                </a:solidFill>
                <a:latin typeface="Arial" pitchFamily="34" charset="0"/>
                <a:ea typeface="Arial" pitchFamily="34" charset="-122"/>
                <a:cs typeface="Arial" pitchFamily="34" charset="-120"/>
              </a:rPr>
              <a:t>Space Intelligence</a:t>
            </a:r>
            <a:endParaRPr lang="en-US" sz="1100" dirty="0"/>
          </a:p>
        </p:txBody>
      </p:sp>
      <p:sp>
        <p:nvSpPr>
          <p:cNvPr id="45" name="Text 39"/>
          <p:cNvSpPr/>
          <p:nvPr/>
        </p:nvSpPr>
        <p:spPr>
          <a:xfrm>
            <a:off x="6995160" y="4041648"/>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NOAA Space Weather API</a:t>
            </a:r>
            <a:endParaRPr lang="en-US" sz="850" dirty="0"/>
          </a:p>
        </p:txBody>
      </p:sp>
      <p:sp>
        <p:nvSpPr>
          <p:cNvPr id="46" name="Text 40"/>
          <p:cNvSpPr/>
          <p:nvPr/>
        </p:nvSpPr>
        <p:spPr>
          <a:xfrm>
            <a:off x="6995160" y="4325112"/>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CelesTrak · SGP4 · Skyfield</a:t>
            </a:r>
            <a:endParaRPr lang="en-US" sz="850" dirty="0"/>
          </a:p>
        </p:txBody>
      </p:sp>
      <p:sp>
        <p:nvSpPr>
          <p:cNvPr id="47" name="Text 41"/>
          <p:cNvSpPr/>
          <p:nvPr/>
        </p:nvSpPr>
        <p:spPr>
          <a:xfrm>
            <a:off x="6995160" y="4608576"/>
            <a:ext cx="1828800" cy="256032"/>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 Poliastro · TLE Data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E1C"/>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2979FF">
              <a:alpha val="6000"/>
            </a:srgbClr>
          </a:solidFill>
          <a:ln w="12700">
            <a:solidFill>
              <a:srgbClr val="2979FF"/>
            </a:solidFill>
            <a:prstDash val="solid"/>
          </a:ln>
        </p:spPr>
      </p:sp>
      <p:sp>
        <p:nvSpPr>
          <p:cNvPr id="3" name="Text 1"/>
          <p:cNvSpPr/>
          <p:nvPr/>
        </p:nvSpPr>
        <p:spPr>
          <a:xfrm>
            <a:off x="457200" y="182880"/>
            <a:ext cx="8229600" cy="347472"/>
          </a:xfrm>
          <a:prstGeom prst="rect">
            <a:avLst/>
          </a:prstGeom>
          <a:noFill/>
          <a:ln/>
        </p:spPr>
        <p:txBody>
          <a:bodyPr wrap="square" lIns="0" tIns="0" rIns="0" bIns="0" rtlCol="0" anchor="ctr"/>
          <a:lstStyle/>
          <a:p>
            <a:pPr algn="l" indent="0" marL="0">
              <a:buNone/>
            </a:pPr>
            <a:r>
              <a:rPr lang="en-US" sz="1000" b="1" spc="500" kern="0" dirty="0">
                <a:solidFill>
                  <a:srgbClr val="00E5FF"/>
                </a:solidFill>
                <a:latin typeface="Arial" pitchFamily="34" charset="0"/>
                <a:ea typeface="Arial" pitchFamily="34" charset="-122"/>
                <a:cs typeface="Arial" pitchFamily="34" charset="-120"/>
              </a:rPr>
              <a:t>IMPACT &amp; FUTURE VISION</a:t>
            </a:r>
            <a:endParaRPr lang="en-US" sz="10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What We Proved. Where We Go.</a:t>
            </a:r>
            <a:endParaRPr lang="en-US" sz="3000" dirty="0"/>
          </a:p>
        </p:txBody>
      </p:sp>
      <p:sp>
        <p:nvSpPr>
          <p:cNvPr id="5" name="Shape 3"/>
          <p:cNvSpPr/>
          <p:nvPr/>
        </p:nvSpPr>
        <p:spPr>
          <a:xfrm>
            <a:off x="365760" y="1353312"/>
            <a:ext cx="1965960" cy="1005840"/>
          </a:xfrm>
          <a:prstGeom prst="roundRect">
            <a:avLst>
              <a:gd name="adj" fmla="val 9091"/>
            </a:avLst>
          </a:prstGeom>
          <a:solidFill>
            <a:srgbClr val="101D35"/>
          </a:solidFill>
          <a:ln w="12700">
            <a:solidFill>
              <a:srgbClr val="00E676">
                <a:alpha val="45000"/>
              </a:srgbClr>
            </a:solidFill>
            <a:prstDash val="solid"/>
          </a:ln>
        </p:spPr>
      </p:sp>
      <p:sp>
        <p:nvSpPr>
          <p:cNvPr id="6" name="Text 4"/>
          <p:cNvSpPr/>
          <p:nvPr/>
        </p:nvSpPr>
        <p:spPr>
          <a:xfrm>
            <a:off x="457200" y="1417320"/>
            <a:ext cx="1783080" cy="475488"/>
          </a:xfrm>
          <a:prstGeom prst="rect">
            <a:avLst/>
          </a:prstGeom>
          <a:noFill/>
          <a:ln/>
        </p:spPr>
        <p:txBody>
          <a:bodyPr wrap="square" lIns="0" tIns="0" rIns="0" bIns="0" rtlCol="0" anchor="ctr"/>
          <a:lstStyle/>
          <a:p>
            <a:pPr algn="ctr" indent="0" marL="0">
              <a:buNone/>
            </a:pPr>
            <a:r>
              <a:rPr lang="en-US" sz="2600" b="1" dirty="0">
                <a:solidFill>
                  <a:srgbClr val="00E676"/>
                </a:solidFill>
                <a:latin typeface="Arial" pitchFamily="34" charset="0"/>
                <a:ea typeface="Arial" pitchFamily="34" charset="-122"/>
                <a:cs typeface="Arial" pitchFamily="34" charset="-120"/>
              </a:rPr>
              <a:t>&lt; 1s</a:t>
            </a:r>
            <a:endParaRPr lang="en-US" sz="2600" dirty="0"/>
          </a:p>
        </p:txBody>
      </p:sp>
      <p:sp>
        <p:nvSpPr>
          <p:cNvPr id="7" name="Text 5"/>
          <p:cNvSpPr/>
          <p:nvPr/>
        </p:nvSpPr>
        <p:spPr>
          <a:xfrm>
            <a:off x="457200" y="1883664"/>
            <a:ext cx="1783080" cy="347472"/>
          </a:xfrm>
          <a:prstGeom prst="rect">
            <a:avLst/>
          </a:prstGeom>
          <a:noFill/>
          <a:ln/>
        </p:spPr>
        <p:txBody>
          <a:bodyPr wrap="square" lIns="0" tIns="0" rIns="0" bIns="0" rtlCol="0" anchor="ctr"/>
          <a:lstStyle/>
          <a:p>
            <a:pPr algn="ctr" indent="0" marL="0">
              <a:buNone/>
            </a:pPr>
            <a:r>
              <a:rPr lang="en-US" sz="950" dirty="0">
                <a:solidFill>
                  <a:srgbClr val="B0BEC5"/>
                </a:solidFill>
                <a:latin typeface="Arial" pitchFamily="34" charset="0"/>
                <a:ea typeface="Arial" pitchFamily="34" charset="-122"/>
                <a:cs typeface="Arial" pitchFamily="34" charset="-120"/>
              </a:rPr>
              <a:t>AI response time</a:t>
            </a:r>
            <a:endParaRPr lang="en-US" sz="950" dirty="0"/>
          </a:p>
        </p:txBody>
      </p:sp>
      <p:sp>
        <p:nvSpPr>
          <p:cNvPr id="8" name="Shape 6"/>
          <p:cNvSpPr/>
          <p:nvPr/>
        </p:nvSpPr>
        <p:spPr>
          <a:xfrm>
            <a:off x="2514600" y="1353312"/>
            <a:ext cx="1965960" cy="1005840"/>
          </a:xfrm>
          <a:prstGeom prst="roundRect">
            <a:avLst>
              <a:gd name="adj" fmla="val 9091"/>
            </a:avLst>
          </a:prstGeom>
          <a:solidFill>
            <a:srgbClr val="101D35"/>
          </a:solidFill>
          <a:ln w="12700">
            <a:solidFill>
              <a:srgbClr val="FF1744">
                <a:alpha val="45000"/>
              </a:srgbClr>
            </a:solidFill>
            <a:prstDash val="solid"/>
          </a:ln>
        </p:spPr>
      </p:sp>
      <p:sp>
        <p:nvSpPr>
          <p:cNvPr id="9" name="Text 7"/>
          <p:cNvSpPr/>
          <p:nvPr/>
        </p:nvSpPr>
        <p:spPr>
          <a:xfrm>
            <a:off x="2606040" y="1417320"/>
            <a:ext cx="1783080" cy="475488"/>
          </a:xfrm>
          <a:prstGeom prst="rect">
            <a:avLst/>
          </a:prstGeom>
          <a:noFill/>
          <a:ln/>
        </p:spPr>
        <p:txBody>
          <a:bodyPr wrap="square" lIns="0" tIns="0" rIns="0" bIns="0" rtlCol="0" anchor="ctr"/>
          <a:lstStyle/>
          <a:p>
            <a:pPr algn="ctr" indent="0" marL="0">
              <a:buNone/>
            </a:pPr>
            <a:r>
              <a:rPr lang="en-US" sz="2600" b="1" dirty="0">
                <a:solidFill>
                  <a:srgbClr val="FF1744"/>
                </a:solidFill>
                <a:latin typeface="Arial" pitchFamily="34" charset="0"/>
                <a:ea typeface="Arial" pitchFamily="34" charset="-122"/>
                <a:cs typeface="Arial" pitchFamily="34" charset="-120"/>
              </a:rPr>
              <a:t>98%</a:t>
            </a:r>
            <a:endParaRPr lang="en-US" sz="2600" dirty="0"/>
          </a:p>
        </p:txBody>
      </p:sp>
      <p:sp>
        <p:nvSpPr>
          <p:cNvPr id="10" name="Text 8"/>
          <p:cNvSpPr/>
          <p:nvPr/>
        </p:nvSpPr>
        <p:spPr>
          <a:xfrm>
            <a:off x="2606040" y="1883664"/>
            <a:ext cx="1783080" cy="347472"/>
          </a:xfrm>
          <a:prstGeom prst="rect">
            <a:avLst/>
          </a:prstGeom>
          <a:noFill/>
          <a:ln/>
        </p:spPr>
        <p:txBody>
          <a:bodyPr wrap="square" lIns="0" tIns="0" rIns="0" bIns="0" rtlCol="0" anchor="ctr"/>
          <a:lstStyle/>
          <a:p>
            <a:pPr algn="ctr" indent="0" marL="0">
              <a:buNone/>
            </a:pPr>
            <a:r>
              <a:rPr lang="en-US" sz="950" dirty="0">
                <a:solidFill>
                  <a:srgbClr val="B0BEC5"/>
                </a:solidFill>
                <a:latin typeface="Arial" pitchFamily="34" charset="0"/>
                <a:ea typeface="Arial" pitchFamily="34" charset="-122"/>
                <a:cs typeface="Arial" pitchFamily="34" charset="-120"/>
              </a:rPr>
              <a:t>Failure risk detected</a:t>
            </a:r>
            <a:endParaRPr lang="en-US" sz="950" dirty="0"/>
          </a:p>
        </p:txBody>
      </p:sp>
      <p:sp>
        <p:nvSpPr>
          <p:cNvPr id="11" name="Shape 9"/>
          <p:cNvSpPr/>
          <p:nvPr/>
        </p:nvSpPr>
        <p:spPr>
          <a:xfrm>
            <a:off x="4663440" y="1353312"/>
            <a:ext cx="1965960" cy="1005840"/>
          </a:xfrm>
          <a:prstGeom prst="roundRect">
            <a:avLst>
              <a:gd name="adj" fmla="val 9091"/>
            </a:avLst>
          </a:prstGeom>
          <a:solidFill>
            <a:srgbClr val="101D35"/>
          </a:solidFill>
          <a:ln w="12700">
            <a:solidFill>
              <a:srgbClr val="00E5FF">
                <a:alpha val="45000"/>
              </a:srgbClr>
            </a:solidFill>
            <a:prstDash val="solid"/>
          </a:ln>
        </p:spPr>
      </p:sp>
      <p:sp>
        <p:nvSpPr>
          <p:cNvPr id="12" name="Text 10"/>
          <p:cNvSpPr/>
          <p:nvPr/>
        </p:nvSpPr>
        <p:spPr>
          <a:xfrm>
            <a:off x="4754880" y="1417320"/>
            <a:ext cx="1783080" cy="475488"/>
          </a:xfrm>
          <a:prstGeom prst="rect">
            <a:avLst/>
          </a:prstGeom>
          <a:noFill/>
          <a:ln/>
        </p:spPr>
        <p:txBody>
          <a:bodyPr wrap="square" lIns="0" tIns="0" rIns="0" bIns="0" rtlCol="0" anchor="ctr"/>
          <a:lstStyle/>
          <a:p>
            <a:pPr algn="ctr" indent="0" marL="0">
              <a:buNone/>
            </a:pPr>
            <a:r>
              <a:rPr lang="en-US" sz="2600" b="1" dirty="0">
                <a:solidFill>
                  <a:srgbClr val="00E5FF"/>
                </a:solidFill>
                <a:latin typeface="Arial" pitchFamily="34" charset="0"/>
                <a:ea typeface="Arial" pitchFamily="34" charset="-122"/>
                <a:cs typeface="Arial" pitchFamily="34" charset="-120"/>
              </a:rPr>
              <a:t>Real-time</a:t>
            </a:r>
            <a:endParaRPr lang="en-US" sz="2600" dirty="0"/>
          </a:p>
        </p:txBody>
      </p:sp>
      <p:sp>
        <p:nvSpPr>
          <p:cNvPr id="13" name="Text 11"/>
          <p:cNvSpPr/>
          <p:nvPr/>
        </p:nvSpPr>
        <p:spPr>
          <a:xfrm>
            <a:off x="4754880" y="1883664"/>
            <a:ext cx="1783080" cy="347472"/>
          </a:xfrm>
          <a:prstGeom prst="rect">
            <a:avLst/>
          </a:prstGeom>
          <a:noFill/>
          <a:ln/>
        </p:spPr>
        <p:txBody>
          <a:bodyPr wrap="square" lIns="0" tIns="0" rIns="0" bIns="0" rtlCol="0" anchor="ctr"/>
          <a:lstStyle/>
          <a:p>
            <a:pPr algn="ctr" indent="0" marL="0">
              <a:buNone/>
            </a:pPr>
            <a:r>
              <a:rPr lang="en-US" sz="950" dirty="0">
                <a:solidFill>
                  <a:srgbClr val="B0BEC5"/>
                </a:solidFill>
                <a:latin typeface="Arial" pitchFamily="34" charset="0"/>
                <a:ea typeface="Arial" pitchFamily="34" charset="-122"/>
                <a:cs typeface="Arial" pitchFamily="34" charset="-120"/>
              </a:rPr>
              <a:t>Live data integration</a:t>
            </a:r>
            <a:endParaRPr lang="en-US" sz="950" dirty="0"/>
          </a:p>
        </p:txBody>
      </p:sp>
      <p:sp>
        <p:nvSpPr>
          <p:cNvPr id="14" name="Shape 12"/>
          <p:cNvSpPr/>
          <p:nvPr/>
        </p:nvSpPr>
        <p:spPr>
          <a:xfrm>
            <a:off x="6812280" y="1353312"/>
            <a:ext cx="1965960" cy="1005840"/>
          </a:xfrm>
          <a:prstGeom prst="roundRect">
            <a:avLst>
              <a:gd name="adj" fmla="val 9091"/>
            </a:avLst>
          </a:prstGeom>
          <a:solidFill>
            <a:srgbClr val="101D35"/>
          </a:solidFill>
          <a:ln w="12700">
            <a:solidFill>
              <a:srgbClr val="2979FF">
                <a:alpha val="45000"/>
              </a:srgbClr>
            </a:solidFill>
            <a:prstDash val="solid"/>
          </a:ln>
        </p:spPr>
      </p:sp>
      <p:sp>
        <p:nvSpPr>
          <p:cNvPr id="15" name="Text 13"/>
          <p:cNvSpPr/>
          <p:nvPr/>
        </p:nvSpPr>
        <p:spPr>
          <a:xfrm>
            <a:off x="6903720" y="1417320"/>
            <a:ext cx="1783080" cy="475488"/>
          </a:xfrm>
          <a:prstGeom prst="rect">
            <a:avLst/>
          </a:prstGeom>
          <a:noFill/>
          <a:ln/>
        </p:spPr>
        <p:txBody>
          <a:bodyPr wrap="square" lIns="0" tIns="0" rIns="0" bIns="0" rtlCol="0" anchor="ctr"/>
          <a:lstStyle/>
          <a:p>
            <a:pPr algn="ctr" indent="0" marL="0">
              <a:buNone/>
            </a:pPr>
            <a:r>
              <a:rPr lang="en-US" sz="2600" b="1" dirty="0">
                <a:solidFill>
                  <a:srgbClr val="2979FF"/>
                </a:solidFill>
                <a:latin typeface="Arial" pitchFamily="34" charset="0"/>
                <a:ea typeface="Arial" pitchFamily="34" charset="-122"/>
                <a:cs typeface="Arial" pitchFamily="34" charset="-120"/>
              </a:rPr>
              <a:t>6 modules</a:t>
            </a:r>
            <a:endParaRPr lang="en-US" sz="2600" dirty="0"/>
          </a:p>
        </p:txBody>
      </p:sp>
      <p:sp>
        <p:nvSpPr>
          <p:cNvPr id="16" name="Text 14"/>
          <p:cNvSpPr/>
          <p:nvPr/>
        </p:nvSpPr>
        <p:spPr>
          <a:xfrm>
            <a:off x="6903720" y="1883664"/>
            <a:ext cx="1783080" cy="347472"/>
          </a:xfrm>
          <a:prstGeom prst="rect">
            <a:avLst/>
          </a:prstGeom>
          <a:noFill/>
          <a:ln/>
        </p:spPr>
        <p:txBody>
          <a:bodyPr wrap="square" lIns="0" tIns="0" rIns="0" bIns="0" rtlCol="0" anchor="ctr"/>
          <a:lstStyle/>
          <a:p>
            <a:pPr algn="ctr" indent="0" marL="0">
              <a:buNone/>
            </a:pPr>
            <a:r>
              <a:rPr lang="en-US" sz="950" dirty="0">
                <a:solidFill>
                  <a:srgbClr val="B0BEC5"/>
                </a:solidFill>
                <a:latin typeface="Arial" pitchFamily="34" charset="0"/>
                <a:ea typeface="Arial" pitchFamily="34" charset="-122"/>
                <a:cs typeface="Arial" pitchFamily="34" charset="-120"/>
              </a:rPr>
              <a:t>Unified platform</a:t>
            </a:r>
            <a:endParaRPr lang="en-US" sz="950" dirty="0"/>
          </a:p>
        </p:txBody>
      </p:sp>
      <p:sp>
        <p:nvSpPr>
          <p:cNvPr id="17" name="Text 15"/>
          <p:cNvSpPr/>
          <p:nvPr/>
        </p:nvSpPr>
        <p:spPr>
          <a:xfrm>
            <a:off x="457200" y="2578608"/>
            <a:ext cx="8229600" cy="320040"/>
          </a:xfrm>
          <a:prstGeom prst="rect">
            <a:avLst/>
          </a:prstGeom>
          <a:noFill/>
          <a:ln/>
        </p:spPr>
        <p:txBody>
          <a:bodyPr wrap="square" lIns="0" tIns="0" rIns="0" bIns="0" rtlCol="0" anchor="ctr"/>
          <a:lstStyle/>
          <a:p>
            <a:pPr algn="l" indent="0" marL="0">
              <a:buNone/>
            </a:pPr>
            <a:r>
              <a:rPr lang="en-US" sz="900" b="1" spc="500" kern="0" dirty="0">
                <a:solidFill>
                  <a:srgbClr val="2979FF"/>
                </a:solidFill>
                <a:latin typeface="Arial" pitchFamily="34" charset="0"/>
                <a:ea typeface="Arial" pitchFamily="34" charset="-122"/>
                <a:cs typeface="Arial" pitchFamily="34" charset="-120"/>
              </a:rPr>
              <a:t>ROADMAP</a:t>
            </a:r>
            <a:endParaRPr lang="en-US" sz="900" dirty="0"/>
          </a:p>
        </p:txBody>
      </p:sp>
      <p:sp>
        <p:nvSpPr>
          <p:cNvPr id="18" name="Shape 16"/>
          <p:cNvSpPr/>
          <p:nvPr/>
        </p:nvSpPr>
        <p:spPr>
          <a:xfrm>
            <a:off x="365760" y="2971800"/>
            <a:ext cx="1965960" cy="1965960"/>
          </a:xfrm>
          <a:prstGeom prst="roundRect">
            <a:avLst>
              <a:gd name="adj" fmla="val 4651"/>
            </a:avLst>
          </a:prstGeom>
          <a:solidFill>
            <a:srgbClr val="0D1A2E"/>
          </a:solidFill>
          <a:ln w="12700">
            <a:solidFill>
              <a:srgbClr val="00E5FF">
                <a:alpha val="40000"/>
              </a:srgbClr>
            </a:solidFill>
            <a:prstDash val="solid"/>
          </a:ln>
        </p:spPr>
      </p:sp>
      <p:pic>
        <p:nvPicPr>
          <p:cNvPr id="19" name="Image 0" descr="preencoded.png">    </p:cNvPr>
          <p:cNvPicPr>
            <a:picLocks noChangeAspect="1"/>
          </p:cNvPicPr>
          <p:nvPr/>
        </p:nvPicPr>
        <p:blipFill>
          <a:blip r:embed="rId1"/>
          <a:stretch>
            <a:fillRect/>
          </a:stretch>
        </p:blipFill>
        <p:spPr>
          <a:xfrm>
            <a:off x="548640" y="3108960"/>
            <a:ext cx="411480" cy="411480"/>
          </a:xfrm>
          <a:prstGeom prst="rect">
            <a:avLst/>
          </a:prstGeom>
        </p:spPr>
      </p:pic>
      <p:sp>
        <p:nvSpPr>
          <p:cNvPr id="20" name="Text 17"/>
          <p:cNvSpPr/>
          <p:nvPr/>
        </p:nvSpPr>
        <p:spPr>
          <a:xfrm>
            <a:off x="457200" y="3593592"/>
            <a:ext cx="1783080" cy="384048"/>
          </a:xfrm>
          <a:prstGeom prst="rect">
            <a:avLst/>
          </a:prstGeom>
          <a:noFill/>
          <a:ln/>
        </p:spPr>
        <p:txBody>
          <a:bodyPr wrap="square" lIns="0" tIns="0" rIns="0" bIns="0" rtlCol="0" anchor="ctr"/>
          <a:lstStyle/>
          <a:p>
            <a:pPr algn="l" indent="0" marL="0">
              <a:buNone/>
            </a:pPr>
            <a:r>
              <a:rPr lang="en-US" sz="1000" b="1" dirty="0">
                <a:solidFill>
                  <a:srgbClr val="00E5FF"/>
                </a:solidFill>
                <a:latin typeface="Arial" pitchFamily="34" charset="0"/>
                <a:ea typeface="Arial" pitchFamily="34" charset="-122"/>
                <a:cs typeface="Arial" pitchFamily="34" charset="-120"/>
              </a:rPr>
              <a:t>Fleet Intelligence</a:t>
            </a:r>
            <a:endParaRPr lang="en-US" sz="1000" dirty="0"/>
          </a:p>
        </p:txBody>
      </p:sp>
      <p:sp>
        <p:nvSpPr>
          <p:cNvPr id="21" name="Text 18"/>
          <p:cNvSpPr/>
          <p:nvPr/>
        </p:nvSpPr>
        <p:spPr>
          <a:xfrm>
            <a:off x="457200" y="3977640"/>
            <a:ext cx="1783080" cy="868680"/>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Monitor hundreds of satellites simultaneously with cross-fleet anomaly correlation.</a:t>
            </a:r>
            <a:endParaRPr lang="en-US" sz="850" dirty="0"/>
          </a:p>
        </p:txBody>
      </p:sp>
      <p:sp>
        <p:nvSpPr>
          <p:cNvPr id="22" name="Shape 19"/>
          <p:cNvSpPr/>
          <p:nvPr/>
        </p:nvSpPr>
        <p:spPr>
          <a:xfrm>
            <a:off x="2514600" y="2971800"/>
            <a:ext cx="1965960" cy="1965960"/>
          </a:xfrm>
          <a:prstGeom prst="roundRect">
            <a:avLst>
              <a:gd name="adj" fmla="val 4651"/>
            </a:avLst>
          </a:prstGeom>
          <a:solidFill>
            <a:srgbClr val="0D1A2E"/>
          </a:solidFill>
          <a:ln w="12700">
            <a:solidFill>
              <a:srgbClr val="00E676">
                <a:alpha val="40000"/>
              </a:srgbClr>
            </a:solidFill>
            <a:prstDash val="solid"/>
          </a:ln>
        </p:spPr>
      </p:sp>
      <p:pic>
        <p:nvPicPr>
          <p:cNvPr id="23" name="Image 1" descr="preencoded.png">    </p:cNvPr>
          <p:cNvPicPr>
            <a:picLocks noChangeAspect="1"/>
          </p:cNvPicPr>
          <p:nvPr/>
        </p:nvPicPr>
        <p:blipFill>
          <a:blip r:embed="rId2"/>
          <a:stretch>
            <a:fillRect/>
          </a:stretch>
        </p:blipFill>
        <p:spPr>
          <a:xfrm>
            <a:off x="2697480" y="3108960"/>
            <a:ext cx="411480" cy="411480"/>
          </a:xfrm>
          <a:prstGeom prst="rect">
            <a:avLst/>
          </a:prstGeom>
        </p:spPr>
      </p:pic>
      <p:sp>
        <p:nvSpPr>
          <p:cNvPr id="24" name="Text 20"/>
          <p:cNvSpPr/>
          <p:nvPr/>
        </p:nvSpPr>
        <p:spPr>
          <a:xfrm>
            <a:off x="2606040" y="3593592"/>
            <a:ext cx="1783080" cy="384048"/>
          </a:xfrm>
          <a:prstGeom prst="rect">
            <a:avLst/>
          </a:prstGeom>
          <a:noFill/>
          <a:ln/>
        </p:spPr>
        <p:txBody>
          <a:bodyPr wrap="square" lIns="0" tIns="0" rIns="0" bIns="0" rtlCol="0" anchor="ctr"/>
          <a:lstStyle/>
          <a:p>
            <a:pPr algn="l" indent="0" marL="0">
              <a:buNone/>
            </a:pPr>
            <a:r>
              <a:rPr lang="en-US" sz="1000" b="1" dirty="0">
                <a:solidFill>
                  <a:srgbClr val="00E676"/>
                </a:solidFill>
                <a:latin typeface="Arial" pitchFamily="34" charset="0"/>
                <a:ea typeface="Arial" pitchFamily="34" charset="-122"/>
                <a:cs typeface="Arial" pitchFamily="34" charset="-120"/>
              </a:rPr>
              <a:t>Predictive Maintenance</a:t>
            </a:r>
            <a:endParaRPr lang="en-US" sz="1000" dirty="0"/>
          </a:p>
        </p:txBody>
      </p:sp>
      <p:sp>
        <p:nvSpPr>
          <p:cNvPr id="25" name="Text 21"/>
          <p:cNvSpPr/>
          <p:nvPr/>
        </p:nvSpPr>
        <p:spPr>
          <a:xfrm>
            <a:off x="2606040" y="3977640"/>
            <a:ext cx="1783080" cy="868680"/>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Proactively schedule maintenance before failures occur — reduce 41% failure rate.</a:t>
            </a:r>
            <a:endParaRPr lang="en-US" sz="850" dirty="0"/>
          </a:p>
        </p:txBody>
      </p:sp>
      <p:sp>
        <p:nvSpPr>
          <p:cNvPr id="26" name="Shape 22"/>
          <p:cNvSpPr/>
          <p:nvPr/>
        </p:nvSpPr>
        <p:spPr>
          <a:xfrm>
            <a:off x="4663440" y="2971800"/>
            <a:ext cx="1965960" cy="1965960"/>
          </a:xfrm>
          <a:prstGeom prst="roundRect">
            <a:avLst>
              <a:gd name="adj" fmla="val 4651"/>
            </a:avLst>
          </a:prstGeom>
          <a:solidFill>
            <a:srgbClr val="0D1A2E"/>
          </a:solidFill>
          <a:ln w="12700">
            <a:solidFill>
              <a:srgbClr val="2979FF">
                <a:alpha val="40000"/>
              </a:srgbClr>
            </a:solidFill>
            <a:prstDash val="solid"/>
          </a:ln>
        </p:spPr>
      </p:sp>
      <p:pic>
        <p:nvPicPr>
          <p:cNvPr id="27" name="Image 2" descr="preencoded.png">    </p:cNvPr>
          <p:cNvPicPr>
            <a:picLocks noChangeAspect="1"/>
          </p:cNvPicPr>
          <p:nvPr/>
        </p:nvPicPr>
        <p:blipFill>
          <a:blip r:embed="rId3"/>
          <a:stretch>
            <a:fillRect/>
          </a:stretch>
        </p:blipFill>
        <p:spPr>
          <a:xfrm>
            <a:off x="4846320" y="3108960"/>
            <a:ext cx="411480" cy="411480"/>
          </a:xfrm>
          <a:prstGeom prst="rect">
            <a:avLst/>
          </a:prstGeom>
        </p:spPr>
      </p:pic>
      <p:sp>
        <p:nvSpPr>
          <p:cNvPr id="28" name="Text 23"/>
          <p:cNvSpPr/>
          <p:nvPr/>
        </p:nvSpPr>
        <p:spPr>
          <a:xfrm>
            <a:off x="4754880" y="3593592"/>
            <a:ext cx="1783080" cy="384048"/>
          </a:xfrm>
          <a:prstGeom prst="rect">
            <a:avLst/>
          </a:prstGeom>
          <a:noFill/>
          <a:ln/>
        </p:spPr>
        <p:txBody>
          <a:bodyPr wrap="square" lIns="0" tIns="0" rIns="0" bIns="0" rtlCol="0" anchor="ctr"/>
          <a:lstStyle/>
          <a:p>
            <a:pPr algn="l" indent="0" marL="0">
              <a:buNone/>
            </a:pPr>
            <a:r>
              <a:rPr lang="en-US" sz="1000" b="1" dirty="0">
                <a:solidFill>
                  <a:srgbClr val="2979FF"/>
                </a:solidFill>
                <a:latin typeface="Arial" pitchFamily="34" charset="0"/>
                <a:ea typeface="Arial" pitchFamily="34" charset="-122"/>
                <a:cs typeface="Arial" pitchFamily="34" charset="-120"/>
              </a:rPr>
              <a:t>Autonomous Maneuvers</a:t>
            </a:r>
            <a:endParaRPr lang="en-US" sz="1000" dirty="0"/>
          </a:p>
        </p:txBody>
      </p:sp>
      <p:sp>
        <p:nvSpPr>
          <p:cNvPr id="29" name="Text 24"/>
          <p:cNvSpPr/>
          <p:nvPr/>
        </p:nvSpPr>
        <p:spPr>
          <a:xfrm>
            <a:off x="4754880" y="3977640"/>
            <a:ext cx="1783080" cy="868680"/>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AI-planned collision avoidance burns — from alert to execution, automated.</a:t>
            </a:r>
            <a:endParaRPr lang="en-US" sz="850" dirty="0"/>
          </a:p>
        </p:txBody>
      </p:sp>
      <p:sp>
        <p:nvSpPr>
          <p:cNvPr id="30" name="Shape 25"/>
          <p:cNvSpPr/>
          <p:nvPr/>
        </p:nvSpPr>
        <p:spPr>
          <a:xfrm>
            <a:off x="6812280" y="2971800"/>
            <a:ext cx="1965960" cy="1965960"/>
          </a:xfrm>
          <a:prstGeom prst="roundRect">
            <a:avLst>
              <a:gd name="adj" fmla="val 4651"/>
            </a:avLst>
          </a:prstGeom>
          <a:solidFill>
            <a:srgbClr val="0D1A2E"/>
          </a:solidFill>
          <a:ln w="12700">
            <a:solidFill>
              <a:srgbClr val="AA00FF">
                <a:alpha val="40000"/>
              </a:srgbClr>
            </a:solidFill>
            <a:prstDash val="solid"/>
          </a:ln>
        </p:spPr>
      </p:sp>
      <p:pic>
        <p:nvPicPr>
          <p:cNvPr id="31" name="Image 3" descr="preencoded.png">    </p:cNvPr>
          <p:cNvPicPr>
            <a:picLocks noChangeAspect="1"/>
          </p:cNvPicPr>
          <p:nvPr/>
        </p:nvPicPr>
        <p:blipFill>
          <a:blip r:embed="rId4"/>
          <a:stretch>
            <a:fillRect/>
          </a:stretch>
        </p:blipFill>
        <p:spPr>
          <a:xfrm>
            <a:off x="6995160" y="3108960"/>
            <a:ext cx="411480" cy="411480"/>
          </a:xfrm>
          <a:prstGeom prst="rect">
            <a:avLst/>
          </a:prstGeom>
        </p:spPr>
      </p:pic>
      <p:sp>
        <p:nvSpPr>
          <p:cNvPr id="32" name="Text 26"/>
          <p:cNvSpPr/>
          <p:nvPr/>
        </p:nvSpPr>
        <p:spPr>
          <a:xfrm>
            <a:off x="6903720" y="3593592"/>
            <a:ext cx="1783080" cy="384048"/>
          </a:xfrm>
          <a:prstGeom prst="rect">
            <a:avLst/>
          </a:prstGeom>
          <a:noFill/>
          <a:ln/>
        </p:spPr>
        <p:txBody>
          <a:bodyPr wrap="square" lIns="0" tIns="0" rIns="0" bIns="0" rtlCol="0" anchor="ctr"/>
          <a:lstStyle/>
          <a:p>
            <a:pPr algn="l" indent="0" marL="0">
              <a:buNone/>
            </a:pPr>
            <a:r>
              <a:rPr lang="en-US" sz="1000" b="1" dirty="0">
                <a:solidFill>
                  <a:srgbClr val="AA00FF"/>
                </a:solidFill>
                <a:latin typeface="Arial" pitchFamily="34" charset="0"/>
                <a:ea typeface="Arial" pitchFamily="34" charset="-122"/>
                <a:cs typeface="Arial" pitchFamily="34" charset="-120"/>
              </a:rPr>
              <a:t>Space Traffic Integration</a:t>
            </a:r>
            <a:endParaRPr lang="en-US" sz="1000" dirty="0"/>
          </a:p>
        </p:txBody>
      </p:sp>
      <p:sp>
        <p:nvSpPr>
          <p:cNvPr id="33" name="Text 27"/>
          <p:cNvSpPr/>
          <p:nvPr/>
        </p:nvSpPr>
        <p:spPr>
          <a:xfrm>
            <a:off x="6903720" y="3977640"/>
            <a:ext cx="1783080" cy="868680"/>
          </a:xfrm>
          <a:prstGeom prst="rect">
            <a:avLst/>
          </a:prstGeom>
          <a:noFill/>
          <a:ln/>
        </p:spPr>
        <p:txBody>
          <a:bodyPr wrap="square" lIns="0" tIns="0" rIns="0" bIns="0" rtlCol="0" anchor="ctr"/>
          <a:lstStyle/>
          <a:p>
            <a:pPr algn="l" indent="0" marL="0">
              <a:buNone/>
            </a:pPr>
            <a:r>
              <a:rPr lang="en-US" sz="850" dirty="0">
                <a:solidFill>
                  <a:srgbClr val="B0BEC5"/>
                </a:solidFill>
                <a:latin typeface="Arial" pitchFamily="34" charset="0"/>
                <a:ea typeface="Arial" pitchFamily="34" charset="-122"/>
                <a:cs typeface="Arial" pitchFamily="34" charset="-120"/>
              </a:rPr>
              <a:t>Full space traffic awareness with ESA, SpaceX, and OneWeb coordination layers.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A14"/>
        </a:solidFill>
      </p:bgPr>
    </p:bg>
    <p:spTree>
      <p:nvGrpSpPr>
        <p:cNvPr id="1" name=""/>
        <p:cNvGrpSpPr/>
        <p:nvPr/>
      </p:nvGrpSpPr>
      <p:grpSpPr>
        <a:xfrm>
          <a:off x="0" y="0"/>
          <a:ext cx="0" cy="0"/>
          <a:chOff x="0" y="0"/>
          <a:chExt cx="0" cy="0"/>
        </a:xfrm>
      </p:grpSpPr>
      <p:sp>
        <p:nvSpPr>
          <p:cNvPr id="2" name="Shape 0"/>
          <p:cNvSpPr/>
          <p:nvPr/>
        </p:nvSpPr>
        <p:spPr>
          <a:xfrm>
            <a:off x="457200" y="274320"/>
            <a:ext cx="36576" cy="36576"/>
          </a:xfrm>
          <a:prstGeom prst="ellipse">
            <a:avLst/>
          </a:prstGeom>
          <a:solidFill>
            <a:srgbClr val="FFFFFF"/>
          </a:solidFill>
          <a:ln w="12700">
            <a:solidFill>
              <a:srgbClr val="FFFFFF"/>
            </a:solidFill>
            <a:prstDash val="solid"/>
          </a:ln>
        </p:spPr>
      </p:sp>
      <p:sp>
        <p:nvSpPr>
          <p:cNvPr id="3" name="Shape 1"/>
          <p:cNvSpPr/>
          <p:nvPr/>
        </p:nvSpPr>
        <p:spPr>
          <a:xfrm>
            <a:off x="1828800" y="640080"/>
            <a:ext cx="36576" cy="36576"/>
          </a:xfrm>
          <a:prstGeom prst="ellipse">
            <a:avLst/>
          </a:prstGeom>
          <a:solidFill>
            <a:srgbClr val="FFFFFF"/>
          </a:solidFill>
          <a:ln w="12700">
            <a:solidFill>
              <a:srgbClr val="FFFFFF"/>
            </a:solidFill>
            <a:prstDash val="solid"/>
          </a:ln>
        </p:spPr>
      </p:sp>
      <p:sp>
        <p:nvSpPr>
          <p:cNvPr id="4" name="Shape 2"/>
          <p:cNvSpPr/>
          <p:nvPr/>
        </p:nvSpPr>
        <p:spPr>
          <a:xfrm>
            <a:off x="3840480" y="365760"/>
            <a:ext cx="36576" cy="36576"/>
          </a:xfrm>
          <a:prstGeom prst="ellipse">
            <a:avLst/>
          </a:prstGeom>
          <a:solidFill>
            <a:srgbClr val="FFFFFF"/>
          </a:solidFill>
          <a:ln w="12700">
            <a:solidFill>
              <a:srgbClr val="FFFFFF"/>
            </a:solidFill>
            <a:prstDash val="solid"/>
          </a:ln>
        </p:spPr>
      </p:sp>
      <p:sp>
        <p:nvSpPr>
          <p:cNvPr id="5" name="Shape 3"/>
          <p:cNvSpPr/>
          <p:nvPr/>
        </p:nvSpPr>
        <p:spPr>
          <a:xfrm>
            <a:off x="5943600" y="182880"/>
            <a:ext cx="36576" cy="36576"/>
          </a:xfrm>
          <a:prstGeom prst="ellipse">
            <a:avLst/>
          </a:prstGeom>
          <a:solidFill>
            <a:srgbClr val="FFFFFF"/>
          </a:solidFill>
          <a:ln w="12700">
            <a:solidFill>
              <a:srgbClr val="FFFFFF"/>
            </a:solidFill>
            <a:prstDash val="solid"/>
          </a:ln>
        </p:spPr>
      </p:sp>
      <p:sp>
        <p:nvSpPr>
          <p:cNvPr id="6" name="Shape 4"/>
          <p:cNvSpPr/>
          <p:nvPr/>
        </p:nvSpPr>
        <p:spPr>
          <a:xfrm>
            <a:off x="8046720" y="457200"/>
            <a:ext cx="36576" cy="36576"/>
          </a:xfrm>
          <a:prstGeom prst="ellipse">
            <a:avLst/>
          </a:prstGeom>
          <a:solidFill>
            <a:srgbClr val="FFFFFF"/>
          </a:solidFill>
          <a:ln w="12700">
            <a:solidFill>
              <a:srgbClr val="FFFFFF"/>
            </a:solidFill>
            <a:prstDash val="solid"/>
          </a:ln>
        </p:spPr>
      </p:sp>
      <p:sp>
        <p:nvSpPr>
          <p:cNvPr id="7" name="Shape 5"/>
          <p:cNvSpPr/>
          <p:nvPr/>
        </p:nvSpPr>
        <p:spPr>
          <a:xfrm>
            <a:off x="8686800" y="914400"/>
            <a:ext cx="36576" cy="36576"/>
          </a:xfrm>
          <a:prstGeom prst="ellipse">
            <a:avLst/>
          </a:prstGeom>
          <a:solidFill>
            <a:srgbClr val="FFFFFF"/>
          </a:solidFill>
          <a:ln w="12700">
            <a:solidFill>
              <a:srgbClr val="FFFFFF"/>
            </a:solidFill>
            <a:prstDash val="solid"/>
          </a:ln>
        </p:spPr>
      </p:sp>
      <p:sp>
        <p:nvSpPr>
          <p:cNvPr id="8" name="Shape 6"/>
          <p:cNvSpPr/>
          <p:nvPr/>
        </p:nvSpPr>
        <p:spPr>
          <a:xfrm>
            <a:off x="914400" y="4389120"/>
            <a:ext cx="36576" cy="36576"/>
          </a:xfrm>
          <a:prstGeom prst="ellipse">
            <a:avLst/>
          </a:prstGeom>
          <a:solidFill>
            <a:srgbClr val="FFFFFF"/>
          </a:solidFill>
          <a:ln w="12700">
            <a:solidFill>
              <a:srgbClr val="FFFFFF"/>
            </a:solidFill>
            <a:prstDash val="solid"/>
          </a:ln>
        </p:spPr>
      </p:sp>
      <p:sp>
        <p:nvSpPr>
          <p:cNvPr id="9" name="Shape 7"/>
          <p:cNvSpPr/>
          <p:nvPr/>
        </p:nvSpPr>
        <p:spPr>
          <a:xfrm>
            <a:off x="3200400" y="4572000"/>
            <a:ext cx="36576" cy="36576"/>
          </a:xfrm>
          <a:prstGeom prst="ellipse">
            <a:avLst/>
          </a:prstGeom>
          <a:solidFill>
            <a:srgbClr val="FFFFFF"/>
          </a:solidFill>
          <a:ln w="12700">
            <a:solidFill>
              <a:srgbClr val="FFFFFF"/>
            </a:solidFill>
            <a:prstDash val="solid"/>
          </a:ln>
        </p:spPr>
      </p:sp>
      <p:sp>
        <p:nvSpPr>
          <p:cNvPr id="10" name="Shape 8"/>
          <p:cNvSpPr/>
          <p:nvPr/>
        </p:nvSpPr>
        <p:spPr>
          <a:xfrm>
            <a:off x="5029200" y="4297680"/>
            <a:ext cx="36576" cy="36576"/>
          </a:xfrm>
          <a:prstGeom prst="ellipse">
            <a:avLst/>
          </a:prstGeom>
          <a:solidFill>
            <a:srgbClr val="FFFFFF"/>
          </a:solidFill>
          <a:ln w="12700">
            <a:solidFill>
              <a:srgbClr val="FFFFFF"/>
            </a:solidFill>
            <a:prstDash val="solid"/>
          </a:ln>
        </p:spPr>
      </p:sp>
      <p:sp>
        <p:nvSpPr>
          <p:cNvPr id="11" name="Shape 9"/>
          <p:cNvSpPr/>
          <p:nvPr/>
        </p:nvSpPr>
        <p:spPr>
          <a:xfrm>
            <a:off x="7132320" y="4754880"/>
            <a:ext cx="36576" cy="36576"/>
          </a:xfrm>
          <a:prstGeom prst="ellipse">
            <a:avLst/>
          </a:prstGeom>
          <a:solidFill>
            <a:srgbClr val="FFFFFF"/>
          </a:solidFill>
          <a:ln w="12700">
            <a:solidFill>
              <a:srgbClr val="FFFFFF"/>
            </a:solidFill>
            <a:prstDash val="solid"/>
          </a:ln>
        </p:spPr>
      </p:sp>
      <p:sp>
        <p:nvSpPr>
          <p:cNvPr id="12" name="Shape 10"/>
          <p:cNvSpPr/>
          <p:nvPr/>
        </p:nvSpPr>
        <p:spPr>
          <a:xfrm>
            <a:off x="8412480" y="4480560"/>
            <a:ext cx="36576" cy="36576"/>
          </a:xfrm>
          <a:prstGeom prst="ellipse">
            <a:avLst/>
          </a:prstGeom>
          <a:solidFill>
            <a:srgbClr val="FFFFFF"/>
          </a:solidFill>
          <a:ln w="12700">
            <a:solidFill>
              <a:srgbClr val="FFFFFF"/>
            </a:solidFill>
            <a:prstDash val="solid"/>
          </a:ln>
        </p:spPr>
      </p:sp>
      <p:sp>
        <p:nvSpPr>
          <p:cNvPr id="13" name="Shape 11"/>
          <p:cNvSpPr/>
          <p:nvPr/>
        </p:nvSpPr>
        <p:spPr>
          <a:xfrm>
            <a:off x="5486400" y="914400"/>
            <a:ext cx="4114800" cy="4114800"/>
          </a:xfrm>
          <a:prstGeom prst="ellipse">
            <a:avLst/>
          </a:prstGeom>
          <a:solidFill>
            <a:srgbClr val="2979FF">
              <a:alpha val="5000"/>
            </a:srgbClr>
          </a:solidFill>
          <a:ln w="12700">
            <a:solidFill>
              <a:srgbClr val="2979FF"/>
            </a:solidFill>
            <a:prstDash val="solid"/>
          </a:ln>
        </p:spPr>
      </p:sp>
      <p:sp>
        <p:nvSpPr>
          <p:cNvPr id="14" name="Text 12"/>
          <p:cNvSpPr/>
          <p:nvPr/>
        </p:nvSpPr>
        <p:spPr>
          <a:xfrm>
            <a:off x="457200" y="182880"/>
            <a:ext cx="4572000" cy="411480"/>
          </a:xfrm>
          <a:prstGeom prst="rect">
            <a:avLst/>
          </a:prstGeom>
          <a:noFill/>
          <a:ln/>
        </p:spPr>
        <p:txBody>
          <a:bodyPr wrap="square" lIns="0" tIns="0" rIns="0" bIns="0" rtlCol="0" anchor="ctr"/>
          <a:lstStyle/>
          <a:p>
            <a:pPr algn="l" indent="0" marL="0">
              <a:buNone/>
            </a:pPr>
            <a:r>
              <a:rPr lang="en-US" sz="1000" b="1" spc="800" kern="0" dirty="0">
                <a:solidFill>
                  <a:srgbClr val="00E5FF"/>
                </a:solidFill>
                <a:latin typeface="Arial" pitchFamily="34" charset="0"/>
                <a:ea typeface="Arial" pitchFamily="34" charset="-122"/>
                <a:cs typeface="Arial" pitchFamily="34" charset="-120"/>
              </a:rPr>
              <a:t>THE ACES</a:t>
            </a:r>
            <a:endParaRPr lang="en-US" sz="1000" dirty="0"/>
          </a:p>
        </p:txBody>
      </p:sp>
      <p:sp>
        <p:nvSpPr>
          <p:cNvPr id="15" name="Text 13"/>
          <p:cNvSpPr/>
          <p:nvPr/>
        </p:nvSpPr>
        <p:spPr>
          <a:xfrm>
            <a:off x="457200" y="594360"/>
            <a:ext cx="2743200" cy="411480"/>
          </a:xfrm>
          <a:prstGeom prst="rect">
            <a:avLst/>
          </a:prstGeom>
          <a:noFill/>
          <a:ln/>
        </p:spPr>
        <p:txBody>
          <a:bodyPr wrap="square" lIns="0" tIns="0" rIns="0" bIns="0" rtlCol="0" anchor="ctr"/>
          <a:lstStyle/>
          <a:p>
            <a:pPr algn="l" indent="0" marL="0">
              <a:buNone/>
            </a:pPr>
            <a:r>
              <a:rPr lang="en-US" sz="1600" dirty="0">
                <a:solidFill>
                  <a:srgbClr val="8B9AB5"/>
                </a:solidFill>
                <a:latin typeface="Arial" pitchFamily="34" charset="0"/>
                <a:ea typeface="Arial" pitchFamily="34" charset="-122"/>
                <a:cs typeface="Arial" pitchFamily="34" charset="-120"/>
              </a:rPr>
              <a:t>Built by</a:t>
            </a:r>
            <a:endParaRPr lang="en-US" sz="1600" dirty="0"/>
          </a:p>
        </p:txBody>
      </p:sp>
      <p:sp>
        <p:nvSpPr>
          <p:cNvPr id="16" name="Text 14"/>
          <p:cNvSpPr/>
          <p:nvPr/>
        </p:nvSpPr>
        <p:spPr>
          <a:xfrm>
            <a:off x="457200" y="960120"/>
            <a:ext cx="5029200" cy="822960"/>
          </a:xfrm>
          <a:prstGeom prst="rect">
            <a:avLst/>
          </a:prstGeom>
          <a:noFill/>
          <a:ln/>
        </p:spPr>
        <p:txBody>
          <a:bodyPr wrap="square" lIns="0" tIns="0" rIns="0" bIns="0" rtlCol="0" anchor="ctr"/>
          <a:lstStyle/>
          <a:p>
            <a:pPr algn="l" indent="0" marL="0">
              <a:buNone/>
            </a:pPr>
            <a:r>
              <a:rPr lang="en-US" sz="4600" b="1" dirty="0">
                <a:solidFill>
                  <a:srgbClr val="FFFFFF"/>
                </a:solidFill>
                <a:latin typeface="Arial" pitchFamily="34" charset="0"/>
                <a:ea typeface="Arial" pitchFamily="34" charset="-122"/>
                <a:cs typeface="Arial" pitchFamily="34" charset="-120"/>
              </a:rPr>
              <a:t>The Aces</a:t>
            </a:r>
            <a:endParaRPr lang="en-US" sz="4600" dirty="0"/>
          </a:p>
        </p:txBody>
      </p:sp>
      <p:sp>
        <p:nvSpPr>
          <p:cNvPr id="17" name="Shape 15"/>
          <p:cNvSpPr/>
          <p:nvPr/>
        </p:nvSpPr>
        <p:spPr>
          <a:xfrm>
            <a:off x="457200" y="2011680"/>
            <a:ext cx="1325880" cy="685800"/>
          </a:xfrm>
          <a:prstGeom prst="roundRect">
            <a:avLst>
              <a:gd name="adj" fmla="val 13333"/>
            </a:avLst>
          </a:prstGeom>
          <a:solidFill>
            <a:srgbClr val="0D1A2E"/>
          </a:solidFill>
          <a:ln w="12700">
            <a:solidFill>
              <a:srgbClr val="2979FF">
                <a:alpha val="35000"/>
              </a:srgbClr>
            </a:solidFill>
            <a:prstDash val="solid"/>
          </a:ln>
        </p:spPr>
      </p:sp>
      <p:pic>
        <p:nvPicPr>
          <p:cNvPr id="18" name="Image 0" descr="preencoded.png">    </p:cNvPr>
          <p:cNvPicPr>
            <a:picLocks noChangeAspect="1"/>
          </p:cNvPicPr>
          <p:nvPr/>
        </p:nvPicPr>
        <p:blipFill>
          <a:blip r:embed="rId1"/>
          <a:stretch>
            <a:fillRect/>
          </a:stretch>
        </p:blipFill>
        <p:spPr>
          <a:xfrm>
            <a:off x="548640" y="2103120"/>
            <a:ext cx="274320" cy="274320"/>
          </a:xfrm>
          <a:prstGeom prst="rect">
            <a:avLst/>
          </a:prstGeom>
        </p:spPr>
      </p:pic>
      <p:sp>
        <p:nvSpPr>
          <p:cNvPr id="19" name="Text 16"/>
          <p:cNvSpPr/>
          <p:nvPr/>
        </p:nvSpPr>
        <p:spPr>
          <a:xfrm>
            <a:off x="502920" y="2395728"/>
            <a:ext cx="1234440"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Ritu Patil</a:t>
            </a:r>
            <a:endParaRPr lang="en-US" sz="900" dirty="0"/>
          </a:p>
        </p:txBody>
      </p:sp>
      <p:sp>
        <p:nvSpPr>
          <p:cNvPr id="20" name="Shape 17"/>
          <p:cNvSpPr/>
          <p:nvPr/>
        </p:nvSpPr>
        <p:spPr>
          <a:xfrm>
            <a:off x="1920240" y="2011680"/>
            <a:ext cx="1325880" cy="685800"/>
          </a:xfrm>
          <a:prstGeom prst="roundRect">
            <a:avLst>
              <a:gd name="adj" fmla="val 13333"/>
            </a:avLst>
          </a:prstGeom>
          <a:solidFill>
            <a:srgbClr val="0D1A2E"/>
          </a:solidFill>
          <a:ln w="12700">
            <a:solidFill>
              <a:srgbClr val="2979FF">
                <a:alpha val="35000"/>
              </a:srgbClr>
            </a:solidFill>
            <a:prstDash val="solid"/>
          </a:ln>
        </p:spPr>
      </p:sp>
      <p:pic>
        <p:nvPicPr>
          <p:cNvPr id="21" name="Image 1" descr="preencoded.png">    </p:cNvPr>
          <p:cNvPicPr>
            <a:picLocks noChangeAspect="1"/>
          </p:cNvPicPr>
          <p:nvPr/>
        </p:nvPicPr>
        <p:blipFill>
          <a:blip r:embed="rId2"/>
          <a:stretch>
            <a:fillRect/>
          </a:stretch>
        </p:blipFill>
        <p:spPr>
          <a:xfrm>
            <a:off x="2011680" y="2103120"/>
            <a:ext cx="274320" cy="274320"/>
          </a:xfrm>
          <a:prstGeom prst="rect">
            <a:avLst/>
          </a:prstGeom>
        </p:spPr>
      </p:pic>
      <p:sp>
        <p:nvSpPr>
          <p:cNvPr id="22" name="Text 18"/>
          <p:cNvSpPr/>
          <p:nvPr/>
        </p:nvSpPr>
        <p:spPr>
          <a:xfrm>
            <a:off x="1965960" y="2395728"/>
            <a:ext cx="1234440"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Tejas Patil</a:t>
            </a:r>
            <a:endParaRPr lang="en-US" sz="900" dirty="0"/>
          </a:p>
        </p:txBody>
      </p:sp>
      <p:sp>
        <p:nvSpPr>
          <p:cNvPr id="23" name="Shape 19"/>
          <p:cNvSpPr/>
          <p:nvPr/>
        </p:nvSpPr>
        <p:spPr>
          <a:xfrm>
            <a:off x="3383280" y="2011680"/>
            <a:ext cx="1325880" cy="685800"/>
          </a:xfrm>
          <a:prstGeom prst="roundRect">
            <a:avLst>
              <a:gd name="adj" fmla="val 13333"/>
            </a:avLst>
          </a:prstGeom>
          <a:solidFill>
            <a:srgbClr val="0D1A2E"/>
          </a:solidFill>
          <a:ln w="12700">
            <a:solidFill>
              <a:srgbClr val="2979FF">
                <a:alpha val="35000"/>
              </a:srgbClr>
            </a:solidFill>
            <a:prstDash val="solid"/>
          </a:ln>
        </p:spPr>
      </p:sp>
      <p:pic>
        <p:nvPicPr>
          <p:cNvPr id="24" name="Image 2" descr="preencoded.png">    </p:cNvPr>
          <p:cNvPicPr>
            <a:picLocks noChangeAspect="1"/>
          </p:cNvPicPr>
          <p:nvPr/>
        </p:nvPicPr>
        <p:blipFill>
          <a:blip r:embed="rId3"/>
          <a:stretch>
            <a:fillRect/>
          </a:stretch>
        </p:blipFill>
        <p:spPr>
          <a:xfrm>
            <a:off x="3474720" y="2103120"/>
            <a:ext cx="274320" cy="274320"/>
          </a:xfrm>
          <a:prstGeom prst="rect">
            <a:avLst/>
          </a:prstGeom>
        </p:spPr>
      </p:pic>
      <p:sp>
        <p:nvSpPr>
          <p:cNvPr id="25" name="Text 20"/>
          <p:cNvSpPr/>
          <p:nvPr/>
        </p:nvSpPr>
        <p:spPr>
          <a:xfrm>
            <a:off x="3429000" y="2395728"/>
            <a:ext cx="1234440"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Darshan Sonar</a:t>
            </a:r>
            <a:endParaRPr lang="en-US" sz="900" dirty="0"/>
          </a:p>
        </p:txBody>
      </p:sp>
      <p:sp>
        <p:nvSpPr>
          <p:cNvPr id="26" name="Shape 21"/>
          <p:cNvSpPr/>
          <p:nvPr/>
        </p:nvSpPr>
        <p:spPr>
          <a:xfrm>
            <a:off x="457200" y="2834640"/>
            <a:ext cx="1325880" cy="685800"/>
          </a:xfrm>
          <a:prstGeom prst="roundRect">
            <a:avLst>
              <a:gd name="adj" fmla="val 13333"/>
            </a:avLst>
          </a:prstGeom>
          <a:solidFill>
            <a:srgbClr val="0D1A2E"/>
          </a:solidFill>
          <a:ln w="12700">
            <a:solidFill>
              <a:srgbClr val="2979FF">
                <a:alpha val="35000"/>
              </a:srgbClr>
            </a:solidFill>
            <a:prstDash val="solid"/>
          </a:ln>
        </p:spPr>
      </p:sp>
      <p:pic>
        <p:nvPicPr>
          <p:cNvPr id="27" name="Image 3" descr="preencoded.png">    </p:cNvPr>
          <p:cNvPicPr>
            <a:picLocks noChangeAspect="1"/>
          </p:cNvPicPr>
          <p:nvPr/>
        </p:nvPicPr>
        <p:blipFill>
          <a:blip r:embed="rId4"/>
          <a:stretch>
            <a:fillRect/>
          </a:stretch>
        </p:blipFill>
        <p:spPr>
          <a:xfrm>
            <a:off x="548640" y="2926080"/>
            <a:ext cx="274320" cy="274320"/>
          </a:xfrm>
          <a:prstGeom prst="rect">
            <a:avLst/>
          </a:prstGeom>
        </p:spPr>
      </p:pic>
      <p:sp>
        <p:nvSpPr>
          <p:cNvPr id="28" name="Text 22"/>
          <p:cNvSpPr/>
          <p:nvPr/>
        </p:nvSpPr>
        <p:spPr>
          <a:xfrm>
            <a:off x="502920" y="3218688"/>
            <a:ext cx="1234440"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Dipak Saindane</a:t>
            </a:r>
            <a:endParaRPr lang="en-US" sz="900" dirty="0"/>
          </a:p>
        </p:txBody>
      </p:sp>
      <p:sp>
        <p:nvSpPr>
          <p:cNvPr id="29" name="Shape 23"/>
          <p:cNvSpPr/>
          <p:nvPr/>
        </p:nvSpPr>
        <p:spPr>
          <a:xfrm>
            <a:off x="1920240" y="2834640"/>
            <a:ext cx="1325880" cy="685800"/>
          </a:xfrm>
          <a:prstGeom prst="roundRect">
            <a:avLst>
              <a:gd name="adj" fmla="val 13333"/>
            </a:avLst>
          </a:prstGeom>
          <a:solidFill>
            <a:srgbClr val="0D1A2E"/>
          </a:solidFill>
          <a:ln w="12700">
            <a:solidFill>
              <a:srgbClr val="2979FF">
                <a:alpha val="35000"/>
              </a:srgbClr>
            </a:solidFill>
            <a:prstDash val="solid"/>
          </a:ln>
        </p:spPr>
      </p:sp>
      <p:pic>
        <p:nvPicPr>
          <p:cNvPr id="30" name="Image 4" descr="preencoded.png">    </p:cNvPr>
          <p:cNvPicPr>
            <a:picLocks noChangeAspect="1"/>
          </p:cNvPicPr>
          <p:nvPr/>
        </p:nvPicPr>
        <p:blipFill>
          <a:blip r:embed="rId5"/>
          <a:stretch>
            <a:fillRect/>
          </a:stretch>
        </p:blipFill>
        <p:spPr>
          <a:xfrm>
            <a:off x="2011680" y="2926080"/>
            <a:ext cx="274320" cy="274320"/>
          </a:xfrm>
          <a:prstGeom prst="rect">
            <a:avLst/>
          </a:prstGeom>
        </p:spPr>
      </p:pic>
      <p:sp>
        <p:nvSpPr>
          <p:cNvPr id="31" name="Text 24"/>
          <p:cNvSpPr/>
          <p:nvPr/>
        </p:nvSpPr>
        <p:spPr>
          <a:xfrm>
            <a:off x="1965960" y="3218688"/>
            <a:ext cx="1234440"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Anjali Wagh</a:t>
            </a:r>
            <a:endParaRPr lang="en-US" sz="900" dirty="0"/>
          </a:p>
        </p:txBody>
      </p:sp>
      <p:pic>
        <p:nvPicPr>
          <p:cNvPr id="32" name="Image 5" descr="preencoded.png">    </p:cNvPr>
          <p:cNvPicPr>
            <a:picLocks noChangeAspect="1"/>
          </p:cNvPicPr>
          <p:nvPr/>
        </p:nvPicPr>
        <p:blipFill>
          <a:blip r:embed="rId6"/>
          <a:srcRect l="0" r="0" t="0" b="0"/>
          <a:stretch/>
        </p:blipFill>
        <p:spPr>
          <a:xfrm>
            <a:off x="5394960" y="1097280"/>
            <a:ext cx="3474720" cy="1691640"/>
          </a:xfrm>
          <a:prstGeom prst="rect">
            <a:avLst/>
          </a:prstGeom>
        </p:spPr>
      </p:pic>
      <p:sp>
        <p:nvSpPr>
          <p:cNvPr id="33" name="Shape 25"/>
          <p:cNvSpPr/>
          <p:nvPr/>
        </p:nvSpPr>
        <p:spPr>
          <a:xfrm>
            <a:off x="5394960" y="1097280"/>
            <a:ext cx="3474720" cy="1691640"/>
          </a:xfrm>
          <a:prstGeom prst="roundRect">
            <a:avLst>
              <a:gd name="adj" fmla="val 5405"/>
            </a:avLst>
          </a:prstGeom>
          <a:solidFill>
            <a:srgbClr val="050A14">
              <a:alpha val="18000"/>
            </a:srgbClr>
          </a:solidFill>
          <a:ln w="12700">
            <a:solidFill>
              <a:srgbClr val="00E5FF">
                <a:alpha val="50000"/>
              </a:srgbClr>
            </a:solidFill>
            <a:prstDash val="solid"/>
          </a:ln>
        </p:spPr>
      </p:sp>
      <p:sp>
        <p:nvSpPr>
          <p:cNvPr id="34" name="Text 26"/>
          <p:cNvSpPr/>
          <p:nvPr/>
        </p:nvSpPr>
        <p:spPr>
          <a:xfrm>
            <a:off x="5394960" y="2103120"/>
            <a:ext cx="3474720" cy="411480"/>
          </a:xfrm>
          <a:prstGeom prst="rect">
            <a:avLst/>
          </a:prstGeom>
          <a:noFill/>
          <a:ln/>
        </p:spPr>
        <p:txBody>
          <a:bodyPr wrap="square" lIns="0" tIns="0" rIns="0" bIns="0" rtlCol="0" anchor="ctr"/>
          <a:lstStyle/>
          <a:p>
            <a:pPr algn="ctr" indent="0" marL="0">
              <a:buNone/>
            </a:pPr>
            <a:r>
              <a:rPr lang="en-US" sz="1300" b="1" dirty="0">
                <a:solidFill>
                  <a:srgbClr val="00E5FF"/>
                </a:solidFill>
                <a:latin typeface="Arial" pitchFamily="34" charset="0"/>
                <a:ea typeface="Arial" pitchFamily="34" charset="-122"/>
                <a:cs typeface="Arial" pitchFamily="34" charset="-120"/>
              </a:rPr>
              <a:t>Working System</a:t>
            </a:r>
            <a:endParaRPr lang="en-US" sz="1300" dirty="0"/>
          </a:p>
        </p:txBody>
      </p:sp>
      <p:sp>
        <p:nvSpPr>
          <p:cNvPr id="35" name="Shape 27"/>
          <p:cNvSpPr/>
          <p:nvPr/>
        </p:nvSpPr>
        <p:spPr>
          <a:xfrm>
            <a:off x="365760" y="3931920"/>
            <a:ext cx="8412480" cy="868680"/>
          </a:xfrm>
          <a:prstGeom prst="roundRect">
            <a:avLst>
              <a:gd name="adj" fmla="val 12632"/>
            </a:avLst>
          </a:prstGeom>
          <a:solidFill>
            <a:srgbClr val="0D1A2E"/>
          </a:solidFill>
          <a:ln w="12700">
            <a:solidFill>
              <a:srgbClr val="2979FF">
                <a:alpha val="45000"/>
              </a:srgbClr>
            </a:solidFill>
            <a:prstDash val="solid"/>
          </a:ln>
        </p:spPr>
      </p:sp>
      <p:sp>
        <p:nvSpPr>
          <p:cNvPr id="36" name="Text 28"/>
          <p:cNvSpPr/>
          <p:nvPr/>
        </p:nvSpPr>
        <p:spPr>
          <a:xfrm>
            <a:off x="457200" y="4005072"/>
            <a:ext cx="8229600" cy="731520"/>
          </a:xfrm>
          <a:prstGeom prst="rect">
            <a:avLst/>
          </a:prstGeom>
          <a:noFill/>
          <a:ln/>
        </p:spPr>
        <p:txBody>
          <a:bodyPr wrap="square" lIns="0" tIns="0" rIns="0" bIns="0" rtlCol="0" anchor="ctr"/>
          <a:lstStyle/>
          <a:p>
            <a:pPr algn="ctr" indent="0" marL="0">
              <a:buNone/>
            </a:pPr>
            <a:r>
              <a:rPr lang="en-US" sz="2000" b="1" i="1" dirty="0">
                <a:solidFill>
                  <a:srgbClr val="FFFFFF"/>
                </a:solidFill>
                <a:latin typeface="Arial" pitchFamily="34" charset="0"/>
                <a:ea typeface="Arial" pitchFamily="34" charset="-122"/>
                <a:cs typeface="Arial" pitchFamily="34" charset="-120"/>
              </a:rPr>
              <a:t>"Because in space, every second counts."</a:t>
            </a:r>
            <a:endParaRPr lang="en-US" sz="2000" dirty="0"/>
          </a:p>
        </p:txBody>
      </p:sp>
      <p:sp>
        <p:nvSpPr>
          <p:cNvPr id="37" name="Text 29"/>
          <p:cNvSpPr/>
          <p:nvPr/>
        </p:nvSpPr>
        <p:spPr>
          <a:xfrm>
            <a:off x="457200" y="4846320"/>
            <a:ext cx="8229600" cy="256032"/>
          </a:xfrm>
          <a:prstGeom prst="rect">
            <a:avLst/>
          </a:prstGeom>
          <a:noFill/>
          <a:ln/>
        </p:spPr>
        <p:txBody>
          <a:bodyPr wrap="square" lIns="0" tIns="0" rIns="0" bIns="0" rtlCol="0" anchor="ctr"/>
          <a:lstStyle/>
          <a:p>
            <a:pPr algn="ctr" indent="0" marL="0">
              <a:buNone/>
            </a:pPr>
            <a:r>
              <a:rPr lang="en-US" sz="900" spc="200" kern="0" dirty="0">
                <a:solidFill>
                  <a:srgbClr val="8B9AB5"/>
                </a:solidFill>
                <a:latin typeface="Arial" pitchFamily="34" charset="0"/>
                <a:ea typeface="Arial" pitchFamily="34" charset="-122"/>
                <a:cs typeface="Arial" pitchFamily="34" charset="-120"/>
              </a:rPr>
              <a:t>🛸  HACK ORBIT  ·  AI Mission Intelligence Platform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 Orbit – AI Mission Intelligence Platform</dc:title>
  <dc:subject>PptxGenJS Presentation</dc:subject>
  <dc:creator>The Aces</dc:creator>
  <cp:lastModifiedBy>The Aces</cp:lastModifiedBy>
  <cp:revision>1</cp:revision>
  <dcterms:created xsi:type="dcterms:W3CDTF">2026-06-14T18:09:36Z</dcterms:created>
  <dcterms:modified xsi:type="dcterms:W3CDTF">2026-06-14T18:09:36Z</dcterms:modified>
</cp:coreProperties>
</file>